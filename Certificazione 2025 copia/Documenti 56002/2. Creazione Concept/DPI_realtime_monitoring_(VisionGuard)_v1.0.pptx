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9.xml" ContentType="application/vnd.openxmlformats-officedocument.presentationml.notesSlide+xml"/>
  <Override PartName="/ppt/diagrams/drawing1.xml" ContentType="application/vnd.ms-office.drawingml.diagramDrawing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2.xml" ContentType="application/vnd.openxmlformats-officedocument.them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19"/>
  </p:notesMasterIdLst>
  <p:sldIdLst>
    <p:sldId id="256" r:id="rId3"/>
    <p:sldId id="277" r:id="rId4"/>
    <p:sldId id="289" r:id="rId5"/>
    <p:sldId id="278" r:id="rId6"/>
    <p:sldId id="291" r:id="rId7"/>
    <p:sldId id="282" r:id="rId8"/>
    <p:sldId id="283" r:id="rId9"/>
    <p:sldId id="271" r:id="rId10"/>
    <p:sldId id="274" r:id="rId11"/>
    <p:sldId id="276" r:id="rId12"/>
    <p:sldId id="292" r:id="rId13"/>
    <p:sldId id="300" r:id="rId14"/>
    <p:sldId id="301" r:id="rId15"/>
    <p:sldId id="297" r:id="rId16"/>
    <p:sldId id="298" r:id="rId17"/>
    <p:sldId id="273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pos="3613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663" userDrawn="1">
          <p15:clr>
            <a:srgbClr val="A4A3A4"/>
          </p15:clr>
        </p15:guide>
        <p15:guide id="6" orient="horz" pos="12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4EF"/>
    <a:srgbClr val="FCD89E"/>
    <a:srgbClr val="FCEFD8"/>
    <a:srgbClr val="1B4371"/>
    <a:srgbClr val="272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C98F0-F083-46A1-A54C-24BADE51210A}" v="4" dt="2024-10-11T14:51:05.421"/>
    <p1510:client id="{67225F99-2170-4C3F-A6FE-DBE8925E8899}" v="1783" dt="2024-10-11T16:27:05.713"/>
    <p1510:client id="{8340BCB4-1537-494C-85F2-D17F1DDA7069}" v="7539" dt="2024-10-11T18:11:04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4" d="100"/>
          <a:sy n="44" d="100"/>
        </p:scale>
        <p:origin x="1080" y="48"/>
      </p:cViewPr>
      <p:guideLst>
        <p:guide orient="horz" pos="4065"/>
        <p:guide pos="3613"/>
        <p:guide pos="211"/>
        <p:guide pos="7469"/>
        <p:guide orient="horz" pos="663"/>
        <p:guide orient="horz" pos="12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ustomXml" Target="../customXml/item2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image" Target="../media/image79.png"/><Relationship Id="rId5" Type="http://schemas.openxmlformats.org/officeDocument/2006/relationships/image" Target="../media/image80.jpeg"/><Relationship Id="rId4" Type="http://schemas.openxmlformats.org/officeDocument/2006/relationships/image" Target="../media/image50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image" Target="../media/image79.png"/><Relationship Id="rId5" Type="http://schemas.openxmlformats.org/officeDocument/2006/relationships/image" Target="../media/image80.jpeg"/><Relationship Id="rId4" Type="http://schemas.openxmlformats.org/officeDocument/2006/relationships/image" Target="../media/image5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A753BF-2C79-4ABE-B286-A7347FF29FF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FB763DB-196A-4571-80E3-3002AA0B766A}">
      <dgm:prSet phldrT="[Text]" custT="1"/>
      <dgm:spPr>
        <a:solidFill>
          <a:srgbClr val="1B4371"/>
        </a:solidFill>
        <a:ln w="19050"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it-IT" sz="1500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Pose Estimation (18 Key points)</a:t>
          </a:r>
        </a:p>
      </dgm:t>
    </dgm:pt>
    <dgm:pt modelId="{E7B0823E-B9A0-41E3-B7FF-100581054048}" type="parTrans" cxnId="{D13448BB-7C67-4A35-88EE-48C113CCC369}">
      <dgm:prSet/>
      <dgm:spPr/>
      <dgm:t>
        <a:bodyPr/>
        <a:lstStyle/>
        <a:p>
          <a:endParaRPr lang="it-IT"/>
        </a:p>
      </dgm:t>
    </dgm:pt>
    <dgm:pt modelId="{8B71AFCA-C1B6-4263-BF6A-09F6D1F83C6F}" type="sibTrans" cxnId="{D13448BB-7C67-4A35-88EE-48C113CCC369}">
      <dgm:prSet/>
      <dgm:spPr/>
      <dgm:t>
        <a:bodyPr/>
        <a:lstStyle/>
        <a:p>
          <a:endParaRPr lang="it-IT"/>
        </a:p>
      </dgm:t>
    </dgm:pt>
    <dgm:pt modelId="{B2D805AB-4C45-4E08-8274-5BDE6AF30C50}">
      <dgm:prSet phldrT="[Text]" custT="1"/>
      <dgm:spPr>
        <a:solidFill>
          <a:srgbClr val="1B4371"/>
        </a:solidFill>
        <a:ln w="19050"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it-IT" sz="1500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Strategia d’isolamento zone d’interesse </a:t>
          </a:r>
        </a:p>
      </dgm:t>
    </dgm:pt>
    <dgm:pt modelId="{97405200-3046-49A5-8179-D5950FB845F0}" type="parTrans" cxnId="{444B41B6-91CA-4FF6-AA69-D49B40F01B2E}">
      <dgm:prSet/>
      <dgm:spPr/>
      <dgm:t>
        <a:bodyPr/>
        <a:lstStyle/>
        <a:p>
          <a:endParaRPr lang="it-IT"/>
        </a:p>
      </dgm:t>
    </dgm:pt>
    <dgm:pt modelId="{6068289A-4E83-493D-9D7B-DE0607182129}" type="sibTrans" cxnId="{444B41B6-91CA-4FF6-AA69-D49B40F01B2E}">
      <dgm:prSet/>
      <dgm:spPr/>
      <dgm:t>
        <a:bodyPr/>
        <a:lstStyle/>
        <a:p>
          <a:endParaRPr lang="it-IT"/>
        </a:p>
      </dgm:t>
    </dgm:pt>
    <dgm:pt modelId="{32EE42E6-B0CE-4A1E-9F18-BF433216BFB6}">
      <dgm:prSet custT="1"/>
      <dgm:spPr>
        <a:solidFill>
          <a:srgbClr val="1B4371"/>
        </a:solidFill>
        <a:ln w="19050"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it-IT" sz="1500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Binary Classification (CNN)</a:t>
          </a:r>
        </a:p>
      </dgm:t>
    </dgm:pt>
    <dgm:pt modelId="{0967154E-845A-4F7E-B9E4-858BC42863B1}" type="parTrans" cxnId="{6EAD1831-70BB-4725-B5CA-BC0A61E6ED73}">
      <dgm:prSet/>
      <dgm:spPr/>
      <dgm:t>
        <a:bodyPr/>
        <a:lstStyle/>
        <a:p>
          <a:endParaRPr lang="it-IT"/>
        </a:p>
      </dgm:t>
    </dgm:pt>
    <dgm:pt modelId="{80250399-F9BA-4A71-B423-83CEEA8CAF08}" type="sibTrans" cxnId="{6EAD1831-70BB-4725-B5CA-BC0A61E6ED73}">
      <dgm:prSet/>
      <dgm:spPr/>
      <dgm:t>
        <a:bodyPr/>
        <a:lstStyle/>
        <a:p>
          <a:endParaRPr lang="it-IT"/>
        </a:p>
      </dgm:t>
    </dgm:pt>
    <dgm:pt modelId="{27C6C1B8-434A-430F-84D6-B7FFF8A9642A}">
      <dgm:prSet phldrT="[Text]" custT="1"/>
      <dgm:spPr>
        <a:solidFill>
          <a:srgbClr val="1B4371"/>
        </a:solidFill>
        <a:ln w="19050"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it-IT" sz="1500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Object Detection </a:t>
          </a:r>
          <a:r>
            <a:rPr lang="it-IT" sz="1500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rPr>
            <a:t></a:t>
          </a:r>
          <a:r>
            <a:rPr lang="it-IT" sz="1500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Person BBox</a:t>
          </a:r>
        </a:p>
      </dgm:t>
    </dgm:pt>
    <dgm:pt modelId="{12F515C9-6E8B-415A-AA3A-FC062F7E5ED0}" type="parTrans" cxnId="{61E4FB88-5053-4C7D-82C3-150AAA75874F}">
      <dgm:prSet/>
      <dgm:spPr/>
      <dgm:t>
        <a:bodyPr/>
        <a:lstStyle/>
        <a:p>
          <a:endParaRPr lang="it-IT"/>
        </a:p>
      </dgm:t>
    </dgm:pt>
    <dgm:pt modelId="{D205A0CA-AC9B-4345-972D-7C6975973A86}" type="sibTrans" cxnId="{61E4FB88-5053-4C7D-82C3-150AAA75874F}">
      <dgm:prSet/>
      <dgm:spPr/>
      <dgm:t>
        <a:bodyPr/>
        <a:lstStyle/>
        <a:p>
          <a:endParaRPr lang="it-IT"/>
        </a:p>
      </dgm:t>
    </dgm:pt>
    <dgm:pt modelId="{1B6B216F-2E76-430F-B47F-D1A7FAA4E871}">
      <dgm:prSet phldrT="[Text]" custT="1"/>
      <dgm:spPr>
        <a:solidFill>
          <a:srgbClr val="1B4371"/>
        </a:solidFill>
        <a:ln w="19050"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it-IT" sz="1500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Flusso Video Telecamere</a:t>
          </a:r>
        </a:p>
      </dgm:t>
    </dgm:pt>
    <dgm:pt modelId="{474BF978-87B3-4181-B5EE-BD35DF519EC7}" type="parTrans" cxnId="{55C67B5C-A55F-4B4F-9356-8AB4FBCF4165}">
      <dgm:prSet/>
      <dgm:spPr/>
      <dgm:t>
        <a:bodyPr/>
        <a:lstStyle/>
        <a:p>
          <a:endParaRPr lang="it-IT"/>
        </a:p>
      </dgm:t>
    </dgm:pt>
    <dgm:pt modelId="{9842C9EE-4872-4083-9471-3CF18634783C}" type="sibTrans" cxnId="{55C67B5C-A55F-4B4F-9356-8AB4FBCF4165}">
      <dgm:prSet/>
      <dgm:spPr/>
      <dgm:t>
        <a:bodyPr/>
        <a:lstStyle/>
        <a:p>
          <a:endParaRPr lang="it-IT"/>
        </a:p>
      </dgm:t>
    </dgm:pt>
    <dgm:pt modelId="{F3ACA56D-EB44-4EC4-8DDE-E8F27AC21CF1}" type="pres">
      <dgm:prSet presAssocID="{34A753BF-2C79-4ABE-B286-A7347FF29FFB}" presName="Name0" presStyleCnt="0">
        <dgm:presLayoutVars>
          <dgm:dir/>
          <dgm:resizeHandles val="exact"/>
        </dgm:presLayoutVars>
      </dgm:prSet>
      <dgm:spPr/>
    </dgm:pt>
    <dgm:pt modelId="{E427EA45-35B1-4DA7-A1BB-CC14AA8C1006}" type="pres">
      <dgm:prSet presAssocID="{1B6B216F-2E76-430F-B47F-D1A7FAA4E871}" presName="node" presStyleLbl="node1" presStyleIdx="0" presStyleCnt="5">
        <dgm:presLayoutVars>
          <dgm:bulletEnabled val="1"/>
        </dgm:presLayoutVars>
      </dgm:prSet>
      <dgm:spPr/>
    </dgm:pt>
    <dgm:pt modelId="{A1B034A0-45D1-4EA0-B4B8-A239F8B49FF2}" type="pres">
      <dgm:prSet presAssocID="{9842C9EE-4872-4083-9471-3CF18634783C}" presName="sibTrans" presStyleLbl="sibTrans2D1" presStyleIdx="0" presStyleCnt="4"/>
      <dgm:spPr/>
    </dgm:pt>
    <dgm:pt modelId="{DC57F700-4B1A-49C3-9CB4-059E16ED21AB}" type="pres">
      <dgm:prSet presAssocID="{9842C9EE-4872-4083-9471-3CF18634783C}" presName="connectorText" presStyleLbl="sibTrans2D1" presStyleIdx="0" presStyleCnt="4"/>
      <dgm:spPr/>
    </dgm:pt>
    <dgm:pt modelId="{BA3B4D88-20E3-4C10-B0C2-BD4FAE5E9EDE}" type="pres">
      <dgm:prSet presAssocID="{27C6C1B8-434A-430F-84D6-B7FFF8A9642A}" presName="node" presStyleLbl="node1" presStyleIdx="1" presStyleCnt="5">
        <dgm:presLayoutVars>
          <dgm:bulletEnabled val="1"/>
        </dgm:presLayoutVars>
      </dgm:prSet>
      <dgm:spPr/>
    </dgm:pt>
    <dgm:pt modelId="{1EED8F7E-33E4-411A-AEC7-33EE32CCDB7C}" type="pres">
      <dgm:prSet presAssocID="{D205A0CA-AC9B-4345-972D-7C6975973A86}" presName="sibTrans" presStyleLbl="sibTrans2D1" presStyleIdx="1" presStyleCnt="4"/>
      <dgm:spPr/>
    </dgm:pt>
    <dgm:pt modelId="{B407FDCE-8A86-4230-BBEE-4EDAE71A6072}" type="pres">
      <dgm:prSet presAssocID="{D205A0CA-AC9B-4345-972D-7C6975973A86}" presName="connectorText" presStyleLbl="sibTrans2D1" presStyleIdx="1" presStyleCnt="4"/>
      <dgm:spPr/>
    </dgm:pt>
    <dgm:pt modelId="{AC503082-2AD3-4F13-A0D9-213738321E31}" type="pres">
      <dgm:prSet presAssocID="{8FB763DB-196A-4571-80E3-3002AA0B766A}" presName="node" presStyleLbl="node1" presStyleIdx="2" presStyleCnt="5">
        <dgm:presLayoutVars>
          <dgm:bulletEnabled val="1"/>
        </dgm:presLayoutVars>
      </dgm:prSet>
      <dgm:spPr/>
    </dgm:pt>
    <dgm:pt modelId="{587DBE66-EF76-41B7-AFB5-A33EF5FCB7D1}" type="pres">
      <dgm:prSet presAssocID="{8B71AFCA-C1B6-4263-BF6A-09F6D1F83C6F}" presName="sibTrans" presStyleLbl="sibTrans2D1" presStyleIdx="2" presStyleCnt="4"/>
      <dgm:spPr/>
    </dgm:pt>
    <dgm:pt modelId="{56063982-C8FA-43DF-9BB3-616A2B0FE2FB}" type="pres">
      <dgm:prSet presAssocID="{8B71AFCA-C1B6-4263-BF6A-09F6D1F83C6F}" presName="connectorText" presStyleLbl="sibTrans2D1" presStyleIdx="2" presStyleCnt="4"/>
      <dgm:spPr/>
    </dgm:pt>
    <dgm:pt modelId="{9D6AB17C-BC07-4D83-81BC-F84F89B17F18}" type="pres">
      <dgm:prSet presAssocID="{B2D805AB-4C45-4E08-8274-5BDE6AF30C50}" presName="node" presStyleLbl="node1" presStyleIdx="3" presStyleCnt="5">
        <dgm:presLayoutVars>
          <dgm:bulletEnabled val="1"/>
        </dgm:presLayoutVars>
      </dgm:prSet>
      <dgm:spPr/>
    </dgm:pt>
    <dgm:pt modelId="{70A58386-0F80-44CC-8134-F962F15EDE88}" type="pres">
      <dgm:prSet presAssocID="{6068289A-4E83-493D-9D7B-DE0607182129}" presName="sibTrans" presStyleLbl="sibTrans2D1" presStyleIdx="3" presStyleCnt="4"/>
      <dgm:spPr/>
    </dgm:pt>
    <dgm:pt modelId="{F5F96738-FCAB-47D1-94B6-911352816110}" type="pres">
      <dgm:prSet presAssocID="{6068289A-4E83-493D-9D7B-DE0607182129}" presName="connectorText" presStyleLbl="sibTrans2D1" presStyleIdx="3" presStyleCnt="4"/>
      <dgm:spPr/>
    </dgm:pt>
    <dgm:pt modelId="{AE7DA473-B437-428F-A3D7-55552F6E27FC}" type="pres">
      <dgm:prSet presAssocID="{32EE42E6-B0CE-4A1E-9F18-BF433216BFB6}" presName="node" presStyleLbl="node1" presStyleIdx="4" presStyleCnt="5">
        <dgm:presLayoutVars>
          <dgm:bulletEnabled val="1"/>
        </dgm:presLayoutVars>
      </dgm:prSet>
      <dgm:spPr/>
    </dgm:pt>
  </dgm:ptLst>
  <dgm:cxnLst>
    <dgm:cxn modelId="{90F3C60F-986F-47AE-B4ED-69F30E8FDCA9}" type="presOf" srcId="{6068289A-4E83-493D-9D7B-DE0607182129}" destId="{70A58386-0F80-44CC-8134-F962F15EDE88}" srcOrd="0" destOrd="0" presId="urn:microsoft.com/office/officeart/2005/8/layout/process1"/>
    <dgm:cxn modelId="{7B7E941C-C8D8-49CC-B560-BBAEBE88D1D8}" type="presOf" srcId="{27C6C1B8-434A-430F-84D6-B7FFF8A9642A}" destId="{BA3B4D88-20E3-4C10-B0C2-BD4FAE5E9EDE}" srcOrd="0" destOrd="0" presId="urn:microsoft.com/office/officeart/2005/8/layout/process1"/>
    <dgm:cxn modelId="{A31EA82F-7843-490A-98AB-BBFE37645FE6}" type="presOf" srcId="{8FB763DB-196A-4571-80E3-3002AA0B766A}" destId="{AC503082-2AD3-4F13-A0D9-213738321E31}" srcOrd="0" destOrd="0" presId="urn:microsoft.com/office/officeart/2005/8/layout/process1"/>
    <dgm:cxn modelId="{6EAD1831-70BB-4725-B5CA-BC0A61E6ED73}" srcId="{34A753BF-2C79-4ABE-B286-A7347FF29FFB}" destId="{32EE42E6-B0CE-4A1E-9F18-BF433216BFB6}" srcOrd="4" destOrd="0" parTransId="{0967154E-845A-4F7E-B9E4-858BC42863B1}" sibTransId="{80250399-F9BA-4A71-B423-83CEEA8CAF08}"/>
    <dgm:cxn modelId="{55C67B5C-A55F-4B4F-9356-8AB4FBCF4165}" srcId="{34A753BF-2C79-4ABE-B286-A7347FF29FFB}" destId="{1B6B216F-2E76-430F-B47F-D1A7FAA4E871}" srcOrd="0" destOrd="0" parTransId="{474BF978-87B3-4181-B5EE-BD35DF519EC7}" sibTransId="{9842C9EE-4872-4083-9471-3CF18634783C}"/>
    <dgm:cxn modelId="{58C87665-D5A1-409A-A1A0-239850D7C1F5}" type="presOf" srcId="{34A753BF-2C79-4ABE-B286-A7347FF29FFB}" destId="{F3ACA56D-EB44-4EC4-8DDE-E8F27AC21CF1}" srcOrd="0" destOrd="0" presId="urn:microsoft.com/office/officeart/2005/8/layout/process1"/>
    <dgm:cxn modelId="{870A4273-F692-4046-A748-B0CA61E94F9E}" type="presOf" srcId="{6068289A-4E83-493D-9D7B-DE0607182129}" destId="{F5F96738-FCAB-47D1-94B6-911352816110}" srcOrd="1" destOrd="0" presId="urn:microsoft.com/office/officeart/2005/8/layout/process1"/>
    <dgm:cxn modelId="{22CE4075-F63F-45BB-9A5E-AEF7C962547B}" type="presOf" srcId="{B2D805AB-4C45-4E08-8274-5BDE6AF30C50}" destId="{9D6AB17C-BC07-4D83-81BC-F84F89B17F18}" srcOrd="0" destOrd="0" presId="urn:microsoft.com/office/officeart/2005/8/layout/process1"/>
    <dgm:cxn modelId="{0A7EC681-4599-4A2D-8969-044B1FA86F47}" type="presOf" srcId="{8B71AFCA-C1B6-4263-BF6A-09F6D1F83C6F}" destId="{56063982-C8FA-43DF-9BB3-616A2B0FE2FB}" srcOrd="1" destOrd="0" presId="urn:microsoft.com/office/officeart/2005/8/layout/process1"/>
    <dgm:cxn modelId="{61E4FB88-5053-4C7D-82C3-150AAA75874F}" srcId="{34A753BF-2C79-4ABE-B286-A7347FF29FFB}" destId="{27C6C1B8-434A-430F-84D6-B7FFF8A9642A}" srcOrd="1" destOrd="0" parTransId="{12F515C9-6E8B-415A-AA3A-FC062F7E5ED0}" sibTransId="{D205A0CA-AC9B-4345-972D-7C6975973A86}"/>
    <dgm:cxn modelId="{5ADA46A2-4478-426C-98E0-70583ABC57C1}" type="presOf" srcId="{32EE42E6-B0CE-4A1E-9F18-BF433216BFB6}" destId="{AE7DA473-B437-428F-A3D7-55552F6E27FC}" srcOrd="0" destOrd="0" presId="urn:microsoft.com/office/officeart/2005/8/layout/process1"/>
    <dgm:cxn modelId="{4EF9AFAB-ACA8-4B65-B7EC-EE2E01E8924F}" type="presOf" srcId="{D205A0CA-AC9B-4345-972D-7C6975973A86}" destId="{B407FDCE-8A86-4230-BBEE-4EDAE71A6072}" srcOrd="1" destOrd="0" presId="urn:microsoft.com/office/officeart/2005/8/layout/process1"/>
    <dgm:cxn modelId="{444B41B6-91CA-4FF6-AA69-D49B40F01B2E}" srcId="{34A753BF-2C79-4ABE-B286-A7347FF29FFB}" destId="{B2D805AB-4C45-4E08-8274-5BDE6AF30C50}" srcOrd="3" destOrd="0" parTransId="{97405200-3046-49A5-8179-D5950FB845F0}" sibTransId="{6068289A-4E83-493D-9D7B-DE0607182129}"/>
    <dgm:cxn modelId="{D13448BB-7C67-4A35-88EE-48C113CCC369}" srcId="{34A753BF-2C79-4ABE-B286-A7347FF29FFB}" destId="{8FB763DB-196A-4571-80E3-3002AA0B766A}" srcOrd="2" destOrd="0" parTransId="{E7B0823E-B9A0-41E3-B7FF-100581054048}" sibTransId="{8B71AFCA-C1B6-4263-BF6A-09F6D1F83C6F}"/>
    <dgm:cxn modelId="{824C00CA-A716-46E2-B21D-52BA05D026A0}" type="presOf" srcId="{8B71AFCA-C1B6-4263-BF6A-09F6D1F83C6F}" destId="{587DBE66-EF76-41B7-AFB5-A33EF5FCB7D1}" srcOrd="0" destOrd="0" presId="urn:microsoft.com/office/officeart/2005/8/layout/process1"/>
    <dgm:cxn modelId="{2E95AFCA-A59D-4061-9115-BACA673D2674}" type="presOf" srcId="{9842C9EE-4872-4083-9471-3CF18634783C}" destId="{DC57F700-4B1A-49C3-9CB4-059E16ED21AB}" srcOrd="1" destOrd="0" presId="urn:microsoft.com/office/officeart/2005/8/layout/process1"/>
    <dgm:cxn modelId="{64B50BD4-0538-4849-BD05-7B39C9DBC2BE}" type="presOf" srcId="{D205A0CA-AC9B-4345-972D-7C6975973A86}" destId="{1EED8F7E-33E4-411A-AEC7-33EE32CCDB7C}" srcOrd="0" destOrd="0" presId="urn:microsoft.com/office/officeart/2005/8/layout/process1"/>
    <dgm:cxn modelId="{F7B902ED-A093-4EA5-A6D8-C6D531893FD0}" type="presOf" srcId="{9842C9EE-4872-4083-9471-3CF18634783C}" destId="{A1B034A0-45D1-4EA0-B4B8-A239F8B49FF2}" srcOrd="0" destOrd="0" presId="urn:microsoft.com/office/officeart/2005/8/layout/process1"/>
    <dgm:cxn modelId="{A4A284ED-6A53-4FA1-B023-02D9BB98FEC0}" type="presOf" srcId="{1B6B216F-2E76-430F-B47F-D1A7FAA4E871}" destId="{E427EA45-35B1-4DA7-A1BB-CC14AA8C1006}" srcOrd="0" destOrd="0" presId="urn:microsoft.com/office/officeart/2005/8/layout/process1"/>
    <dgm:cxn modelId="{DBBB979A-8834-4928-8332-163A04E20E0F}" type="presParOf" srcId="{F3ACA56D-EB44-4EC4-8DDE-E8F27AC21CF1}" destId="{E427EA45-35B1-4DA7-A1BB-CC14AA8C1006}" srcOrd="0" destOrd="0" presId="urn:microsoft.com/office/officeart/2005/8/layout/process1"/>
    <dgm:cxn modelId="{772486FD-7160-4B5B-B2F5-CC502210AF1B}" type="presParOf" srcId="{F3ACA56D-EB44-4EC4-8DDE-E8F27AC21CF1}" destId="{A1B034A0-45D1-4EA0-B4B8-A239F8B49FF2}" srcOrd="1" destOrd="0" presId="urn:microsoft.com/office/officeart/2005/8/layout/process1"/>
    <dgm:cxn modelId="{52766D79-740D-4963-9ED1-8B2D0DC1FEAC}" type="presParOf" srcId="{A1B034A0-45D1-4EA0-B4B8-A239F8B49FF2}" destId="{DC57F700-4B1A-49C3-9CB4-059E16ED21AB}" srcOrd="0" destOrd="0" presId="urn:microsoft.com/office/officeart/2005/8/layout/process1"/>
    <dgm:cxn modelId="{292906DD-FBDC-49F7-8195-78EA990CF979}" type="presParOf" srcId="{F3ACA56D-EB44-4EC4-8DDE-E8F27AC21CF1}" destId="{BA3B4D88-20E3-4C10-B0C2-BD4FAE5E9EDE}" srcOrd="2" destOrd="0" presId="urn:microsoft.com/office/officeart/2005/8/layout/process1"/>
    <dgm:cxn modelId="{1146C5E2-2682-453A-84FB-C656416FA09D}" type="presParOf" srcId="{F3ACA56D-EB44-4EC4-8DDE-E8F27AC21CF1}" destId="{1EED8F7E-33E4-411A-AEC7-33EE32CCDB7C}" srcOrd="3" destOrd="0" presId="urn:microsoft.com/office/officeart/2005/8/layout/process1"/>
    <dgm:cxn modelId="{48C093C3-B7D6-4C95-AEA5-6FC50332A1D7}" type="presParOf" srcId="{1EED8F7E-33E4-411A-AEC7-33EE32CCDB7C}" destId="{B407FDCE-8A86-4230-BBEE-4EDAE71A6072}" srcOrd="0" destOrd="0" presId="urn:microsoft.com/office/officeart/2005/8/layout/process1"/>
    <dgm:cxn modelId="{AB383D8D-296A-41A5-9550-F3B421168621}" type="presParOf" srcId="{F3ACA56D-EB44-4EC4-8DDE-E8F27AC21CF1}" destId="{AC503082-2AD3-4F13-A0D9-213738321E31}" srcOrd="4" destOrd="0" presId="urn:microsoft.com/office/officeart/2005/8/layout/process1"/>
    <dgm:cxn modelId="{FE22BC02-B60F-4519-B645-8BCC450EFBE1}" type="presParOf" srcId="{F3ACA56D-EB44-4EC4-8DDE-E8F27AC21CF1}" destId="{587DBE66-EF76-41B7-AFB5-A33EF5FCB7D1}" srcOrd="5" destOrd="0" presId="urn:microsoft.com/office/officeart/2005/8/layout/process1"/>
    <dgm:cxn modelId="{9936E44E-02E1-4C92-9B2C-B562F822735A}" type="presParOf" srcId="{587DBE66-EF76-41B7-AFB5-A33EF5FCB7D1}" destId="{56063982-C8FA-43DF-9BB3-616A2B0FE2FB}" srcOrd="0" destOrd="0" presId="urn:microsoft.com/office/officeart/2005/8/layout/process1"/>
    <dgm:cxn modelId="{343DE5A0-B609-47D8-A28C-D197B5D2D99D}" type="presParOf" srcId="{F3ACA56D-EB44-4EC4-8DDE-E8F27AC21CF1}" destId="{9D6AB17C-BC07-4D83-81BC-F84F89B17F18}" srcOrd="6" destOrd="0" presId="urn:microsoft.com/office/officeart/2005/8/layout/process1"/>
    <dgm:cxn modelId="{08FC812E-C7AF-4BF6-A1A0-C58467C5226B}" type="presParOf" srcId="{F3ACA56D-EB44-4EC4-8DDE-E8F27AC21CF1}" destId="{70A58386-0F80-44CC-8134-F962F15EDE88}" srcOrd="7" destOrd="0" presId="urn:microsoft.com/office/officeart/2005/8/layout/process1"/>
    <dgm:cxn modelId="{269B1993-BC22-454F-AFDF-921D07C11E06}" type="presParOf" srcId="{70A58386-0F80-44CC-8134-F962F15EDE88}" destId="{F5F96738-FCAB-47D1-94B6-911352816110}" srcOrd="0" destOrd="0" presId="urn:microsoft.com/office/officeart/2005/8/layout/process1"/>
    <dgm:cxn modelId="{DC89EB18-A925-494B-896A-8225A3DE92FE}" type="presParOf" srcId="{F3ACA56D-EB44-4EC4-8DDE-E8F27AC21CF1}" destId="{AE7DA473-B437-428F-A3D7-55552F6E27F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86C0FE-0114-4EB3-A6AB-5BA63E47C8A0}" type="doc">
      <dgm:prSet loTypeId="urn:microsoft.com/office/officeart/2005/8/layout/vList3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76157E01-A227-4247-81A5-C2F1C0DC7279}">
      <dgm:prSet phldrT="[Text]"/>
      <dgm:spPr>
        <a:solidFill>
          <a:srgbClr val="1B4371"/>
        </a:solidFill>
      </dgm:spPr>
      <dgm:t>
        <a:bodyPr/>
        <a:lstStyle/>
        <a:p>
          <a:r>
            <a:rPr lang="it-IT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Ricostruzione 3D</a:t>
          </a:r>
        </a:p>
      </dgm:t>
    </dgm:pt>
    <dgm:pt modelId="{84414D72-94E8-4145-BE74-BC2A51169835}" type="parTrans" cxnId="{6F29EF93-04DC-4299-824D-4A64D25704A8}">
      <dgm:prSet/>
      <dgm:spPr/>
      <dgm:t>
        <a:bodyPr/>
        <a:lstStyle/>
        <a:p>
          <a:endParaRPr lang="it-IT"/>
        </a:p>
      </dgm:t>
    </dgm:pt>
    <dgm:pt modelId="{5B258973-B404-4B45-91B5-1D90E8CF6001}" type="sibTrans" cxnId="{6F29EF93-04DC-4299-824D-4A64D25704A8}">
      <dgm:prSet/>
      <dgm:spPr/>
      <dgm:t>
        <a:bodyPr/>
        <a:lstStyle/>
        <a:p>
          <a:endParaRPr lang="it-IT"/>
        </a:p>
      </dgm:t>
    </dgm:pt>
    <dgm:pt modelId="{1361722D-3D2E-4C3E-9DB2-81D4D1A78C62}">
      <dgm:prSet phldrT="[Text]"/>
      <dgm:spPr>
        <a:solidFill>
          <a:srgbClr val="1B4371"/>
        </a:solidFill>
      </dgm:spPr>
      <dgm:t>
        <a:bodyPr/>
        <a:lstStyle/>
        <a:p>
          <a:r>
            <a:rPr lang="it-IT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Monitoraggio Veicoli</a:t>
          </a:r>
        </a:p>
      </dgm:t>
    </dgm:pt>
    <dgm:pt modelId="{0061ADF6-830E-4398-9EFB-DC1214B39CBC}" type="parTrans" cxnId="{2CD161A7-D4BD-4495-96A9-9C20483A2003}">
      <dgm:prSet/>
      <dgm:spPr/>
      <dgm:t>
        <a:bodyPr/>
        <a:lstStyle/>
        <a:p>
          <a:endParaRPr lang="it-IT"/>
        </a:p>
      </dgm:t>
    </dgm:pt>
    <dgm:pt modelId="{B92FC891-4837-496F-BF5A-FF9D8DB545C9}" type="sibTrans" cxnId="{2CD161A7-D4BD-4495-96A9-9C20483A2003}">
      <dgm:prSet/>
      <dgm:spPr/>
      <dgm:t>
        <a:bodyPr/>
        <a:lstStyle/>
        <a:p>
          <a:endParaRPr lang="it-IT"/>
        </a:p>
      </dgm:t>
    </dgm:pt>
    <dgm:pt modelId="{9E9492E3-4936-4009-B85D-ADBEF39C0D8F}">
      <dgm:prSet phldrT="[Text]"/>
      <dgm:spPr>
        <a:solidFill>
          <a:srgbClr val="1B4371"/>
        </a:solidFill>
      </dgm:spPr>
      <dgm:t>
        <a:bodyPr/>
        <a:lstStyle/>
        <a:p>
          <a:r>
            <a:rPr lang="it-IT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Monitoraggio DPI</a:t>
          </a:r>
        </a:p>
      </dgm:t>
    </dgm:pt>
    <dgm:pt modelId="{B1015E88-8F5E-4A70-8548-FEE1108F85CF}" type="parTrans" cxnId="{A3898764-38F9-46D6-A550-8DC4156A866B}">
      <dgm:prSet/>
      <dgm:spPr/>
      <dgm:t>
        <a:bodyPr/>
        <a:lstStyle/>
        <a:p>
          <a:endParaRPr lang="it-IT"/>
        </a:p>
      </dgm:t>
    </dgm:pt>
    <dgm:pt modelId="{EC3818DB-0974-4856-BE17-5120B65937DE}" type="sibTrans" cxnId="{A3898764-38F9-46D6-A550-8DC4156A866B}">
      <dgm:prSet/>
      <dgm:spPr/>
      <dgm:t>
        <a:bodyPr/>
        <a:lstStyle/>
        <a:p>
          <a:endParaRPr lang="it-IT"/>
        </a:p>
      </dgm:t>
    </dgm:pt>
    <dgm:pt modelId="{9400B001-973E-4643-8ED9-4E01484C1842}">
      <dgm:prSet phldrT="[Text]"/>
      <dgm:spPr>
        <a:solidFill>
          <a:srgbClr val="1B4371"/>
        </a:solidFill>
      </dgm:spPr>
      <dgm:t>
        <a:bodyPr/>
        <a:lstStyle/>
        <a:p>
          <a:r>
            <a:rPr lang="it-IT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Accesso Controllato per Zone Alto Rischio</a:t>
          </a:r>
        </a:p>
      </dgm:t>
    </dgm:pt>
    <dgm:pt modelId="{A3F13782-6064-4F7A-AEFB-0A13F2449F6B}" type="parTrans" cxnId="{7D3F1802-ECD3-48BB-B93F-077D0D429283}">
      <dgm:prSet/>
      <dgm:spPr/>
      <dgm:t>
        <a:bodyPr/>
        <a:lstStyle/>
        <a:p>
          <a:endParaRPr lang="it-IT"/>
        </a:p>
      </dgm:t>
    </dgm:pt>
    <dgm:pt modelId="{B2776AAE-C0E7-48F9-82C4-3109567742C9}" type="sibTrans" cxnId="{7D3F1802-ECD3-48BB-B93F-077D0D429283}">
      <dgm:prSet/>
      <dgm:spPr/>
      <dgm:t>
        <a:bodyPr/>
        <a:lstStyle/>
        <a:p>
          <a:endParaRPr lang="it-IT"/>
        </a:p>
      </dgm:t>
    </dgm:pt>
    <dgm:pt modelId="{892603A8-5B60-44EA-B16F-61BE6E1CA303}">
      <dgm:prSet phldrT="[Text]"/>
      <dgm:spPr>
        <a:solidFill>
          <a:srgbClr val="1B4371"/>
        </a:solidFill>
      </dgm:spPr>
      <dgm:t>
        <a:bodyPr/>
        <a:lstStyle/>
        <a:p>
          <a:r>
            <a:rPr lang="it-IT" b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Gestione Accessi allo stabilimento</a:t>
          </a:r>
        </a:p>
      </dgm:t>
    </dgm:pt>
    <dgm:pt modelId="{9549E1FD-EFE6-42BA-8DDF-B5F106B63107}" type="parTrans" cxnId="{4C7029AC-12E5-4653-BF56-B3966CBF84FE}">
      <dgm:prSet/>
      <dgm:spPr/>
      <dgm:t>
        <a:bodyPr/>
        <a:lstStyle/>
        <a:p>
          <a:endParaRPr lang="it-IT"/>
        </a:p>
      </dgm:t>
    </dgm:pt>
    <dgm:pt modelId="{63A71BEA-652D-4A82-A816-DFA44DF802C4}" type="sibTrans" cxnId="{4C7029AC-12E5-4653-BF56-B3966CBF84FE}">
      <dgm:prSet/>
      <dgm:spPr/>
      <dgm:t>
        <a:bodyPr/>
        <a:lstStyle/>
        <a:p>
          <a:endParaRPr lang="it-IT"/>
        </a:p>
      </dgm:t>
    </dgm:pt>
    <dgm:pt modelId="{A9F7515E-2618-4CBA-B2CA-4A31C416B4EE}" type="pres">
      <dgm:prSet presAssocID="{AD86C0FE-0114-4EB3-A6AB-5BA63E47C8A0}" presName="linearFlow" presStyleCnt="0">
        <dgm:presLayoutVars>
          <dgm:dir/>
          <dgm:resizeHandles val="exact"/>
        </dgm:presLayoutVars>
      </dgm:prSet>
      <dgm:spPr/>
    </dgm:pt>
    <dgm:pt modelId="{162DE4EF-A3E9-4F43-ABB9-0076839AC2AB}" type="pres">
      <dgm:prSet presAssocID="{76157E01-A227-4247-81A5-C2F1C0DC7279}" presName="composite" presStyleCnt="0"/>
      <dgm:spPr/>
    </dgm:pt>
    <dgm:pt modelId="{428EDC96-2138-42DF-A86A-277377C7ABC8}" type="pres">
      <dgm:prSet presAssocID="{76157E01-A227-4247-81A5-C2F1C0DC7279}" presName="imgShp" presStyleLbl="fgImgPlace1" presStyleIdx="0" presStyleCnt="5"/>
      <dgm:spPr>
        <a:blipFill rotWithShape="1">
          <a:blip xmlns:r="http://schemas.openxmlformats.org/officeDocument/2006/relationships" r:embed="rId1"/>
          <a:srcRect/>
          <a:stretch>
            <a:fillRect l="-35000" r="-35000"/>
          </a:stretch>
        </a:blipFill>
      </dgm:spPr>
    </dgm:pt>
    <dgm:pt modelId="{C6EAA4EF-6421-46E7-8691-3038B9479C59}" type="pres">
      <dgm:prSet presAssocID="{76157E01-A227-4247-81A5-C2F1C0DC7279}" presName="txShp" presStyleLbl="node1" presStyleIdx="0" presStyleCnt="5">
        <dgm:presLayoutVars>
          <dgm:bulletEnabled val="1"/>
        </dgm:presLayoutVars>
      </dgm:prSet>
      <dgm:spPr/>
    </dgm:pt>
    <dgm:pt modelId="{3DE4507A-2278-45AC-92C8-C3EA6BCA00E6}" type="pres">
      <dgm:prSet presAssocID="{5B258973-B404-4B45-91B5-1D90E8CF6001}" presName="spacing" presStyleCnt="0"/>
      <dgm:spPr/>
    </dgm:pt>
    <dgm:pt modelId="{D6ABEA50-AA3B-4EE1-83A9-AA5A5E6F2E6C}" type="pres">
      <dgm:prSet presAssocID="{1361722D-3D2E-4C3E-9DB2-81D4D1A78C62}" presName="composite" presStyleCnt="0"/>
      <dgm:spPr/>
    </dgm:pt>
    <dgm:pt modelId="{44FCF475-9721-469D-BFC5-7F930387C14D}" type="pres">
      <dgm:prSet presAssocID="{1361722D-3D2E-4C3E-9DB2-81D4D1A78C62}" presName="imgShp" presStyleLbl="fgImgPlace1" presStyleIdx="1" presStyleCnt="5"/>
      <dgm:spPr>
        <a:blipFill rotWithShape="1">
          <a:blip xmlns:r="http://schemas.openxmlformats.org/officeDocument/2006/relationships" r:embed="rId2"/>
          <a:srcRect/>
          <a:stretch>
            <a:fillRect l="-39000" r="-39000"/>
          </a:stretch>
        </a:blipFill>
      </dgm:spPr>
    </dgm:pt>
    <dgm:pt modelId="{191D605A-B29E-4E53-90B7-B0CFC60E2BC9}" type="pres">
      <dgm:prSet presAssocID="{1361722D-3D2E-4C3E-9DB2-81D4D1A78C62}" presName="txShp" presStyleLbl="node1" presStyleIdx="1" presStyleCnt="5">
        <dgm:presLayoutVars>
          <dgm:bulletEnabled val="1"/>
        </dgm:presLayoutVars>
      </dgm:prSet>
      <dgm:spPr/>
    </dgm:pt>
    <dgm:pt modelId="{9D1BAF3F-84E6-4C9D-90C4-F901E97DCFE3}" type="pres">
      <dgm:prSet presAssocID="{B92FC891-4837-496F-BF5A-FF9D8DB545C9}" presName="spacing" presStyleCnt="0"/>
      <dgm:spPr/>
    </dgm:pt>
    <dgm:pt modelId="{4737CCF8-1EBD-4678-814D-4578CA9E5017}" type="pres">
      <dgm:prSet presAssocID="{9E9492E3-4936-4009-B85D-ADBEF39C0D8F}" presName="composite" presStyleCnt="0"/>
      <dgm:spPr/>
    </dgm:pt>
    <dgm:pt modelId="{A0B3089E-870E-4E1F-94F2-79F417E9321F}" type="pres">
      <dgm:prSet presAssocID="{9E9492E3-4936-4009-B85D-ADBEF39C0D8F}" presName="imgShp" presStyleLbl="fgImgPlace1" presStyleIdx="2" presStyleCnt="5"/>
      <dgm:spPr>
        <a:blipFill rotWithShape="1">
          <a:blip xmlns:r="http://schemas.openxmlformats.org/officeDocument/2006/relationships" r:embed="rId3"/>
          <a:srcRect/>
          <a:stretch>
            <a:fillRect l="-20000" r="-20000"/>
          </a:stretch>
        </a:blipFill>
      </dgm:spPr>
    </dgm:pt>
    <dgm:pt modelId="{C78F5E19-4C38-4081-B53B-C7FB1B717E73}" type="pres">
      <dgm:prSet presAssocID="{9E9492E3-4936-4009-B85D-ADBEF39C0D8F}" presName="txShp" presStyleLbl="node1" presStyleIdx="2" presStyleCnt="5">
        <dgm:presLayoutVars>
          <dgm:bulletEnabled val="1"/>
        </dgm:presLayoutVars>
      </dgm:prSet>
      <dgm:spPr/>
    </dgm:pt>
    <dgm:pt modelId="{0615F811-3DA5-405C-9F98-1EF15A43FCDE}" type="pres">
      <dgm:prSet presAssocID="{EC3818DB-0974-4856-BE17-5120B65937DE}" presName="spacing" presStyleCnt="0"/>
      <dgm:spPr/>
    </dgm:pt>
    <dgm:pt modelId="{A51C2440-B773-44B0-ADC4-52DC5892C83E}" type="pres">
      <dgm:prSet presAssocID="{9400B001-973E-4643-8ED9-4E01484C1842}" presName="composite" presStyleCnt="0"/>
      <dgm:spPr/>
    </dgm:pt>
    <dgm:pt modelId="{EE940EA2-8323-4B02-B567-6B159DF0CEF0}" type="pres">
      <dgm:prSet presAssocID="{9400B001-973E-4643-8ED9-4E01484C1842}" presName="imgShp" presStyleLbl="fgImgPlace1" presStyleIdx="3" presStyleCnt="5"/>
      <dgm:spPr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DFCEAFB5-0A47-42A2-8549-01B19F4AE94F}" type="pres">
      <dgm:prSet presAssocID="{9400B001-973E-4643-8ED9-4E01484C1842}" presName="txShp" presStyleLbl="node1" presStyleIdx="3" presStyleCnt="5">
        <dgm:presLayoutVars>
          <dgm:bulletEnabled val="1"/>
        </dgm:presLayoutVars>
      </dgm:prSet>
      <dgm:spPr/>
    </dgm:pt>
    <dgm:pt modelId="{8A92F0EA-E31B-4E80-95FC-D0604361EC45}" type="pres">
      <dgm:prSet presAssocID="{B2776AAE-C0E7-48F9-82C4-3109567742C9}" presName="spacing" presStyleCnt="0"/>
      <dgm:spPr/>
    </dgm:pt>
    <dgm:pt modelId="{E48CD088-1642-49D4-BCF8-6B044941DF56}" type="pres">
      <dgm:prSet presAssocID="{892603A8-5B60-44EA-B16F-61BE6E1CA303}" presName="composite" presStyleCnt="0"/>
      <dgm:spPr/>
    </dgm:pt>
    <dgm:pt modelId="{219D532E-1914-40A3-9412-84C0F60321C8}" type="pres">
      <dgm:prSet presAssocID="{892603A8-5B60-44EA-B16F-61BE6E1CA303}" presName="imgShp" presStyleLbl="fgImgPlace1" presStyleIdx="4" presStyleCnt="5" custLinFactNeighborX="-2799" custLinFactNeighborY="-1084"/>
      <dgm:spPr>
        <a:blipFill rotWithShape="1">
          <a:blip xmlns:r="http://schemas.openxmlformats.org/officeDocument/2006/relationships"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FFBB96D3-63D6-4611-B143-0A0F0E25FDE6}" type="pres">
      <dgm:prSet presAssocID="{892603A8-5B60-44EA-B16F-61BE6E1CA303}" presName="txShp" presStyleLbl="node1" presStyleIdx="4" presStyleCnt="5">
        <dgm:presLayoutVars>
          <dgm:bulletEnabled val="1"/>
        </dgm:presLayoutVars>
      </dgm:prSet>
      <dgm:spPr/>
    </dgm:pt>
  </dgm:ptLst>
  <dgm:cxnLst>
    <dgm:cxn modelId="{7D3F1802-ECD3-48BB-B93F-077D0D429283}" srcId="{AD86C0FE-0114-4EB3-A6AB-5BA63E47C8A0}" destId="{9400B001-973E-4643-8ED9-4E01484C1842}" srcOrd="3" destOrd="0" parTransId="{A3F13782-6064-4F7A-AEFB-0A13F2449F6B}" sibTransId="{B2776AAE-C0E7-48F9-82C4-3109567742C9}"/>
    <dgm:cxn modelId="{1A5DFC39-B6D6-4B0F-8247-66E02CFE4998}" type="presOf" srcId="{1361722D-3D2E-4C3E-9DB2-81D4D1A78C62}" destId="{191D605A-B29E-4E53-90B7-B0CFC60E2BC9}" srcOrd="0" destOrd="0" presId="urn:microsoft.com/office/officeart/2005/8/layout/vList3"/>
    <dgm:cxn modelId="{46507C63-4165-466F-9C04-26CACD0B32F4}" type="presOf" srcId="{76157E01-A227-4247-81A5-C2F1C0DC7279}" destId="{C6EAA4EF-6421-46E7-8691-3038B9479C59}" srcOrd="0" destOrd="0" presId="urn:microsoft.com/office/officeart/2005/8/layout/vList3"/>
    <dgm:cxn modelId="{A3898764-38F9-46D6-A550-8DC4156A866B}" srcId="{AD86C0FE-0114-4EB3-A6AB-5BA63E47C8A0}" destId="{9E9492E3-4936-4009-B85D-ADBEF39C0D8F}" srcOrd="2" destOrd="0" parTransId="{B1015E88-8F5E-4A70-8548-FEE1108F85CF}" sibTransId="{EC3818DB-0974-4856-BE17-5120B65937DE}"/>
    <dgm:cxn modelId="{8C4A3073-A60E-4055-845F-AA770BF6A79C}" type="presOf" srcId="{AD86C0FE-0114-4EB3-A6AB-5BA63E47C8A0}" destId="{A9F7515E-2618-4CBA-B2CA-4A31C416B4EE}" srcOrd="0" destOrd="0" presId="urn:microsoft.com/office/officeart/2005/8/layout/vList3"/>
    <dgm:cxn modelId="{6F29EF93-04DC-4299-824D-4A64D25704A8}" srcId="{AD86C0FE-0114-4EB3-A6AB-5BA63E47C8A0}" destId="{76157E01-A227-4247-81A5-C2F1C0DC7279}" srcOrd="0" destOrd="0" parTransId="{84414D72-94E8-4145-BE74-BC2A51169835}" sibTransId="{5B258973-B404-4B45-91B5-1D90E8CF6001}"/>
    <dgm:cxn modelId="{2CD161A7-D4BD-4495-96A9-9C20483A2003}" srcId="{AD86C0FE-0114-4EB3-A6AB-5BA63E47C8A0}" destId="{1361722D-3D2E-4C3E-9DB2-81D4D1A78C62}" srcOrd="1" destOrd="0" parTransId="{0061ADF6-830E-4398-9EFB-DC1214B39CBC}" sibTransId="{B92FC891-4837-496F-BF5A-FF9D8DB545C9}"/>
    <dgm:cxn modelId="{4C7029AC-12E5-4653-BF56-B3966CBF84FE}" srcId="{AD86C0FE-0114-4EB3-A6AB-5BA63E47C8A0}" destId="{892603A8-5B60-44EA-B16F-61BE6E1CA303}" srcOrd="4" destOrd="0" parTransId="{9549E1FD-EFE6-42BA-8DDF-B5F106B63107}" sibTransId="{63A71BEA-652D-4A82-A816-DFA44DF802C4}"/>
    <dgm:cxn modelId="{B8E07CBC-6F61-491B-BB29-445117CFC07E}" type="presOf" srcId="{9400B001-973E-4643-8ED9-4E01484C1842}" destId="{DFCEAFB5-0A47-42A2-8549-01B19F4AE94F}" srcOrd="0" destOrd="0" presId="urn:microsoft.com/office/officeart/2005/8/layout/vList3"/>
    <dgm:cxn modelId="{CF4CB5D2-8063-4766-89F7-D1408CB750E0}" type="presOf" srcId="{9E9492E3-4936-4009-B85D-ADBEF39C0D8F}" destId="{C78F5E19-4C38-4081-B53B-C7FB1B717E73}" srcOrd="0" destOrd="0" presId="urn:microsoft.com/office/officeart/2005/8/layout/vList3"/>
    <dgm:cxn modelId="{015145FB-C70E-475D-8653-9DC82DAD288E}" type="presOf" srcId="{892603A8-5B60-44EA-B16F-61BE6E1CA303}" destId="{FFBB96D3-63D6-4611-B143-0A0F0E25FDE6}" srcOrd="0" destOrd="0" presId="urn:microsoft.com/office/officeart/2005/8/layout/vList3"/>
    <dgm:cxn modelId="{6458E941-CEAB-4C03-8C8E-9A51FEE3361B}" type="presParOf" srcId="{A9F7515E-2618-4CBA-B2CA-4A31C416B4EE}" destId="{162DE4EF-A3E9-4F43-ABB9-0076839AC2AB}" srcOrd="0" destOrd="0" presId="urn:microsoft.com/office/officeart/2005/8/layout/vList3"/>
    <dgm:cxn modelId="{BCE212F4-468D-43B1-AAF5-A800F88C99F8}" type="presParOf" srcId="{162DE4EF-A3E9-4F43-ABB9-0076839AC2AB}" destId="{428EDC96-2138-42DF-A86A-277377C7ABC8}" srcOrd="0" destOrd="0" presId="urn:microsoft.com/office/officeart/2005/8/layout/vList3"/>
    <dgm:cxn modelId="{2B3206B4-B4FB-4BFE-AEDB-6B6144DBFA4A}" type="presParOf" srcId="{162DE4EF-A3E9-4F43-ABB9-0076839AC2AB}" destId="{C6EAA4EF-6421-46E7-8691-3038B9479C59}" srcOrd="1" destOrd="0" presId="urn:microsoft.com/office/officeart/2005/8/layout/vList3"/>
    <dgm:cxn modelId="{E3C0A111-6338-4763-BB4C-079770A4C1F3}" type="presParOf" srcId="{A9F7515E-2618-4CBA-B2CA-4A31C416B4EE}" destId="{3DE4507A-2278-45AC-92C8-C3EA6BCA00E6}" srcOrd="1" destOrd="0" presId="urn:microsoft.com/office/officeart/2005/8/layout/vList3"/>
    <dgm:cxn modelId="{FFF176C3-2228-432C-88D3-8271F6CD35EC}" type="presParOf" srcId="{A9F7515E-2618-4CBA-B2CA-4A31C416B4EE}" destId="{D6ABEA50-AA3B-4EE1-83A9-AA5A5E6F2E6C}" srcOrd="2" destOrd="0" presId="urn:microsoft.com/office/officeart/2005/8/layout/vList3"/>
    <dgm:cxn modelId="{E8198A82-6938-4822-BA7D-A554EF34D992}" type="presParOf" srcId="{D6ABEA50-AA3B-4EE1-83A9-AA5A5E6F2E6C}" destId="{44FCF475-9721-469D-BFC5-7F930387C14D}" srcOrd="0" destOrd="0" presId="urn:microsoft.com/office/officeart/2005/8/layout/vList3"/>
    <dgm:cxn modelId="{79EE19AF-5576-4C8E-8809-3E143E65BFE7}" type="presParOf" srcId="{D6ABEA50-AA3B-4EE1-83A9-AA5A5E6F2E6C}" destId="{191D605A-B29E-4E53-90B7-B0CFC60E2BC9}" srcOrd="1" destOrd="0" presId="urn:microsoft.com/office/officeart/2005/8/layout/vList3"/>
    <dgm:cxn modelId="{51C7CD66-4FDA-40E7-9876-4E011CAA6356}" type="presParOf" srcId="{A9F7515E-2618-4CBA-B2CA-4A31C416B4EE}" destId="{9D1BAF3F-84E6-4C9D-90C4-F901E97DCFE3}" srcOrd="3" destOrd="0" presId="urn:microsoft.com/office/officeart/2005/8/layout/vList3"/>
    <dgm:cxn modelId="{D1F520F9-5902-46CD-B7A2-BDBF3907E556}" type="presParOf" srcId="{A9F7515E-2618-4CBA-B2CA-4A31C416B4EE}" destId="{4737CCF8-1EBD-4678-814D-4578CA9E5017}" srcOrd="4" destOrd="0" presId="urn:microsoft.com/office/officeart/2005/8/layout/vList3"/>
    <dgm:cxn modelId="{BE685009-8894-4EC0-8D7D-BB169CDD6BC7}" type="presParOf" srcId="{4737CCF8-1EBD-4678-814D-4578CA9E5017}" destId="{A0B3089E-870E-4E1F-94F2-79F417E9321F}" srcOrd="0" destOrd="0" presId="urn:microsoft.com/office/officeart/2005/8/layout/vList3"/>
    <dgm:cxn modelId="{425CAF9C-DBB8-4109-A887-8F3BB9A43EFD}" type="presParOf" srcId="{4737CCF8-1EBD-4678-814D-4578CA9E5017}" destId="{C78F5E19-4C38-4081-B53B-C7FB1B717E73}" srcOrd="1" destOrd="0" presId="urn:microsoft.com/office/officeart/2005/8/layout/vList3"/>
    <dgm:cxn modelId="{E82B9523-3D91-4109-A926-6A484863F5F9}" type="presParOf" srcId="{A9F7515E-2618-4CBA-B2CA-4A31C416B4EE}" destId="{0615F811-3DA5-405C-9F98-1EF15A43FCDE}" srcOrd="5" destOrd="0" presId="urn:microsoft.com/office/officeart/2005/8/layout/vList3"/>
    <dgm:cxn modelId="{2CD94547-ADBC-4954-9B43-62B60D7A8A08}" type="presParOf" srcId="{A9F7515E-2618-4CBA-B2CA-4A31C416B4EE}" destId="{A51C2440-B773-44B0-ADC4-52DC5892C83E}" srcOrd="6" destOrd="0" presId="urn:microsoft.com/office/officeart/2005/8/layout/vList3"/>
    <dgm:cxn modelId="{06A903A2-526E-4631-9FD4-3DFA12B884B1}" type="presParOf" srcId="{A51C2440-B773-44B0-ADC4-52DC5892C83E}" destId="{EE940EA2-8323-4B02-B567-6B159DF0CEF0}" srcOrd="0" destOrd="0" presId="urn:microsoft.com/office/officeart/2005/8/layout/vList3"/>
    <dgm:cxn modelId="{7FC366DB-533C-41A4-B2AD-3D2317672392}" type="presParOf" srcId="{A51C2440-B773-44B0-ADC4-52DC5892C83E}" destId="{DFCEAFB5-0A47-42A2-8549-01B19F4AE94F}" srcOrd="1" destOrd="0" presId="urn:microsoft.com/office/officeart/2005/8/layout/vList3"/>
    <dgm:cxn modelId="{00BB0E26-F821-4A83-A5E7-F31C9671D89F}" type="presParOf" srcId="{A9F7515E-2618-4CBA-B2CA-4A31C416B4EE}" destId="{8A92F0EA-E31B-4E80-95FC-D0604361EC45}" srcOrd="7" destOrd="0" presId="urn:microsoft.com/office/officeart/2005/8/layout/vList3"/>
    <dgm:cxn modelId="{D9FBD465-4CDD-4CD5-BE7A-1AECB0D23CCA}" type="presParOf" srcId="{A9F7515E-2618-4CBA-B2CA-4A31C416B4EE}" destId="{E48CD088-1642-49D4-BCF8-6B044941DF56}" srcOrd="8" destOrd="0" presId="urn:microsoft.com/office/officeart/2005/8/layout/vList3"/>
    <dgm:cxn modelId="{E6AF0AD5-DE97-48A3-8836-B7AF0E52CD6F}" type="presParOf" srcId="{E48CD088-1642-49D4-BCF8-6B044941DF56}" destId="{219D532E-1914-40A3-9412-84C0F60321C8}" srcOrd="0" destOrd="0" presId="urn:microsoft.com/office/officeart/2005/8/layout/vList3"/>
    <dgm:cxn modelId="{378B1D26-BF19-48C5-A2B8-528605A5EA4F}" type="presParOf" srcId="{E48CD088-1642-49D4-BCF8-6B044941DF56}" destId="{FFBB96D3-63D6-4611-B143-0A0F0E25FDE6}" srcOrd="1" destOrd="0" presId="urn:microsoft.com/office/officeart/2005/8/layout/vList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7EA45-35B1-4DA7-A1BB-CC14AA8C1006}">
      <dsp:nvSpPr>
        <dsp:cNvPr id="0" name=""/>
        <dsp:cNvSpPr/>
      </dsp:nvSpPr>
      <dsp:spPr>
        <a:xfrm>
          <a:off x="5626" y="1235067"/>
          <a:ext cx="1744064" cy="1046438"/>
        </a:xfrm>
        <a:prstGeom prst="roundRect">
          <a:avLst>
            <a:gd name="adj" fmla="val 10000"/>
          </a:avLst>
        </a:prstGeom>
        <a:solidFill>
          <a:srgbClr val="1B4371"/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Flusso Video Telecamere</a:t>
          </a:r>
        </a:p>
      </dsp:txBody>
      <dsp:txXfrm>
        <a:off x="36275" y="1265716"/>
        <a:ext cx="1682766" cy="985140"/>
      </dsp:txXfrm>
    </dsp:sp>
    <dsp:sp modelId="{A1B034A0-45D1-4EA0-B4B8-A239F8B49FF2}">
      <dsp:nvSpPr>
        <dsp:cNvPr id="0" name=""/>
        <dsp:cNvSpPr/>
      </dsp:nvSpPr>
      <dsp:spPr>
        <a:xfrm>
          <a:off x="1924096" y="1542022"/>
          <a:ext cx="369741" cy="432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kern="1200"/>
        </a:p>
      </dsp:txBody>
      <dsp:txXfrm>
        <a:off x="1924096" y="1628527"/>
        <a:ext cx="258819" cy="259517"/>
      </dsp:txXfrm>
    </dsp:sp>
    <dsp:sp modelId="{BA3B4D88-20E3-4C10-B0C2-BD4FAE5E9EDE}">
      <dsp:nvSpPr>
        <dsp:cNvPr id="0" name=""/>
        <dsp:cNvSpPr/>
      </dsp:nvSpPr>
      <dsp:spPr>
        <a:xfrm>
          <a:off x="2447315" y="1235067"/>
          <a:ext cx="1744064" cy="1046438"/>
        </a:xfrm>
        <a:prstGeom prst="roundRect">
          <a:avLst>
            <a:gd name="adj" fmla="val 10000"/>
          </a:avLst>
        </a:prstGeom>
        <a:solidFill>
          <a:srgbClr val="1B4371"/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Object Detection </a:t>
          </a:r>
          <a:r>
            <a:rPr lang="it-IT" sz="15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Wingdings" panose="05000000000000000000" pitchFamily="2" charset="2"/>
            </a:rPr>
            <a:t></a:t>
          </a:r>
          <a:r>
            <a:rPr lang="it-IT" sz="15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Person BBox</a:t>
          </a:r>
        </a:p>
      </dsp:txBody>
      <dsp:txXfrm>
        <a:off x="2477964" y="1265716"/>
        <a:ext cx="1682766" cy="985140"/>
      </dsp:txXfrm>
    </dsp:sp>
    <dsp:sp modelId="{1EED8F7E-33E4-411A-AEC7-33EE32CCDB7C}">
      <dsp:nvSpPr>
        <dsp:cNvPr id="0" name=""/>
        <dsp:cNvSpPr/>
      </dsp:nvSpPr>
      <dsp:spPr>
        <a:xfrm>
          <a:off x="4365786" y="1542022"/>
          <a:ext cx="369741" cy="432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kern="1200"/>
        </a:p>
      </dsp:txBody>
      <dsp:txXfrm>
        <a:off x="4365786" y="1628527"/>
        <a:ext cx="258819" cy="259517"/>
      </dsp:txXfrm>
    </dsp:sp>
    <dsp:sp modelId="{AC503082-2AD3-4F13-A0D9-213738321E31}">
      <dsp:nvSpPr>
        <dsp:cNvPr id="0" name=""/>
        <dsp:cNvSpPr/>
      </dsp:nvSpPr>
      <dsp:spPr>
        <a:xfrm>
          <a:off x="4889005" y="1235067"/>
          <a:ext cx="1744064" cy="1046438"/>
        </a:xfrm>
        <a:prstGeom prst="roundRect">
          <a:avLst>
            <a:gd name="adj" fmla="val 10000"/>
          </a:avLst>
        </a:prstGeom>
        <a:solidFill>
          <a:srgbClr val="1B4371"/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Pose Estimation (18 Key points)</a:t>
          </a:r>
        </a:p>
      </dsp:txBody>
      <dsp:txXfrm>
        <a:off x="4919654" y="1265716"/>
        <a:ext cx="1682766" cy="985140"/>
      </dsp:txXfrm>
    </dsp:sp>
    <dsp:sp modelId="{587DBE66-EF76-41B7-AFB5-A33EF5FCB7D1}">
      <dsp:nvSpPr>
        <dsp:cNvPr id="0" name=""/>
        <dsp:cNvSpPr/>
      </dsp:nvSpPr>
      <dsp:spPr>
        <a:xfrm>
          <a:off x="6807475" y="1542022"/>
          <a:ext cx="369741" cy="432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kern="1200"/>
        </a:p>
      </dsp:txBody>
      <dsp:txXfrm>
        <a:off x="6807475" y="1628527"/>
        <a:ext cx="258819" cy="259517"/>
      </dsp:txXfrm>
    </dsp:sp>
    <dsp:sp modelId="{9D6AB17C-BC07-4D83-81BC-F84F89B17F18}">
      <dsp:nvSpPr>
        <dsp:cNvPr id="0" name=""/>
        <dsp:cNvSpPr/>
      </dsp:nvSpPr>
      <dsp:spPr>
        <a:xfrm>
          <a:off x="7330695" y="1235067"/>
          <a:ext cx="1744064" cy="1046438"/>
        </a:xfrm>
        <a:prstGeom prst="roundRect">
          <a:avLst>
            <a:gd name="adj" fmla="val 10000"/>
          </a:avLst>
        </a:prstGeom>
        <a:solidFill>
          <a:srgbClr val="1B4371"/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Strategia d’isolamento zone d’interesse </a:t>
          </a:r>
        </a:p>
      </dsp:txBody>
      <dsp:txXfrm>
        <a:off x="7361344" y="1265716"/>
        <a:ext cx="1682766" cy="985140"/>
      </dsp:txXfrm>
    </dsp:sp>
    <dsp:sp modelId="{70A58386-0F80-44CC-8134-F962F15EDE88}">
      <dsp:nvSpPr>
        <dsp:cNvPr id="0" name=""/>
        <dsp:cNvSpPr/>
      </dsp:nvSpPr>
      <dsp:spPr>
        <a:xfrm>
          <a:off x="9249165" y="1542022"/>
          <a:ext cx="369741" cy="432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kern="1200"/>
        </a:p>
      </dsp:txBody>
      <dsp:txXfrm>
        <a:off x="9249165" y="1628527"/>
        <a:ext cx="258819" cy="259517"/>
      </dsp:txXfrm>
    </dsp:sp>
    <dsp:sp modelId="{AE7DA473-B437-428F-A3D7-55552F6E27FC}">
      <dsp:nvSpPr>
        <dsp:cNvPr id="0" name=""/>
        <dsp:cNvSpPr/>
      </dsp:nvSpPr>
      <dsp:spPr>
        <a:xfrm>
          <a:off x="9772384" y="1235067"/>
          <a:ext cx="1744064" cy="1046438"/>
        </a:xfrm>
        <a:prstGeom prst="roundRect">
          <a:avLst>
            <a:gd name="adj" fmla="val 10000"/>
          </a:avLst>
        </a:prstGeom>
        <a:solidFill>
          <a:srgbClr val="1B4371"/>
        </a:solidFill>
        <a:ln w="19050" cap="flat" cmpd="sng" algn="ctr">
          <a:solidFill>
            <a:schemeClr val="bg2">
              <a:lumMod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Binary Classification (CNN)</a:t>
          </a:r>
        </a:p>
      </dsp:txBody>
      <dsp:txXfrm>
        <a:off x="9803033" y="1265716"/>
        <a:ext cx="1682766" cy="9851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AA4EF-6421-46E7-8691-3038B9479C59}">
      <dsp:nvSpPr>
        <dsp:cNvPr id="0" name=""/>
        <dsp:cNvSpPr/>
      </dsp:nvSpPr>
      <dsp:spPr>
        <a:xfrm rot="10800000">
          <a:off x="1804102" y="2165"/>
          <a:ext cx="6479917" cy="687770"/>
        </a:xfrm>
        <a:prstGeom prst="homePlate">
          <a:avLst/>
        </a:prstGeom>
        <a:solidFill>
          <a:srgbClr val="1B4371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328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Ricostruzione 3D</a:t>
          </a:r>
        </a:p>
      </dsp:txBody>
      <dsp:txXfrm rot="10800000">
        <a:off x="1976044" y="2165"/>
        <a:ext cx="6307975" cy="687770"/>
      </dsp:txXfrm>
    </dsp:sp>
    <dsp:sp modelId="{428EDC96-2138-42DF-A86A-277377C7ABC8}">
      <dsp:nvSpPr>
        <dsp:cNvPr id="0" name=""/>
        <dsp:cNvSpPr/>
      </dsp:nvSpPr>
      <dsp:spPr>
        <a:xfrm>
          <a:off x="1460217" y="2165"/>
          <a:ext cx="687770" cy="68777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35000" r="-3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91D605A-B29E-4E53-90B7-B0CFC60E2BC9}">
      <dsp:nvSpPr>
        <dsp:cNvPr id="0" name=""/>
        <dsp:cNvSpPr/>
      </dsp:nvSpPr>
      <dsp:spPr>
        <a:xfrm rot="10800000">
          <a:off x="1804102" y="895240"/>
          <a:ext cx="6479917" cy="687770"/>
        </a:xfrm>
        <a:prstGeom prst="homePlate">
          <a:avLst/>
        </a:prstGeom>
        <a:solidFill>
          <a:srgbClr val="1B4371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328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Monitoraggio Veicoli</a:t>
          </a:r>
        </a:p>
      </dsp:txBody>
      <dsp:txXfrm rot="10800000">
        <a:off x="1976044" y="895240"/>
        <a:ext cx="6307975" cy="687770"/>
      </dsp:txXfrm>
    </dsp:sp>
    <dsp:sp modelId="{44FCF475-9721-469D-BFC5-7F930387C14D}">
      <dsp:nvSpPr>
        <dsp:cNvPr id="0" name=""/>
        <dsp:cNvSpPr/>
      </dsp:nvSpPr>
      <dsp:spPr>
        <a:xfrm>
          <a:off x="1460217" y="895240"/>
          <a:ext cx="687770" cy="687770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78F5E19-4C38-4081-B53B-C7FB1B717E73}">
      <dsp:nvSpPr>
        <dsp:cNvPr id="0" name=""/>
        <dsp:cNvSpPr/>
      </dsp:nvSpPr>
      <dsp:spPr>
        <a:xfrm rot="10800000">
          <a:off x="1804102" y="1788315"/>
          <a:ext cx="6479917" cy="687770"/>
        </a:xfrm>
        <a:prstGeom prst="homePlate">
          <a:avLst/>
        </a:prstGeom>
        <a:solidFill>
          <a:srgbClr val="1B4371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328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Monitoraggio DPI</a:t>
          </a:r>
        </a:p>
      </dsp:txBody>
      <dsp:txXfrm rot="10800000">
        <a:off x="1976044" y="1788315"/>
        <a:ext cx="6307975" cy="687770"/>
      </dsp:txXfrm>
    </dsp:sp>
    <dsp:sp modelId="{A0B3089E-870E-4E1F-94F2-79F417E9321F}">
      <dsp:nvSpPr>
        <dsp:cNvPr id="0" name=""/>
        <dsp:cNvSpPr/>
      </dsp:nvSpPr>
      <dsp:spPr>
        <a:xfrm>
          <a:off x="1460217" y="1788315"/>
          <a:ext cx="687770" cy="687770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l="-20000" r="-2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FCEAFB5-0A47-42A2-8549-01B19F4AE94F}">
      <dsp:nvSpPr>
        <dsp:cNvPr id="0" name=""/>
        <dsp:cNvSpPr/>
      </dsp:nvSpPr>
      <dsp:spPr>
        <a:xfrm rot="10800000">
          <a:off x="1804102" y="2681390"/>
          <a:ext cx="6479917" cy="687770"/>
        </a:xfrm>
        <a:prstGeom prst="homePlate">
          <a:avLst/>
        </a:prstGeom>
        <a:solidFill>
          <a:srgbClr val="1B4371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328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Accesso Controllato per Zone Alto Rischio</a:t>
          </a:r>
        </a:p>
      </dsp:txBody>
      <dsp:txXfrm rot="10800000">
        <a:off x="1976044" y="2681390"/>
        <a:ext cx="6307975" cy="687770"/>
      </dsp:txXfrm>
    </dsp:sp>
    <dsp:sp modelId="{EE940EA2-8323-4B02-B567-6B159DF0CEF0}">
      <dsp:nvSpPr>
        <dsp:cNvPr id="0" name=""/>
        <dsp:cNvSpPr/>
      </dsp:nvSpPr>
      <dsp:spPr>
        <a:xfrm>
          <a:off x="1460217" y="2681390"/>
          <a:ext cx="687770" cy="687770"/>
        </a:xfrm>
        <a:prstGeom prst="ellipse">
          <a:avLst/>
        </a:prstGeom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FBB96D3-63D6-4611-B143-0A0F0E25FDE6}">
      <dsp:nvSpPr>
        <dsp:cNvPr id="0" name=""/>
        <dsp:cNvSpPr/>
      </dsp:nvSpPr>
      <dsp:spPr>
        <a:xfrm rot="10800000">
          <a:off x="1804102" y="3574465"/>
          <a:ext cx="6479917" cy="687770"/>
        </a:xfrm>
        <a:prstGeom prst="homePlate">
          <a:avLst/>
        </a:prstGeom>
        <a:solidFill>
          <a:srgbClr val="1B4371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328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0" kern="12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Gestione Accessi allo stabilimento</a:t>
          </a:r>
        </a:p>
      </dsp:txBody>
      <dsp:txXfrm rot="10800000">
        <a:off x="1976044" y="3574465"/>
        <a:ext cx="6307975" cy="687770"/>
      </dsp:txXfrm>
    </dsp:sp>
    <dsp:sp modelId="{219D532E-1914-40A3-9412-84C0F60321C8}">
      <dsp:nvSpPr>
        <dsp:cNvPr id="0" name=""/>
        <dsp:cNvSpPr/>
      </dsp:nvSpPr>
      <dsp:spPr>
        <a:xfrm>
          <a:off x="1440966" y="3567010"/>
          <a:ext cx="687770" cy="687770"/>
        </a:xfrm>
        <a:prstGeom prst="ellipse">
          <a:avLst/>
        </a:prstGeom>
        <a:blipFill rotWithShape="1">
          <a:blip xmlns:r="http://schemas.openxmlformats.org/officeDocument/2006/relationships"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6F3A0-CF95-49C7-8117-157ABFB418A2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2A8D2-C439-4913-8EAA-AE4E53A9F1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011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5042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1357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6965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8122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Non-Maximum Suppression (NMS): Il sistema NMS è basato sulla confidence della classificazione di uno specifico oggetto e sulla Intersection over Union (IoU) delle bbox relative ad esso. Se l’IoU è sopra una certa soglia (ad es. IoU &gt; 0.6 sapendo che 0 &lt; IoU &lt; 1) viene conservata nell’output SOLO la bbox con il livello di confidenza più elevato.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3109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90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3889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8650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2A8D2-C439-4913-8EAA-AE4E53A9F1DA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344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A465-A68D-4738-D2FC-D6C62116D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CAA81-EE76-96D9-C4D2-5280B11A2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932F0-82A8-B330-845A-086F6C72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A193E7-35EA-4613-8B4B-A835B7B1FEC1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667F2-6669-9678-FA74-C3549F55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1F6E3-6B52-5BCE-BA5A-8BFC9DAB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36213-125A-4052-B3E1-F2A945E427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352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6B92-03FA-5B97-8931-FFFB5AB0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CD09-683D-97DC-024B-D963A398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9BD3A-A816-1EAB-BE2A-F446C6CF04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A193E7-35EA-4613-8B4B-A835B7B1FEC1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ABEA7-5BCF-0A3C-F879-1AE44F11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EB0B2-5784-321C-AB72-DF6D6E4D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36213-125A-4052-B3E1-F2A945E427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7469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0FB3-40C8-153E-8B40-702C55B1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B10F8-C875-9D77-1908-8F192868A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99FAA-BA89-FBE9-E013-4504B473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A193E7-35EA-4613-8B4B-A835B7B1FEC1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B5E48-D87E-E4AE-9CFA-E764BE45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D13D9-2267-AF2E-5A41-F32E0B1E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36213-125A-4052-B3E1-F2A945E427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5198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7FC0-996E-9A53-2452-FDDB4511D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A79A2-2312-ADC5-FB11-352CEB7A2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B8A18-8D11-5F07-07F0-FA95AED4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8A038-A3BD-7FA7-71CA-FEDB051A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463DB-2653-38B8-783E-A33B0DF40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1685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E94C-C04F-7A98-C178-61C19DFE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89CC-6D60-02F2-3F64-F2386BF98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A09FC-70CE-B57A-CC9C-192DDE9F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3C948-4F13-890B-3E05-39DDF81DF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524F-3D4B-9EC1-2012-EBA9AFB5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1408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40FA-DCFA-B976-0BEB-C7A9A454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ABBF6-99AC-7F0C-C3AA-D45435DA3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AA010-1613-9381-B908-FB6E850C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11DDF-4A90-1AEA-0884-1B02222C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A0998-DCA8-5F03-6811-FCB5E956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49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5154-C603-2B0B-E827-FCD51D12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43D21-5276-556E-FD10-9B998B164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50113-23CF-5EFE-4A5C-800448040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206B4-14CF-915B-2051-51D2EF014B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534B7-24BE-785E-1752-9C30593E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B05EB-5CC3-BB67-D77A-687355D9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89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9542-BD1C-8D32-9E04-FA202DE0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2ABE4-3C97-0D9C-E47C-CA5CAA591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FE105-14B1-9594-9AE8-A3C7B91E5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6E795-CA19-6B1D-FACA-250D7CAD0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D30CD-FF7D-67F8-B28E-031591717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3868B4-415C-4236-C880-1AEC3BA7A5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69FD9-1032-6368-703F-065073DD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2C2D1-42F2-31AC-496E-EDE5185D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068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6D30-026A-D392-B118-E8652EB5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B1A91-082E-4A47-F9AC-36B6C615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88DDC-FCE8-9A62-A49D-F68A727D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5C46B-4AEE-1373-E424-51EACD98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278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90709-7107-4EE0-2221-FA965BA60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0CF90-2881-9D21-3DB6-E056A12C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F85AF-CC5F-303D-1A3D-11BB9291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54AEE6A-E894-2F4C-25D3-F92E0785C9B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73349" y="1713614"/>
            <a:ext cx="2399414" cy="239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309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B329-0CCD-662E-B717-62E0525D8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B276-54EE-C205-AF0F-D7F4DBF64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5E744-DFCC-CDFC-D38D-D567191B2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1AF3D-FB01-0458-BB2A-9AC515E2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8182A-4713-8E02-9EB6-7F282A7B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0CE3C-83E6-B99D-400D-27B06064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488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7647-13E0-F764-148A-CE35FB67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3829C-7B53-BFAD-DBD1-F884D585C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ADBEF-B06E-FF70-10DB-0FC80ABCE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DB716-2CE8-25CE-9B17-785F183C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3BA5D-9A73-0919-70B2-637A97EB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1F8E1-DC6C-085E-4769-32E1F3CB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739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C3FC-1DBE-7808-0815-62ABC1F7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59768-A5DF-2980-2083-6A970F007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40B18-352C-02BF-E11A-C64F4685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7D3B-B5B1-7E31-B5C3-07BBF41C4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DF46F-E136-417E-072B-8EB9E023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8288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F7945-E735-362B-E025-F41732E1A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A8314-FC5C-6562-DC0E-CBF9D8490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1ED1-1A6F-AC1F-EC75-A2D2CDF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910146-DF32-4999-AEA9-0BB8BDE76CBD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3BDD-4A2D-0ABA-30E0-647DF36D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40D1D-2B4B-3CA4-52EA-07423569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B5D8A1-2795-407B-A865-883A9E84C1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08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F6530E57-9407-E6AC-5F83-2C8BDA18CD34}"/>
              </a:ext>
            </a:extLst>
          </p:cNvPr>
          <p:cNvSpPr/>
          <p:nvPr userDrawn="1"/>
        </p:nvSpPr>
        <p:spPr>
          <a:xfrm>
            <a:off x="-1" y="0"/>
            <a:ext cx="12192000" cy="935421"/>
          </a:xfrm>
          <a:prstGeom prst="rect">
            <a:avLst/>
          </a:prstGeom>
          <a:solidFill>
            <a:srgbClr val="F78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pic>
        <p:nvPicPr>
          <p:cNvPr id="8" name="Picture 12" descr="Reticolo_Destro_Verticale.png">
            <a:extLst>
              <a:ext uri="{FF2B5EF4-FFF2-40B4-BE49-F238E27FC236}">
                <a16:creationId xmlns:a16="http://schemas.microsoft.com/office/drawing/2014/main" id="{4E0D39E9-FC74-CE8E-40C5-41EBF9DEF6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9072129" y="3738130"/>
            <a:ext cx="1350457" cy="488928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4A2249-A27F-7138-60FD-CE86F2B4DA9C}"/>
              </a:ext>
            </a:extLst>
          </p:cNvPr>
          <p:cNvSpPr txBox="1">
            <a:spLocks/>
          </p:cNvSpPr>
          <p:nvPr userDrawn="1"/>
        </p:nvSpPr>
        <p:spPr>
          <a:xfrm>
            <a:off x="10869283" y="6266814"/>
            <a:ext cx="1082603" cy="48683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14A31874-6448-9E4B-8F4D-91FBE2841ACE}" type="slidenum">
              <a:rPr lang="en-US" sz="1200" smtClean="0">
                <a:solidFill>
                  <a:srgbClr val="808080"/>
                </a:solidFill>
              </a:rPr>
              <a:pPr lvl="0"/>
              <a:t>‹#›</a:t>
            </a:fld>
            <a:endParaRPr lang="en-US" sz="1200">
              <a:solidFill>
                <a:srgbClr val="808080"/>
              </a:solidFill>
            </a:endParaRP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1D4ED434-97D0-B460-7F34-F7E3A6443A3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369" y="6395389"/>
            <a:ext cx="487680" cy="22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8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CBE54-54CA-0B21-3D10-BA332B42262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93000"/>
          </a:blip>
          <a:stretch>
            <a:fillRect/>
          </a:stretch>
        </p:blipFill>
        <p:spPr>
          <a:xfrm>
            <a:off x="-62271" y="0"/>
            <a:ext cx="12316537" cy="7038021"/>
          </a:xfrm>
          <a:prstGeom prst="rect">
            <a:avLst/>
          </a:prstGeom>
        </p:spPr>
      </p:pic>
      <p:pic>
        <p:nvPicPr>
          <p:cNvPr id="12" name="Picture 11" descr="A logo of a eye with a circuit board&#10;&#10;Description automatically generated">
            <a:extLst>
              <a:ext uri="{FF2B5EF4-FFF2-40B4-BE49-F238E27FC236}">
                <a16:creationId xmlns:a16="http://schemas.microsoft.com/office/drawing/2014/main" id="{D446E3EE-3ECA-52A9-BDD5-7EEC0040BE7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85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7676" b="73828" l="21973" r="78125">
                        <a14:foregroundMark x1="39648" y1="27539" x2="39648" y2="27539"/>
                        <a14:foregroundMark x1="33887" y1="27344" x2="33887" y2="27344"/>
                        <a14:foregroundMark x1="32910" y1="32324" x2="32910" y2="32324"/>
                        <a14:foregroundMark x1="36719" y1="23145" x2="36719" y2="23145"/>
                        <a14:foregroundMark x1="42676" y1="19727" x2="42676" y2="19727"/>
                        <a14:foregroundMark x1="50000" y1="17676" x2="50000" y2="17676"/>
                        <a14:foregroundMark x1="75391" y1="35742" x2="75391" y2="35742"/>
                        <a14:foregroundMark x1="78125" y1="40137" x2="78125" y2="40137"/>
                        <a14:foregroundMark x1="77832" y1="51563" x2="77832" y2="51563"/>
                        <a14:foregroundMark x1="77832" y1="51563" x2="77832" y2="51563"/>
                        <a14:foregroundMark x1="55273" y1="54102" x2="55273" y2="54102"/>
                        <a14:foregroundMark x1="28711" y1="51270" x2="28711" y2="51270"/>
                        <a14:foregroundMark x1="22949" y1="40723" x2="22949" y2="40723"/>
                        <a14:foregroundMark x1="22461" y1="50977" x2="22461" y2="50977"/>
                        <a14:foregroundMark x1="22266" y1="45020" x2="22266" y2="45020"/>
                        <a14:foregroundMark x1="22461" y1="42188" x2="22461" y2="42188"/>
                        <a14:foregroundMark x1="22070" y1="41211" x2="22070" y2="41211"/>
                        <a14:foregroundMark x1="72266" y1="62988" x2="72266" y2="62988"/>
                        <a14:foregroundMark x1="59570" y1="65430" x2="59570" y2="65430"/>
                        <a14:foregroundMark x1="53906" y1="63672" x2="53906" y2="63672"/>
                        <a14:foregroundMark x1="56738" y1="65625" x2="56738" y2="65625"/>
                        <a14:foregroundMark x1="50195" y1="64746" x2="50195" y2="64746"/>
                        <a14:foregroundMark x1="47070" y1="66113" x2="47070" y2="66113"/>
                        <a14:foregroundMark x1="43750" y1="67871" x2="43750" y2="67871"/>
                        <a14:foregroundMark x1="40723" y1="66406" x2="40723" y2="66406"/>
                        <a14:foregroundMark x1="44043" y1="70898" x2="44043" y2="70898"/>
                        <a14:foregroundMark x1="47070" y1="72363" x2="47070" y2="72363"/>
                        <a14:foregroundMark x1="56738" y1="73828" x2="56738" y2="738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418" t="15163" r="18623" b="22208"/>
          <a:stretch/>
        </p:blipFill>
        <p:spPr>
          <a:xfrm>
            <a:off x="8639057" y="277285"/>
            <a:ext cx="3300174" cy="3282897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7944F7A7-7981-2296-1BDF-9744B4A19624}"/>
              </a:ext>
            </a:extLst>
          </p:cNvPr>
          <p:cNvSpPr/>
          <p:nvPr userDrawn="1"/>
        </p:nvSpPr>
        <p:spPr>
          <a:xfrm>
            <a:off x="-62270" y="5025337"/>
            <a:ext cx="12316536" cy="1832664"/>
          </a:xfrm>
          <a:prstGeom prst="rect">
            <a:avLst/>
          </a:prstGeom>
          <a:solidFill>
            <a:srgbClr val="DB6708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Segnaposto testo 10">
            <a:extLst>
              <a:ext uri="{FF2B5EF4-FFF2-40B4-BE49-F238E27FC236}">
                <a16:creationId xmlns:a16="http://schemas.microsoft.com/office/drawing/2014/main" id="{4D3D14DB-C4B8-561A-0D27-B89197802FC2}"/>
              </a:ext>
            </a:extLst>
          </p:cNvPr>
          <p:cNvSpPr txBox="1">
            <a:spLocks/>
          </p:cNvSpPr>
          <p:nvPr userDrawn="1"/>
        </p:nvSpPr>
        <p:spPr>
          <a:xfrm>
            <a:off x="541244" y="5200816"/>
            <a:ext cx="11115888" cy="681213"/>
          </a:xfrm>
          <a:prstGeom prst="rect">
            <a:avLst/>
          </a:prstGeom>
        </p:spPr>
        <p:txBody>
          <a:bodyPr/>
          <a:lstStyle>
            <a:lvl1pPr marL="0" indent="0" algn="l" defTabSz="609585" rtl="0" eaLnBrk="1" latinLnBrk="0" hangingPunct="1">
              <a:lnSpc>
                <a:spcPct val="90000"/>
              </a:lnSpc>
              <a:spcBef>
                <a:spcPts val="0"/>
              </a:spcBef>
              <a:buFont typeface="Arial"/>
              <a:buNone/>
              <a:defRPr lang="it-IT" sz="3733" kern="1200" cap="all" spc="400" baseline="0" dirty="0" smtClean="0">
                <a:solidFill>
                  <a:schemeClr val="bg1"/>
                </a:solidFill>
                <a:latin typeface="Roboto Bold"/>
                <a:ea typeface="+mn-ea"/>
                <a:cs typeface="Roboto Bold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VISIONGUARD</a:t>
            </a:r>
          </a:p>
        </p:txBody>
      </p:sp>
      <p:sp>
        <p:nvSpPr>
          <p:cNvPr id="9" name="Segnaposto testo 10">
            <a:extLst>
              <a:ext uri="{FF2B5EF4-FFF2-40B4-BE49-F238E27FC236}">
                <a16:creationId xmlns:a16="http://schemas.microsoft.com/office/drawing/2014/main" id="{9DBE5EAC-BF67-1D97-9F1F-5B2FE50A359E}"/>
              </a:ext>
            </a:extLst>
          </p:cNvPr>
          <p:cNvSpPr txBox="1">
            <a:spLocks/>
          </p:cNvSpPr>
          <p:nvPr userDrawn="1"/>
        </p:nvSpPr>
        <p:spPr>
          <a:xfrm>
            <a:off x="538056" y="5899502"/>
            <a:ext cx="11115888" cy="681213"/>
          </a:xfrm>
          <a:prstGeom prst="rect">
            <a:avLst/>
          </a:prstGeom>
        </p:spPr>
        <p:txBody>
          <a:bodyPr/>
          <a:lstStyle>
            <a:lvl1pPr marL="0" indent="0" algn="l" defTabSz="609585" rtl="0" eaLnBrk="1" latinLnBrk="0" hangingPunct="1">
              <a:lnSpc>
                <a:spcPct val="90000"/>
              </a:lnSpc>
              <a:spcBef>
                <a:spcPts val="0"/>
              </a:spcBef>
              <a:buFont typeface="Arial"/>
              <a:buNone/>
              <a:defRPr lang="it-IT" sz="2667" kern="1200" cap="all" spc="400" baseline="0" dirty="0" smtClean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Industrial situation awareness system</a:t>
            </a:r>
          </a:p>
        </p:txBody>
      </p:sp>
      <p:pic>
        <p:nvPicPr>
          <p:cNvPr id="10" name="Picture 26">
            <a:extLst>
              <a:ext uri="{FF2B5EF4-FFF2-40B4-BE49-F238E27FC236}">
                <a16:creationId xmlns:a16="http://schemas.microsoft.com/office/drawing/2014/main" id="{9BD06C07-C570-1B87-46BB-85099E04BC5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056" y="388999"/>
            <a:ext cx="2195595" cy="63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1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.sv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sv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svg"/><Relationship Id="rId22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27.svg"/><Relationship Id="rId3" Type="http://schemas.openxmlformats.org/officeDocument/2006/relationships/image" Target="../media/image13.png"/><Relationship Id="rId7" Type="http://schemas.openxmlformats.org/officeDocument/2006/relationships/image" Target="../media/image38.png"/><Relationship Id="rId12" Type="http://schemas.openxmlformats.org/officeDocument/2006/relationships/image" Target="../media/image22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1.png"/><Relationship Id="rId5" Type="http://schemas.openxmlformats.org/officeDocument/2006/relationships/image" Target="../media/image37.png"/><Relationship Id="rId15" Type="http://schemas.openxmlformats.org/officeDocument/2006/relationships/image" Target="../media/image26.svg"/><Relationship Id="rId10" Type="http://schemas.openxmlformats.org/officeDocument/2006/relationships/image" Target="../media/image24.svg"/><Relationship Id="rId4" Type="http://schemas.openxmlformats.org/officeDocument/2006/relationships/image" Target="../media/image36.png"/><Relationship Id="rId9" Type="http://schemas.openxmlformats.org/officeDocument/2006/relationships/image" Target="../media/image23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4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4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3.jpeg"/><Relationship Id="rId1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jpeg"/><Relationship Id="rId5" Type="http://schemas.openxmlformats.org/officeDocument/2006/relationships/image" Target="../media/image44.jpeg"/><Relationship Id="rId10" Type="http://schemas.openxmlformats.org/officeDocument/2006/relationships/image" Target="../media/image56.sv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4.jpeg"/><Relationship Id="rId10" Type="http://schemas.openxmlformats.org/officeDocument/2006/relationships/image" Target="../media/image57.jpeg"/><Relationship Id="rId4" Type="http://schemas.openxmlformats.org/officeDocument/2006/relationships/image" Target="../media/image51.png"/><Relationship Id="rId9" Type="http://schemas.openxmlformats.org/officeDocument/2006/relationships/image" Target="../media/image5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microsoft.com/office/2007/relationships/hdphoto" Target="../media/hdphoto2.wdp"/><Relationship Id="rId7" Type="http://schemas.openxmlformats.org/officeDocument/2006/relationships/image" Target="../media/image63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png"/><Relationship Id="rId14" Type="http://schemas.openxmlformats.org/officeDocument/2006/relationships/image" Target="../media/image7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16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6.png"/><Relationship Id="rId3" Type="http://schemas.openxmlformats.org/officeDocument/2006/relationships/image" Target="../media/image67.svg"/><Relationship Id="rId7" Type="http://schemas.openxmlformats.org/officeDocument/2006/relationships/image" Target="../media/image68.png"/><Relationship Id="rId12" Type="http://schemas.openxmlformats.org/officeDocument/2006/relationships/image" Target="../media/image75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74.png"/><Relationship Id="rId5" Type="http://schemas.openxmlformats.org/officeDocument/2006/relationships/image" Target="../media/image16.png"/><Relationship Id="rId10" Type="http://schemas.openxmlformats.org/officeDocument/2006/relationships/image" Target="../media/image71.svg"/><Relationship Id="rId4" Type="http://schemas.openxmlformats.org/officeDocument/2006/relationships/image" Target="../media/image78.jpeg"/><Relationship Id="rId9" Type="http://schemas.openxmlformats.org/officeDocument/2006/relationships/image" Target="../media/image70.png"/><Relationship Id="rId14" Type="http://schemas.openxmlformats.org/officeDocument/2006/relationships/image" Target="../media/image7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63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EA87AD6-F42C-9A9A-832C-20904EC22EBC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Introduzione al problema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88DA29CB-63D6-D601-7867-DF2CF3ABC526}"/>
              </a:ext>
            </a:extLst>
          </p:cNvPr>
          <p:cNvSpPr txBox="1"/>
          <p:nvPr/>
        </p:nvSpPr>
        <p:spPr>
          <a:xfrm>
            <a:off x="304729" y="1052513"/>
            <a:ext cx="5761037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609570"/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La sicurezza dei lavoratori nei siti industriali è una priorità assoluta in qualsiasi contesto produttivo o operativo.</a:t>
            </a:r>
          </a:p>
          <a:p>
            <a:pPr defTabSz="609570"/>
            <a:endParaRPr lang="it-IT" sz="1600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r>
              <a:rPr lang="it-IT" sz="1600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Ogni anno, numerosi incidenti sul lavoro si verificano a causa di un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uso improprio o dell'assenza </a:t>
            </a:r>
            <a:r>
              <a:rPr lang="it-IT" sz="1600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dei </a:t>
            </a:r>
            <a:r>
              <a:rPr lang="it-IT" sz="1600" b="1">
                <a:solidFill>
                  <a:schemeClr val="accent2"/>
                </a:solidFill>
                <a:latin typeface="Roboto"/>
                <a:ea typeface="Calibri"/>
                <a:cs typeface="Times New Roman"/>
              </a:rPr>
              <a:t>Dispositivi di Protezione Individuale (DPI) </a:t>
            </a:r>
            <a:r>
              <a:rPr lang="it-IT" sz="1600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progettati per ridurre i rischi di infortuni e salvaguardare la vita e l’integrità fisica dei lavoratori.</a:t>
            </a:r>
          </a:p>
          <a:p>
            <a:pPr defTabSz="609570"/>
            <a:r>
              <a:rPr lang="it-IT" sz="1600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Nonostante i regolamenti e le procedure,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il controllo 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sull’uso corretto dei DPI risulta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spesso insufficiente e difficoltoso</a:t>
            </a:r>
            <a:r>
              <a:rPr lang="it-IT" sz="1600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, soprattutto in grandi strutture o in luoghi con un flusso costante di persone e attività.</a:t>
            </a:r>
          </a:p>
          <a:p>
            <a:pPr defTabSz="609570"/>
            <a:endParaRPr lang="it-IT" sz="1600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88F8CB-88D4-A42F-ABBE-A4F79484F106}"/>
              </a:ext>
            </a:extLst>
          </p:cNvPr>
          <p:cNvSpPr txBox="1"/>
          <p:nvPr/>
        </p:nvSpPr>
        <p:spPr>
          <a:xfrm>
            <a:off x="6959600" y="4473063"/>
            <a:ext cx="48448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09570"/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mezzi pesanti, come carrelli elevatori, gru e camion,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operano in aree dove spesso sono presenti lavoratori a piedi.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algn="r" defTabSz="609570"/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gestione e la supervisione dei movimenti di questi veicoli sono essenziali per evitare collisioni, schiacciamenti e altri incidenti. </a:t>
            </a: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57B768B5-FEA4-3C8B-6384-A0C68A9EEA87}"/>
              </a:ext>
            </a:extLst>
          </p:cNvPr>
          <p:cNvSpPr/>
          <p:nvPr/>
        </p:nvSpPr>
        <p:spPr>
          <a:xfrm>
            <a:off x="10013216" y="1073490"/>
            <a:ext cx="1791257" cy="1343443"/>
          </a:xfrm>
          <a:custGeom>
            <a:avLst/>
            <a:gdLst/>
            <a:ahLst/>
            <a:cxnLst/>
            <a:rect l="l" t="t" r="r" b="b"/>
            <a:pathLst>
              <a:path w="5305296" h="3978972">
                <a:moveTo>
                  <a:pt x="0" y="0"/>
                </a:moveTo>
                <a:lnTo>
                  <a:pt x="5305296" y="0"/>
                </a:lnTo>
                <a:lnTo>
                  <a:pt x="5305296" y="3978972"/>
                </a:lnTo>
                <a:lnTo>
                  <a:pt x="0" y="397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31750"/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E883DEB-1755-1DC8-082E-4B4302615705}"/>
              </a:ext>
            </a:extLst>
          </p:cNvPr>
          <p:cNvSpPr/>
          <p:nvPr/>
        </p:nvSpPr>
        <p:spPr>
          <a:xfrm>
            <a:off x="8851406" y="2245452"/>
            <a:ext cx="1634631" cy="1089073"/>
          </a:xfrm>
          <a:custGeom>
            <a:avLst/>
            <a:gdLst/>
            <a:ahLst/>
            <a:cxnLst/>
            <a:rect l="l" t="t" r="r" b="b"/>
            <a:pathLst>
              <a:path w="5820601" h="3877975">
                <a:moveTo>
                  <a:pt x="0" y="0"/>
                </a:moveTo>
                <a:lnTo>
                  <a:pt x="5820601" y="0"/>
                </a:lnTo>
                <a:lnTo>
                  <a:pt x="5820601" y="3877975"/>
                </a:lnTo>
                <a:lnTo>
                  <a:pt x="0" y="3877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02E9CA6F-F64B-CD79-EDAA-53EAFD1BC71B}"/>
              </a:ext>
            </a:extLst>
          </p:cNvPr>
          <p:cNvSpPr/>
          <p:nvPr/>
        </p:nvSpPr>
        <p:spPr>
          <a:xfrm>
            <a:off x="6321980" y="1173590"/>
            <a:ext cx="1942348" cy="2151358"/>
          </a:xfrm>
          <a:custGeom>
            <a:avLst/>
            <a:gdLst/>
            <a:ahLst/>
            <a:cxnLst/>
            <a:rect l="l" t="t" r="r" b="b"/>
            <a:pathLst>
              <a:path w="7519797" h="8229600">
                <a:moveTo>
                  <a:pt x="0" y="0"/>
                </a:moveTo>
                <a:lnTo>
                  <a:pt x="7519797" y="0"/>
                </a:lnTo>
                <a:lnTo>
                  <a:pt x="75197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1E027B-E779-8D39-3B60-DC1D549A78B0}"/>
              </a:ext>
            </a:extLst>
          </p:cNvPr>
          <p:cNvSpPr txBox="1"/>
          <p:nvPr/>
        </p:nvSpPr>
        <p:spPr>
          <a:xfrm>
            <a:off x="6415538" y="3746565"/>
            <a:ext cx="5388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Un altro tema importante: </a:t>
            </a:r>
            <a:r>
              <a:rPr lang="it-IT" b="1">
                <a:solidFill>
                  <a:schemeClr val="accent2"/>
                </a:solidFill>
                <a:latin typeface="Roboto"/>
                <a:ea typeface="Calibri"/>
                <a:cs typeface="Times New Roman"/>
              </a:rPr>
              <a:t>il controllo dei mezzi pesanti negli ambienti industriali  </a:t>
            </a:r>
            <a:endParaRPr lang="it-IT" b="1">
              <a:solidFill>
                <a:schemeClr val="accent2"/>
              </a:solidFill>
            </a:endParaRPr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2CAF8265-C7EC-18A1-F1B7-D7E97A848C04}"/>
              </a:ext>
            </a:extLst>
          </p:cNvPr>
          <p:cNvSpPr/>
          <p:nvPr/>
        </p:nvSpPr>
        <p:spPr>
          <a:xfrm>
            <a:off x="372966" y="4342288"/>
            <a:ext cx="2710627" cy="1805955"/>
          </a:xfrm>
          <a:custGeom>
            <a:avLst/>
            <a:gdLst/>
            <a:ahLst/>
            <a:cxnLst/>
            <a:rect l="l" t="t" r="r" b="b"/>
            <a:pathLst>
              <a:path w="12352120" h="822960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BC4E5930-CF00-3071-656F-A00215698A01}"/>
              </a:ext>
            </a:extLst>
          </p:cNvPr>
          <p:cNvSpPr/>
          <p:nvPr/>
        </p:nvSpPr>
        <p:spPr>
          <a:xfrm>
            <a:off x="3223347" y="4342289"/>
            <a:ext cx="2855265" cy="1805955"/>
          </a:xfrm>
          <a:custGeom>
            <a:avLst/>
            <a:gdLst/>
            <a:ahLst/>
            <a:cxnLst/>
            <a:rect l="l" t="t" r="r" b="b"/>
            <a:pathLst>
              <a:path w="9999405" h="6324624">
                <a:moveTo>
                  <a:pt x="0" y="0"/>
                </a:moveTo>
                <a:lnTo>
                  <a:pt x="9999405" y="0"/>
                </a:lnTo>
                <a:lnTo>
                  <a:pt x="9999405" y="6324624"/>
                </a:lnTo>
                <a:lnTo>
                  <a:pt x="0" y="6324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932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5B71-3502-3C14-94CC-4A83B250F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9449" y="1052513"/>
            <a:ext cx="4827588" cy="1749266"/>
          </a:xfrm>
        </p:spPr>
        <p:txBody>
          <a:bodyPr/>
          <a:lstStyle/>
          <a:p>
            <a:pPr marL="0" indent="0" algn="r">
              <a:buNone/>
            </a:pPr>
            <a:r>
              <a:rPr lang="it-IT" sz="18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Collaborando con </a:t>
            </a:r>
            <a:r>
              <a:rPr lang="it-IT" sz="18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Self Garden </a:t>
            </a:r>
            <a:r>
              <a:rPr lang="it-IT" sz="18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abbiamo elaborato un caso d’uso per applicare una </a:t>
            </a:r>
            <a:r>
              <a:rPr lang="it-IT" sz="1800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soluzione innovativa </a:t>
            </a:r>
            <a:r>
              <a:rPr lang="it-IT" sz="18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 possa far fronte alle problematiche sulla sicurezza e salvaguardare l’incolumità dei lavoratori presso l’azienda in esame.</a:t>
            </a:r>
          </a:p>
          <a:p>
            <a:pPr marL="0" indent="0" algn="r">
              <a:buNone/>
            </a:pPr>
            <a:endParaRPr lang="it-IT" sz="180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C642584C-87CA-9008-8126-36F1A4781F14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Il caso : self garden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8" name="Picture 7" descr="A green building with a large pipe&#10;&#10;Description automatically generated">
            <a:extLst>
              <a:ext uri="{FF2B5EF4-FFF2-40B4-BE49-F238E27FC236}">
                <a16:creationId xmlns:a16="http://schemas.microsoft.com/office/drawing/2014/main" id="{3B773E49-3191-9E48-40DB-2D8DF86A9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052512"/>
            <a:ext cx="5788658" cy="217074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A0DE2E-7882-B52E-3B19-6C05EE060C52}"/>
              </a:ext>
            </a:extLst>
          </p:cNvPr>
          <p:cNvSpPr txBox="1"/>
          <p:nvPr/>
        </p:nvSpPr>
        <p:spPr>
          <a:xfrm>
            <a:off x="334963" y="3470038"/>
            <a:ext cx="57610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Self Garden, dal 1994 è un’azienda leader nella produzione e commercializzazione di terricci fertilizzanti per piante e giardini</a:t>
            </a:r>
            <a:endParaRPr lang="it-IT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339D77-E1E1-AF50-CF1D-61EB6CFCD441}"/>
              </a:ext>
            </a:extLst>
          </p:cNvPr>
          <p:cNvSpPr txBox="1"/>
          <p:nvPr/>
        </p:nvSpPr>
        <p:spPr>
          <a:xfrm>
            <a:off x="334963" y="4393368"/>
            <a:ext cx="53375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L'azienda segue strategia di continuo miglioramento dei servizi e dei prodotti, con un focus su sistemi avanzati di mercato. Possiede in un impianto di compostaggio all'avanguardia, con una capacità di 50.000 tonnellate annue, per trattare rifiuti solidi urbani e agroindustriali e produrre compost di alta qualità.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9DF609-007F-D14D-FD12-CA0DDD1B98EC}"/>
              </a:ext>
            </a:extLst>
          </p:cNvPr>
          <p:cNvSpPr txBox="1"/>
          <p:nvPr/>
        </p:nvSpPr>
        <p:spPr>
          <a:xfrm>
            <a:off x="6355080" y="2795826"/>
            <a:ext cx="55019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particolare, </a:t>
            </a:r>
          </a:p>
          <a:p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tematiche riscontrate sono state:</a:t>
            </a:r>
          </a:p>
          <a:p>
            <a:pPr marL="0" indent="0" algn="r">
              <a:buNone/>
            </a:pPr>
            <a:endParaRPr lang="it-IT" b="1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Viabilità pericolosa</a:t>
            </a:r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dovuta al passaggio di mezzi pesanti e presenza di punti ciechi e spazi relativamente stretti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Zone ad alto rischio d’infortunio</a:t>
            </a:r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come ad esempio sito di conservazione di acidi altamente corrosivi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Gestione e registrazione degli accessi allo stabilimento</a:t>
            </a:r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it-IT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c’è l’esigenza di tracciare in maniera più agevole e organizzata gli accessi dei fornitori e dei trasportatori</a:t>
            </a:r>
          </a:p>
        </p:txBody>
      </p:sp>
    </p:spTree>
    <p:extLst>
      <p:ext uri="{BB962C8B-B14F-4D97-AF65-F5344CB8AC3E}">
        <p14:creationId xmlns:p14="http://schemas.microsoft.com/office/powerpoint/2010/main" val="351813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6">
            <a:extLst>
              <a:ext uri="{FF2B5EF4-FFF2-40B4-BE49-F238E27FC236}">
                <a16:creationId xmlns:a16="http://schemas.microsoft.com/office/drawing/2014/main" id="{88DA29CB-63D6-D601-7867-DF2CF3ABC526}"/>
              </a:ext>
            </a:extLst>
          </p:cNvPr>
          <p:cNvSpPr txBox="1"/>
          <p:nvPr/>
        </p:nvSpPr>
        <p:spPr>
          <a:xfrm>
            <a:off x="346439" y="1405415"/>
            <a:ext cx="5046043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609570"/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Una soluzione di monitoraggio </a:t>
            </a:r>
            <a:r>
              <a:rPr lang="it-IT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basata su:</a:t>
            </a:r>
          </a:p>
          <a:p>
            <a:pPr defTabSz="609570"/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6C40C-4895-885E-4C62-AAD8A6194222}"/>
              </a:ext>
            </a:extLst>
          </p:cNvPr>
          <p:cNvSpPr txBox="1"/>
          <p:nvPr/>
        </p:nvSpPr>
        <p:spPr>
          <a:xfrm>
            <a:off x="346439" y="1862698"/>
            <a:ext cx="4456093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defTabSz="609570">
              <a:buFont typeface="Arial" panose="020B0604020202020204" pitchFamily="34" charset="0"/>
              <a:buChar char="•"/>
            </a:pPr>
            <a:r>
              <a:rPr lang="it-IT" sz="1500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Ricostruzione virtuale del sito industriale</a:t>
            </a:r>
          </a:p>
          <a:p>
            <a:pPr defTabSz="609570"/>
            <a:endParaRPr lang="it-IT" sz="1500">
              <a:solidFill>
                <a:schemeClr val="bg2">
                  <a:lumMod val="50000"/>
                </a:schemeClr>
              </a:solidFill>
              <a:latin typeface="Roboto"/>
              <a:ea typeface="Calibri"/>
              <a:cs typeface="Times New Roman"/>
            </a:endParaRPr>
          </a:p>
          <a:p>
            <a:pPr marL="285750" indent="-285750" defTabSz="609570">
              <a:buFont typeface="Arial" panose="020B0604020202020204" pitchFamily="34" charset="0"/>
              <a:buChar char="•"/>
            </a:pPr>
            <a:r>
              <a:rPr lang="it-IT" sz="1500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Creazione della rete di monitoraggio </a:t>
            </a:r>
          </a:p>
          <a:p>
            <a:pPr defTabSz="609570"/>
            <a:endParaRPr lang="it-IT" sz="1500">
              <a:solidFill>
                <a:schemeClr val="bg2">
                  <a:lumMod val="50000"/>
                </a:schemeClr>
              </a:solidFill>
              <a:latin typeface="Roboto"/>
              <a:ea typeface="Calibri"/>
              <a:cs typeface="Times New Roman"/>
            </a:endParaRPr>
          </a:p>
          <a:p>
            <a:pPr marL="285750" indent="-285750" defTabSz="609570">
              <a:buFont typeface="Arial" panose="020B0604020202020204" pitchFamily="34" charset="0"/>
              <a:buChar char="•"/>
            </a:pPr>
            <a:r>
              <a:rPr lang="it-IT" sz="150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Analisi del flusso video in tempo reale</a:t>
            </a:r>
            <a:r>
              <a:rPr lang="it-IT" sz="1500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 tramite Computer Vision e Artificial Intelligence </a:t>
            </a:r>
          </a:p>
          <a:p>
            <a:endParaRPr lang="it-IT" sz="15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EA87AD6-F42C-9A9A-832C-20904EC22EBC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Introduzione al problema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CasellaDiTesto 6">
            <a:extLst>
              <a:ext uri="{FF2B5EF4-FFF2-40B4-BE49-F238E27FC236}">
                <a16:creationId xmlns:a16="http://schemas.microsoft.com/office/drawing/2014/main" id="{58124B71-1C36-6124-3732-EB59424DA83A}"/>
              </a:ext>
            </a:extLst>
          </p:cNvPr>
          <p:cNvSpPr txBox="1"/>
          <p:nvPr/>
        </p:nvSpPr>
        <p:spPr>
          <a:xfrm>
            <a:off x="388916" y="1137958"/>
            <a:ext cx="739999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609570"/>
            <a:endParaRPr lang="it-IT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66F4B3-D1E0-AB2F-4215-482EABBFDFC7}"/>
              </a:ext>
            </a:extLst>
          </p:cNvPr>
          <p:cNvSpPr txBox="1"/>
          <p:nvPr/>
        </p:nvSpPr>
        <p:spPr>
          <a:xfrm>
            <a:off x="334963" y="1070331"/>
            <a:ext cx="4795526" cy="369332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38000">
                <a:srgbClr val="FCD89E"/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609570"/>
            <a:r>
              <a:rPr lang="it-IT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È in questo contesto che nasce </a:t>
            </a:r>
            <a:r>
              <a:rPr lang="it-IT" b="1">
                <a:solidFill>
                  <a:schemeClr val="accent2"/>
                </a:solidFill>
                <a:latin typeface="Roboto"/>
                <a:ea typeface="Calibri"/>
                <a:cs typeface="Times New Roman"/>
              </a:rPr>
              <a:t>VisionGuard</a:t>
            </a:r>
            <a:endParaRPr lang="it-IT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0C38B-E38A-D6C0-F781-7F265894C90E}"/>
              </a:ext>
            </a:extLst>
          </p:cNvPr>
          <p:cNvSpPr txBox="1"/>
          <p:nvPr/>
        </p:nvSpPr>
        <p:spPr>
          <a:xfrm>
            <a:off x="334963" y="3582323"/>
            <a:ext cx="511070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70"/>
            <a:r>
              <a:rPr lang="it-IT" sz="1600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VisionGuard è progettato per sorvegliare in tempo reale su due fronti:</a:t>
            </a:r>
          </a:p>
          <a:p>
            <a:pPr defTabSz="609570"/>
            <a:r>
              <a:rPr lang="it-IT" sz="1600" b="1">
                <a:solidFill>
                  <a:schemeClr val="accent2"/>
                </a:solidFill>
                <a:latin typeface="Roboto"/>
                <a:ea typeface="Calibri"/>
                <a:cs typeface="Times New Roman"/>
              </a:rPr>
              <a:t>l'uso dei DPI e il controllo dei mezzi pesanti</a:t>
            </a:r>
          </a:p>
          <a:p>
            <a:pPr defTabSz="609570"/>
            <a:r>
              <a:rPr lang="it-IT" sz="1600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all'interno di siti industriali,</a:t>
            </a:r>
            <a:endParaRPr lang="it-IT" sz="1600" b="1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r>
              <a:rPr lang="it-IT" sz="1600" b="1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Assicurando che la sicurezza non sia mai compromessa</a:t>
            </a:r>
            <a:endParaRPr lang="it-IT" sz="1600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endParaRPr lang="it-IT" sz="1600">
              <a:solidFill>
                <a:srgbClr val="808080"/>
              </a:solidFill>
              <a:latin typeface="Roboto"/>
              <a:ea typeface="Calibri"/>
              <a:cs typeface="Times New Roman"/>
            </a:endParaRPr>
          </a:p>
          <a:p>
            <a:pPr defTabSz="609570"/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Di fatto la creazione di un vero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Digital Twin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/>
                <a:ea typeface="Calibri"/>
                <a:cs typeface="Times New Roman"/>
              </a:rPr>
              <a:t> del sito industriale, creato per monitorare dinamicamente le aree ad alto rischio</a:t>
            </a:r>
          </a:p>
        </p:txBody>
      </p:sp>
      <p:pic>
        <p:nvPicPr>
          <p:cNvPr id="12" name="Picture 11" descr="A logo of a eye with a circuit board&#10;&#10;Description automatically generated">
            <a:extLst>
              <a:ext uri="{FF2B5EF4-FFF2-40B4-BE49-F238E27FC236}">
                <a16:creationId xmlns:a16="http://schemas.microsoft.com/office/drawing/2014/main" id="{F3D06013-9A53-20FD-BBEC-99000288A7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676" b="73828" l="21973" r="78125">
                        <a14:foregroundMark x1="39648" y1="27539" x2="39648" y2="27539"/>
                        <a14:foregroundMark x1="33887" y1="27344" x2="33887" y2="27344"/>
                        <a14:foregroundMark x1="32910" y1="32324" x2="32910" y2="32324"/>
                        <a14:foregroundMark x1="36719" y1="23145" x2="36719" y2="23145"/>
                        <a14:foregroundMark x1="42676" y1="19727" x2="42676" y2="19727"/>
                        <a14:foregroundMark x1="50000" y1="17676" x2="50000" y2="17676"/>
                        <a14:foregroundMark x1="75391" y1="35742" x2="75391" y2="35742"/>
                        <a14:foregroundMark x1="78125" y1="40137" x2="78125" y2="40137"/>
                        <a14:foregroundMark x1="77832" y1="51563" x2="77832" y2="51563"/>
                        <a14:foregroundMark x1="77832" y1="51563" x2="77832" y2="51563"/>
                        <a14:foregroundMark x1="55273" y1="54102" x2="55273" y2="54102"/>
                        <a14:foregroundMark x1="28711" y1="51270" x2="28711" y2="51270"/>
                        <a14:foregroundMark x1="22949" y1="40723" x2="22949" y2="40723"/>
                        <a14:foregroundMark x1="22461" y1="50977" x2="22461" y2="50977"/>
                        <a14:foregroundMark x1="22266" y1="45020" x2="22266" y2="45020"/>
                        <a14:foregroundMark x1="22461" y1="42188" x2="22461" y2="42188"/>
                        <a14:foregroundMark x1="22070" y1="41211" x2="22070" y2="41211"/>
                        <a14:foregroundMark x1="72266" y1="62988" x2="72266" y2="62988"/>
                        <a14:foregroundMark x1="59570" y1="65430" x2="59570" y2="65430"/>
                        <a14:foregroundMark x1="53906" y1="63672" x2="53906" y2="63672"/>
                        <a14:foregroundMark x1="56738" y1="65625" x2="56738" y2="65625"/>
                        <a14:foregroundMark x1="50195" y1="64746" x2="50195" y2="64746"/>
                        <a14:foregroundMark x1="47070" y1="66113" x2="47070" y2="66113"/>
                        <a14:foregroundMark x1="43750" y1="67871" x2="43750" y2="67871"/>
                        <a14:foregroundMark x1="40723" y1="66406" x2="40723" y2="66406"/>
                        <a14:foregroundMark x1="44043" y1="70898" x2="44043" y2="70898"/>
                        <a14:foregroundMark x1="47070" y1="72363" x2="47070" y2="72363"/>
                        <a14:foregroundMark x1="56738" y1="73828" x2="56738" y2="738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418" t="15163" r="18623" b="22208"/>
          <a:stretch/>
        </p:blipFill>
        <p:spPr>
          <a:xfrm>
            <a:off x="4590754" y="1672317"/>
            <a:ext cx="1505246" cy="1497365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16" name="CasellaDiTesto 6">
            <a:extLst>
              <a:ext uri="{FF2B5EF4-FFF2-40B4-BE49-F238E27FC236}">
                <a16:creationId xmlns:a16="http://schemas.microsoft.com/office/drawing/2014/main" id="{EAAF8289-7F30-0EB7-74A7-4B063B85AC45}"/>
              </a:ext>
            </a:extLst>
          </p:cNvPr>
          <p:cNvSpPr txBox="1"/>
          <p:nvPr/>
        </p:nvSpPr>
        <p:spPr>
          <a:xfrm>
            <a:off x="6096001" y="1075045"/>
            <a:ext cx="576103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609570"/>
            <a:r>
              <a:rPr lang="it-IT" sz="1600" b="1">
                <a:solidFill>
                  <a:srgbClr val="808080"/>
                </a:solidFill>
                <a:latin typeface="Roboto"/>
                <a:ea typeface="Calibri"/>
                <a:cs typeface="Times New Roman"/>
              </a:rPr>
              <a:t>Le fasi del progetto si suddividono come segue: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66B687-1C0F-7A55-DBA0-5667EA154BB8}"/>
              </a:ext>
            </a:extLst>
          </p:cNvPr>
          <p:cNvGrpSpPr/>
          <p:nvPr/>
        </p:nvGrpSpPr>
        <p:grpSpPr>
          <a:xfrm>
            <a:off x="6180773" y="1467775"/>
            <a:ext cx="5740926" cy="5001215"/>
            <a:chOff x="6180773" y="1467775"/>
            <a:chExt cx="5740926" cy="500121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0FBFFA-8C52-ADE3-95E3-2FCBA3358F8F}"/>
                </a:ext>
              </a:extLst>
            </p:cNvPr>
            <p:cNvSpPr txBox="1"/>
            <p:nvPr/>
          </p:nvSpPr>
          <p:spPr>
            <a:xfrm>
              <a:off x="6180773" y="1467775"/>
              <a:ext cx="563651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defTabSz="609570">
                <a:buFont typeface="+mj-lt"/>
                <a:buAutoNum type="arabicPeriod"/>
              </a:pPr>
              <a:r>
                <a:rPr lang="it-IT" sz="1600">
                  <a:solidFill>
                    <a:schemeClr val="accent2"/>
                  </a:solidFill>
                  <a:latin typeface="Roboto"/>
                  <a:ea typeface="Calibri"/>
                  <a:cs typeface="Times New Roman"/>
                </a:rPr>
                <a:t>Raccolta e Analisi dei requisiti funzionali e non funzionali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13C5F8-B160-859D-870C-DDA50BD1AE0D}"/>
                </a:ext>
              </a:extLst>
            </p:cNvPr>
            <p:cNvSpPr txBox="1"/>
            <p:nvPr/>
          </p:nvSpPr>
          <p:spPr>
            <a:xfrm>
              <a:off x="6180773" y="2090620"/>
              <a:ext cx="567626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defTabSz="609570">
                <a:buFont typeface="+mj-lt"/>
                <a:buAutoNum type="arabicPeriod" startAt="2"/>
              </a:pPr>
              <a:r>
                <a:rPr lang="it-IT" sz="1600">
                  <a:solidFill>
                    <a:schemeClr val="accent2"/>
                  </a:solidFill>
                  <a:latin typeface="Roboto"/>
                  <a:ea typeface="Calibri"/>
                  <a:cs typeface="Times New Roman"/>
                </a:rPr>
                <a:t>Realizzazione del modello 3D del sito industriale tramite tecniche di rilevazione fotogrammetriche/Lidar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AD51BF-1BC7-C3FE-FBBE-DFD5026ED199}"/>
                </a:ext>
              </a:extLst>
            </p:cNvPr>
            <p:cNvSpPr txBox="1"/>
            <p:nvPr/>
          </p:nvSpPr>
          <p:spPr>
            <a:xfrm>
              <a:off x="6180773" y="3490199"/>
              <a:ext cx="56762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defTabSz="609570">
                <a:buFont typeface="+mj-lt"/>
                <a:buAutoNum type="arabicPeriod" startAt="3"/>
              </a:pPr>
              <a:r>
                <a:rPr lang="it-IT" sz="1600">
                  <a:solidFill>
                    <a:schemeClr val="accent2"/>
                  </a:solidFill>
                  <a:latin typeface="Roboto"/>
                  <a:ea typeface="Calibri"/>
                  <a:cs typeface="Times New Roman"/>
                </a:rPr>
                <a:t>Installazione e Calibrazione Telecamere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A190EE-5833-99DA-ACEA-FEE60AEA1EB7}"/>
                </a:ext>
              </a:extLst>
            </p:cNvPr>
            <p:cNvSpPr txBox="1"/>
            <p:nvPr/>
          </p:nvSpPr>
          <p:spPr>
            <a:xfrm>
              <a:off x="6180773" y="5074444"/>
              <a:ext cx="56762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defTabSz="609570">
                <a:buFont typeface="+mj-lt"/>
                <a:buAutoNum type="arabicPeriod" startAt="4"/>
              </a:pPr>
              <a:r>
                <a:rPr lang="it-IT" sz="1600">
                  <a:solidFill>
                    <a:schemeClr val="accent2"/>
                  </a:solidFill>
                  <a:latin typeface="Roboto"/>
                  <a:ea typeface="Calibri"/>
                  <a:cs typeface="Times New Roman"/>
                </a:rPr>
                <a:t>Impiego di algoritmi di Computer Vision e Artificial Intelligence per il monitoraggio delle aree di lavoro in tempo reale: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0C9D3B-C8C3-E131-EA2E-0311C07E8369}"/>
                </a:ext>
              </a:extLst>
            </p:cNvPr>
            <p:cNvSpPr txBox="1"/>
            <p:nvPr/>
          </p:nvSpPr>
          <p:spPr>
            <a:xfrm>
              <a:off x="6859052" y="2713465"/>
              <a:ext cx="446807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defTabSz="609570">
                <a:buFont typeface="Arial" panose="020B0604020202020204" pitchFamily="34" charset="0"/>
                <a:buChar char="•"/>
              </a:pPr>
              <a:r>
                <a:rPr lang="it-IT" sz="1400">
                  <a:solidFill>
                    <a:srgbClr val="808080"/>
                  </a:solidFill>
                  <a:latin typeface="Roboto"/>
                  <a:ea typeface="Calibri"/>
                  <a:cs typeface="Times New Roman"/>
                </a:rPr>
                <a:t>Rilievo</a:t>
              </a:r>
            </a:p>
            <a:p>
              <a:pPr marL="285750" indent="-285750" defTabSz="609570">
                <a:buFont typeface="Arial" panose="020B0604020202020204" pitchFamily="34" charset="0"/>
                <a:buChar char="•"/>
              </a:pPr>
              <a:r>
                <a:rPr lang="it-IT" sz="1400">
                  <a:solidFill>
                    <a:srgbClr val="808080"/>
                  </a:solidFill>
                  <a:latin typeface="Roboto"/>
                  <a:ea typeface="Calibri"/>
                  <a:cs typeface="Times New Roman"/>
                </a:rPr>
                <a:t>Creazione modello 3D</a:t>
              </a:r>
            </a:p>
            <a:p>
              <a:pPr marL="285750" indent="-285750" defTabSz="609570">
                <a:buFont typeface="Arial" panose="020B0604020202020204" pitchFamily="34" charset="0"/>
                <a:buChar char="•"/>
              </a:pPr>
              <a:r>
                <a:rPr lang="it-IT" sz="1400">
                  <a:solidFill>
                    <a:srgbClr val="808080"/>
                  </a:solidFill>
                  <a:latin typeface="Roboto"/>
                  <a:ea typeface="Calibri"/>
                  <a:cs typeface="Times New Roman"/>
                </a:rPr>
                <a:t>Suddivisione/Segmentazione dell’area industriale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DA3EAB-9381-A812-693E-08A92F0C544C}"/>
                </a:ext>
              </a:extLst>
            </p:cNvPr>
            <p:cNvSpPr txBox="1"/>
            <p:nvPr/>
          </p:nvSpPr>
          <p:spPr>
            <a:xfrm>
              <a:off x="6859052" y="3866823"/>
              <a:ext cx="5062647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1400">
                  <a:solidFill>
                    <a:srgbClr val="808080"/>
                  </a:solidFill>
                  <a:latin typeface="Roboto"/>
                  <a:ea typeface="Calibri"/>
                  <a:cs typeface="Times New Roman"/>
                </a:rPr>
                <a:t>L’installazione non è necessaria nel caso le telecamere siano già presenti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1400">
                  <a:solidFill>
                    <a:srgbClr val="808080"/>
                  </a:solidFill>
                  <a:latin typeface="Roboto"/>
                  <a:ea typeface="Calibri"/>
                  <a:cs typeface="Times New Roman"/>
                </a:rPr>
                <a:t>Calibrazione del campo visivo (riferimento dei punti 2D delle immagini con il modello 3D del sito creato tramite la rilevazione)</a:t>
              </a:r>
              <a:endParaRPr lang="it-IT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F7EEF7-F3AB-B8C3-00A1-1CC0EB4FFF78}"/>
                </a:ext>
              </a:extLst>
            </p:cNvPr>
            <p:cNvSpPr txBox="1"/>
            <p:nvPr/>
          </p:nvSpPr>
          <p:spPr>
            <a:xfrm>
              <a:off x="6859052" y="5943508"/>
              <a:ext cx="4905257" cy="5254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defTabSz="609570">
                <a:buFont typeface="Arial" panose="020B0604020202020204" pitchFamily="34" charset="0"/>
                <a:buChar char="•"/>
              </a:pPr>
              <a:r>
                <a:rPr lang="it-IT" sz="1400">
                  <a:solidFill>
                    <a:srgbClr val="808080"/>
                  </a:solidFill>
                  <a:latin typeface="Roboto"/>
                  <a:ea typeface="Calibri"/>
                  <a:cs typeface="Times New Roman"/>
                </a:rPr>
                <a:t>Rete neurale </a:t>
              </a:r>
              <a:r>
                <a:rPr lang="it-IT" sz="1400">
                  <a:solidFill>
                    <a:schemeClr val="bg2">
                      <a:lumMod val="50000"/>
                    </a:schemeClr>
                  </a:solidFill>
                  <a:latin typeface="Roboto"/>
                  <a:ea typeface="Calibri"/>
                  <a:cs typeface="Times New Roman"/>
                </a:rPr>
                <a:t>convoluzionale</a:t>
              </a:r>
              <a:r>
                <a:rPr lang="it-IT" sz="1400">
                  <a:solidFill>
                    <a:srgbClr val="808080"/>
                  </a:solidFill>
                  <a:latin typeface="Roboto"/>
                  <a:ea typeface="Calibri"/>
                  <a:cs typeface="Times New Roman"/>
                </a:rPr>
                <a:t> per rilevamento di persone e veicoli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69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31754D19-B413-8C6A-39EB-7C23354DC6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63"/>
          <a:stretch/>
        </p:blipFill>
        <p:spPr>
          <a:xfrm>
            <a:off x="0" y="943784"/>
            <a:ext cx="12192000" cy="5931351"/>
          </a:xfrm>
          <a:prstGeom prst="rect">
            <a:avLst/>
          </a:prstGeom>
        </p:spPr>
      </p:pic>
      <p:sp>
        <p:nvSpPr>
          <p:cNvPr id="73" name="AutoShape 2">
            <a:extLst>
              <a:ext uri="{FF2B5EF4-FFF2-40B4-BE49-F238E27FC236}">
                <a16:creationId xmlns:a16="http://schemas.microsoft.com/office/drawing/2014/main" id="{8302237A-152D-1B42-12DF-1CF6F1B07020}"/>
              </a:ext>
            </a:extLst>
          </p:cNvPr>
          <p:cNvSpPr/>
          <p:nvPr/>
        </p:nvSpPr>
        <p:spPr>
          <a:xfrm rot="-2397004" flipV="1">
            <a:off x="2028033" y="2279136"/>
            <a:ext cx="1660091" cy="412410"/>
          </a:xfrm>
          <a:prstGeom prst="line">
            <a:avLst/>
          </a:prstGeom>
          <a:ln w="4762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6" name="AutoShape 2">
            <a:extLst>
              <a:ext uri="{FF2B5EF4-FFF2-40B4-BE49-F238E27FC236}">
                <a16:creationId xmlns:a16="http://schemas.microsoft.com/office/drawing/2014/main" id="{221747E5-7B48-D5EE-85AB-C96F99FE7D68}"/>
              </a:ext>
            </a:extLst>
          </p:cNvPr>
          <p:cNvSpPr/>
          <p:nvPr/>
        </p:nvSpPr>
        <p:spPr>
          <a:xfrm rot="-2397004">
            <a:off x="2378006" y="3117445"/>
            <a:ext cx="808564" cy="657380"/>
          </a:xfrm>
          <a:prstGeom prst="line">
            <a:avLst/>
          </a:prstGeom>
          <a:ln w="4762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7" name="AutoShape 2">
            <a:extLst>
              <a:ext uri="{FF2B5EF4-FFF2-40B4-BE49-F238E27FC236}">
                <a16:creationId xmlns:a16="http://schemas.microsoft.com/office/drawing/2014/main" id="{1ADE8414-6C17-E1B6-9B2F-F30490FF534A}"/>
              </a:ext>
            </a:extLst>
          </p:cNvPr>
          <p:cNvSpPr/>
          <p:nvPr/>
        </p:nvSpPr>
        <p:spPr>
          <a:xfrm rot="-2397004" flipH="1">
            <a:off x="2637941" y="3532903"/>
            <a:ext cx="278915" cy="1970910"/>
          </a:xfrm>
          <a:prstGeom prst="line">
            <a:avLst/>
          </a:prstGeom>
          <a:ln w="4762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8" name="AutoShape 2">
            <a:extLst>
              <a:ext uri="{FF2B5EF4-FFF2-40B4-BE49-F238E27FC236}">
                <a16:creationId xmlns:a16="http://schemas.microsoft.com/office/drawing/2014/main" id="{F12FECC4-F4C5-1C25-7D91-37D8922DF26A}"/>
              </a:ext>
            </a:extLst>
          </p:cNvPr>
          <p:cNvSpPr/>
          <p:nvPr/>
        </p:nvSpPr>
        <p:spPr>
          <a:xfrm rot="-2397004">
            <a:off x="6071778" y="2534395"/>
            <a:ext cx="2624568" cy="878526"/>
          </a:xfrm>
          <a:prstGeom prst="line">
            <a:avLst/>
          </a:prstGeom>
          <a:ln w="4762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9" name="AutoShape 2">
            <a:extLst>
              <a:ext uri="{FF2B5EF4-FFF2-40B4-BE49-F238E27FC236}">
                <a16:creationId xmlns:a16="http://schemas.microsoft.com/office/drawing/2014/main" id="{E0781CE6-B195-340A-8CDC-F5ECF086CF4C}"/>
              </a:ext>
            </a:extLst>
          </p:cNvPr>
          <p:cNvSpPr/>
          <p:nvPr/>
        </p:nvSpPr>
        <p:spPr>
          <a:xfrm rot="-2397004">
            <a:off x="6740966" y="967774"/>
            <a:ext cx="1421630" cy="2039037"/>
          </a:xfrm>
          <a:prstGeom prst="line">
            <a:avLst/>
          </a:prstGeom>
          <a:ln w="4762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0" name="AutoShape 2">
            <a:extLst>
              <a:ext uri="{FF2B5EF4-FFF2-40B4-BE49-F238E27FC236}">
                <a16:creationId xmlns:a16="http://schemas.microsoft.com/office/drawing/2014/main" id="{287E64E5-17F3-8FBC-920E-0DD63D44C561}"/>
              </a:ext>
            </a:extLst>
          </p:cNvPr>
          <p:cNvSpPr/>
          <p:nvPr/>
        </p:nvSpPr>
        <p:spPr>
          <a:xfrm rot="-2397004">
            <a:off x="6562318" y="2809701"/>
            <a:ext cx="1948287" cy="1685913"/>
          </a:xfrm>
          <a:prstGeom prst="line">
            <a:avLst/>
          </a:prstGeom>
          <a:ln w="4762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1" name="AutoShape 2">
            <a:extLst>
              <a:ext uri="{FF2B5EF4-FFF2-40B4-BE49-F238E27FC236}">
                <a16:creationId xmlns:a16="http://schemas.microsoft.com/office/drawing/2014/main" id="{E247DE48-7576-1AFB-6BBF-030C7E6FFCD0}"/>
              </a:ext>
            </a:extLst>
          </p:cNvPr>
          <p:cNvSpPr/>
          <p:nvPr/>
        </p:nvSpPr>
        <p:spPr>
          <a:xfrm rot="-2397004">
            <a:off x="6947481" y="3168440"/>
            <a:ext cx="852385" cy="2961917"/>
          </a:xfrm>
          <a:prstGeom prst="line">
            <a:avLst/>
          </a:prstGeom>
          <a:ln w="47625" cap="rnd">
            <a:solidFill>
              <a:schemeClr val="accent2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06027D2-4A07-E1A0-4FAF-D5DAF1DE610C}"/>
              </a:ext>
            </a:extLst>
          </p:cNvPr>
          <p:cNvSpPr/>
          <p:nvPr/>
        </p:nvSpPr>
        <p:spPr>
          <a:xfrm>
            <a:off x="1498865" y="1052513"/>
            <a:ext cx="2399133" cy="5329237"/>
          </a:xfrm>
          <a:custGeom>
            <a:avLst/>
            <a:gdLst>
              <a:gd name="connsiteX0" fmla="*/ 0 w 1597209"/>
              <a:gd name="connsiteY0" fmla="*/ 159721 h 5329237"/>
              <a:gd name="connsiteX1" fmla="*/ 159721 w 1597209"/>
              <a:gd name="connsiteY1" fmla="*/ 0 h 5329237"/>
              <a:gd name="connsiteX2" fmla="*/ 1437488 w 1597209"/>
              <a:gd name="connsiteY2" fmla="*/ 0 h 5329237"/>
              <a:gd name="connsiteX3" fmla="*/ 1597209 w 1597209"/>
              <a:gd name="connsiteY3" fmla="*/ 159721 h 5329237"/>
              <a:gd name="connsiteX4" fmla="*/ 1597209 w 1597209"/>
              <a:gd name="connsiteY4" fmla="*/ 5169516 h 5329237"/>
              <a:gd name="connsiteX5" fmla="*/ 1437488 w 1597209"/>
              <a:gd name="connsiteY5" fmla="*/ 5329237 h 5329237"/>
              <a:gd name="connsiteX6" fmla="*/ 159721 w 1597209"/>
              <a:gd name="connsiteY6" fmla="*/ 5329237 h 5329237"/>
              <a:gd name="connsiteX7" fmla="*/ 0 w 1597209"/>
              <a:gd name="connsiteY7" fmla="*/ 5169516 h 5329237"/>
              <a:gd name="connsiteX8" fmla="*/ 0 w 1597209"/>
              <a:gd name="connsiteY8" fmla="*/ 159721 h 5329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209" h="5329237">
                <a:moveTo>
                  <a:pt x="0" y="159721"/>
                </a:moveTo>
                <a:cubicBezTo>
                  <a:pt x="0" y="71510"/>
                  <a:pt x="71510" y="0"/>
                  <a:pt x="159721" y="0"/>
                </a:cubicBezTo>
                <a:lnTo>
                  <a:pt x="1437488" y="0"/>
                </a:lnTo>
                <a:cubicBezTo>
                  <a:pt x="1525699" y="0"/>
                  <a:pt x="1597209" y="71510"/>
                  <a:pt x="1597209" y="159721"/>
                </a:cubicBezTo>
                <a:lnTo>
                  <a:pt x="1597209" y="5169516"/>
                </a:lnTo>
                <a:cubicBezTo>
                  <a:pt x="1597209" y="5257727"/>
                  <a:pt x="1525699" y="5329237"/>
                  <a:pt x="1437488" y="5329237"/>
                </a:cubicBezTo>
                <a:lnTo>
                  <a:pt x="159721" y="5329237"/>
                </a:lnTo>
                <a:cubicBezTo>
                  <a:pt x="71510" y="5329237"/>
                  <a:pt x="0" y="5257727"/>
                  <a:pt x="0" y="5169516"/>
                </a:cubicBezTo>
                <a:lnTo>
                  <a:pt x="0" y="159721"/>
                </a:lnTo>
                <a:close/>
              </a:path>
            </a:pathLst>
          </a:custGeom>
          <a:noFill/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384425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600" b="1" kern="1200">
              <a:solidFill>
                <a:schemeClr val="bg1"/>
              </a:solidFill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84A34B9-6116-BBB9-3F89-16776F12AF57}"/>
              </a:ext>
            </a:extLst>
          </p:cNvPr>
          <p:cNvSpPr/>
          <p:nvPr/>
        </p:nvSpPr>
        <p:spPr>
          <a:xfrm>
            <a:off x="415543" y="2810598"/>
            <a:ext cx="1936332" cy="1412474"/>
          </a:xfrm>
          <a:custGeom>
            <a:avLst/>
            <a:gdLst>
              <a:gd name="connsiteX0" fmla="*/ 0 w 1331008"/>
              <a:gd name="connsiteY0" fmla="*/ 66550 h 665504"/>
              <a:gd name="connsiteX1" fmla="*/ 66550 w 1331008"/>
              <a:gd name="connsiteY1" fmla="*/ 0 h 665504"/>
              <a:gd name="connsiteX2" fmla="*/ 1264458 w 1331008"/>
              <a:gd name="connsiteY2" fmla="*/ 0 h 665504"/>
              <a:gd name="connsiteX3" fmla="*/ 1331008 w 1331008"/>
              <a:gd name="connsiteY3" fmla="*/ 66550 h 665504"/>
              <a:gd name="connsiteX4" fmla="*/ 1331008 w 1331008"/>
              <a:gd name="connsiteY4" fmla="*/ 598954 h 665504"/>
              <a:gd name="connsiteX5" fmla="*/ 1264458 w 1331008"/>
              <a:gd name="connsiteY5" fmla="*/ 665504 h 665504"/>
              <a:gd name="connsiteX6" fmla="*/ 66550 w 1331008"/>
              <a:gd name="connsiteY6" fmla="*/ 665504 h 665504"/>
              <a:gd name="connsiteX7" fmla="*/ 0 w 1331008"/>
              <a:gd name="connsiteY7" fmla="*/ 598954 h 665504"/>
              <a:gd name="connsiteX8" fmla="*/ 0 w 1331008"/>
              <a:gd name="connsiteY8" fmla="*/ 66550 h 66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008" h="665504">
                <a:moveTo>
                  <a:pt x="0" y="66550"/>
                </a:moveTo>
                <a:cubicBezTo>
                  <a:pt x="0" y="29795"/>
                  <a:pt x="29795" y="0"/>
                  <a:pt x="66550" y="0"/>
                </a:cubicBezTo>
                <a:lnTo>
                  <a:pt x="1264458" y="0"/>
                </a:lnTo>
                <a:cubicBezTo>
                  <a:pt x="1301213" y="0"/>
                  <a:pt x="1331008" y="29795"/>
                  <a:pt x="1331008" y="66550"/>
                </a:cubicBezTo>
                <a:lnTo>
                  <a:pt x="1331008" y="598954"/>
                </a:lnTo>
                <a:cubicBezTo>
                  <a:pt x="1331008" y="635709"/>
                  <a:pt x="1301213" y="665504"/>
                  <a:pt x="1264458" y="665504"/>
                </a:cubicBezTo>
                <a:lnTo>
                  <a:pt x="66550" y="665504"/>
                </a:lnTo>
                <a:cubicBezTo>
                  <a:pt x="29795" y="665504"/>
                  <a:pt x="0" y="635709"/>
                  <a:pt x="0" y="598954"/>
                </a:cubicBezTo>
                <a:lnTo>
                  <a:pt x="0" y="66550"/>
                </a:lnTo>
                <a:close/>
              </a:path>
            </a:pathLst>
          </a:custGeom>
          <a:solidFill>
            <a:srgbClr val="1B437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29652" tIns="29652" rIns="29652" bIns="2965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RACCOLTA 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REQUISITI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77F2DE6-3BD7-EC29-0A7C-854818FD716D}"/>
              </a:ext>
            </a:extLst>
          </p:cNvPr>
          <p:cNvSpPr/>
          <p:nvPr/>
        </p:nvSpPr>
        <p:spPr>
          <a:xfrm>
            <a:off x="3205599" y="1223048"/>
            <a:ext cx="3047132" cy="1144818"/>
          </a:xfrm>
          <a:custGeom>
            <a:avLst/>
            <a:gdLst>
              <a:gd name="connsiteX0" fmla="*/ 0 w 1331008"/>
              <a:gd name="connsiteY0" fmla="*/ 66550 h 665504"/>
              <a:gd name="connsiteX1" fmla="*/ 66550 w 1331008"/>
              <a:gd name="connsiteY1" fmla="*/ 0 h 665504"/>
              <a:gd name="connsiteX2" fmla="*/ 1264458 w 1331008"/>
              <a:gd name="connsiteY2" fmla="*/ 0 h 665504"/>
              <a:gd name="connsiteX3" fmla="*/ 1331008 w 1331008"/>
              <a:gd name="connsiteY3" fmla="*/ 66550 h 665504"/>
              <a:gd name="connsiteX4" fmla="*/ 1331008 w 1331008"/>
              <a:gd name="connsiteY4" fmla="*/ 598954 h 665504"/>
              <a:gd name="connsiteX5" fmla="*/ 1264458 w 1331008"/>
              <a:gd name="connsiteY5" fmla="*/ 665504 h 665504"/>
              <a:gd name="connsiteX6" fmla="*/ 66550 w 1331008"/>
              <a:gd name="connsiteY6" fmla="*/ 665504 h 665504"/>
              <a:gd name="connsiteX7" fmla="*/ 0 w 1331008"/>
              <a:gd name="connsiteY7" fmla="*/ 598954 h 665504"/>
              <a:gd name="connsiteX8" fmla="*/ 0 w 1331008"/>
              <a:gd name="connsiteY8" fmla="*/ 66550 h 66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008" h="665504">
                <a:moveTo>
                  <a:pt x="0" y="66550"/>
                </a:moveTo>
                <a:cubicBezTo>
                  <a:pt x="0" y="29795"/>
                  <a:pt x="29795" y="0"/>
                  <a:pt x="66550" y="0"/>
                </a:cubicBezTo>
                <a:lnTo>
                  <a:pt x="1264458" y="0"/>
                </a:lnTo>
                <a:cubicBezTo>
                  <a:pt x="1301213" y="0"/>
                  <a:pt x="1331008" y="29795"/>
                  <a:pt x="1331008" y="66550"/>
                </a:cubicBezTo>
                <a:lnTo>
                  <a:pt x="1331008" y="598954"/>
                </a:lnTo>
                <a:cubicBezTo>
                  <a:pt x="1331008" y="635709"/>
                  <a:pt x="1301213" y="665504"/>
                  <a:pt x="1264458" y="665504"/>
                </a:cubicBezTo>
                <a:lnTo>
                  <a:pt x="66550" y="665504"/>
                </a:lnTo>
                <a:cubicBezTo>
                  <a:pt x="29795" y="665504"/>
                  <a:pt x="0" y="635709"/>
                  <a:pt x="0" y="598954"/>
                </a:cubicBezTo>
                <a:lnTo>
                  <a:pt x="0" y="66550"/>
                </a:lnTo>
                <a:close/>
              </a:path>
            </a:pathLst>
          </a:custGeom>
          <a:solidFill>
            <a:srgbClr val="1B437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652" tIns="29652" rIns="29652" bIns="2965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RICOSTRUZIONE 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MODELLO 3D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0EB0C1B-4975-C309-CB1F-92E0E9688E0A}"/>
              </a:ext>
            </a:extLst>
          </p:cNvPr>
          <p:cNvSpPr/>
          <p:nvPr/>
        </p:nvSpPr>
        <p:spPr>
          <a:xfrm>
            <a:off x="8599150" y="1821482"/>
            <a:ext cx="2576123" cy="1124128"/>
          </a:xfrm>
          <a:custGeom>
            <a:avLst/>
            <a:gdLst>
              <a:gd name="connsiteX0" fmla="*/ 0 w 1331008"/>
              <a:gd name="connsiteY0" fmla="*/ 66550 h 665504"/>
              <a:gd name="connsiteX1" fmla="*/ 66550 w 1331008"/>
              <a:gd name="connsiteY1" fmla="*/ 0 h 665504"/>
              <a:gd name="connsiteX2" fmla="*/ 1264458 w 1331008"/>
              <a:gd name="connsiteY2" fmla="*/ 0 h 665504"/>
              <a:gd name="connsiteX3" fmla="*/ 1331008 w 1331008"/>
              <a:gd name="connsiteY3" fmla="*/ 66550 h 665504"/>
              <a:gd name="connsiteX4" fmla="*/ 1331008 w 1331008"/>
              <a:gd name="connsiteY4" fmla="*/ 598954 h 665504"/>
              <a:gd name="connsiteX5" fmla="*/ 1264458 w 1331008"/>
              <a:gd name="connsiteY5" fmla="*/ 665504 h 665504"/>
              <a:gd name="connsiteX6" fmla="*/ 66550 w 1331008"/>
              <a:gd name="connsiteY6" fmla="*/ 665504 h 665504"/>
              <a:gd name="connsiteX7" fmla="*/ 0 w 1331008"/>
              <a:gd name="connsiteY7" fmla="*/ 598954 h 665504"/>
              <a:gd name="connsiteX8" fmla="*/ 0 w 1331008"/>
              <a:gd name="connsiteY8" fmla="*/ 66550 h 66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008" h="665504">
                <a:moveTo>
                  <a:pt x="0" y="66550"/>
                </a:moveTo>
                <a:cubicBezTo>
                  <a:pt x="0" y="29795"/>
                  <a:pt x="29795" y="0"/>
                  <a:pt x="66550" y="0"/>
                </a:cubicBezTo>
                <a:lnTo>
                  <a:pt x="1264458" y="0"/>
                </a:lnTo>
                <a:cubicBezTo>
                  <a:pt x="1301213" y="0"/>
                  <a:pt x="1331008" y="29795"/>
                  <a:pt x="1331008" y="66550"/>
                </a:cubicBezTo>
                <a:lnTo>
                  <a:pt x="1331008" y="598954"/>
                </a:lnTo>
                <a:cubicBezTo>
                  <a:pt x="1331008" y="635709"/>
                  <a:pt x="1301213" y="665504"/>
                  <a:pt x="1264458" y="665504"/>
                </a:cubicBezTo>
                <a:lnTo>
                  <a:pt x="66550" y="665504"/>
                </a:lnTo>
                <a:cubicBezTo>
                  <a:pt x="29795" y="665504"/>
                  <a:pt x="0" y="635709"/>
                  <a:pt x="0" y="598954"/>
                </a:cubicBezTo>
                <a:lnTo>
                  <a:pt x="0" y="66550"/>
                </a:lnTo>
                <a:close/>
              </a:path>
            </a:pathLst>
          </a:custGeom>
          <a:solidFill>
            <a:srgbClr val="1B437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652" tIns="29652" rIns="29652" bIns="2965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MONITORAGGIO VEICOLI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57C6EA3-6CB9-3C89-877E-A8D2C4CD7BE7}"/>
              </a:ext>
            </a:extLst>
          </p:cNvPr>
          <p:cNvSpPr/>
          <p:nvPr/>
        </p:nvSpPr>
        <p:spPr>
          <a:xfrm>
            <a:off x="3188342" y="2743401"/>
            <a:ext cx="3063870" cy="1546868"/>
          </a:xfrm>
          <a:custGeom>
            <a:avLst/>
            <a:gdLst>
              <a:gd name="connsiteX0" fmla="*/ 0 w 1331008"/>
              <a:gd name="connsiteY0" fmla="*/ 66550 h 665504"/>
              <a:gd name="connsiteX1" fmla="*/ 66550 w 1331008"/>
              <a:gd name="connsiteY1" fmla="*/ 0 h 665504"/>
              <a:gd name="connsiteX2" fmla="*/ 1264458 w 1331008"/>
              <a:gd name="connsiteY2" fmla="*/ 0 h 665504"/>
              <a:gd name="connsiteX3" fmla="*/ 1331008 w 1331008"/>
              <a:gd name="connsiteY3" fmla="*/ 66550 h 665504"/>
              <a:gd name="connsiteX4" fmla="*/ 1331008 w 1331008"/>
              <a:gd name="connsiteY4" fmla="*/ 598954 h 665504"/>
              <a:gd name="connsiteX5" fmla="*/ 1264458 w 1331008"/>
              <a:gd name="connsiteY5" fmla="*/ 665504 h 665504"/>
              <a:gd name="connsiteX6" fmla="*/ 66550 w 1331008"/>
              <a:gd name="connsiteY6" fmla="*/ 665504 h 665504"/>
              <a:gd name="connsiteX7" fmla="*/ 0 w 1331008"/>
              <a:gd name="connsiteY7" fmla="*/ 598954 h 665504"/>
              <a:gd name="connsiteX8" fmla="*/ 0 w 1331008"/>
              <a:gd name="connsiteY8" fmla="*/ 66550 h 66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008" h="665504">
                <a:moveTo>
                  <a:pt x="0" y="66550"/>
                </a:moveTo>
                <a:cubicBezTo>
                  <a:pt x="0" y="29795"/>
                  <a:pt x="29795" y="0"/>
                  <a:pt x="66550" y="0"/>
                </a:cubicBezTo>
                <a:lnTo>
                  <a:pt x="1264458" y="0"/>
                </a:lnTo>
                <a:cubicBezTo>
                  <a:pt x="1301213" y="0"/>
                  <a:pt x="1331008" y="29795"/>
                  <a:pt x="1331008" y="66550"/>
                </a:cubicBezTo>
                <a:lnTo>
                  <a:pt x="1331008" y="598954"/>
                </a:lnTo>
                <a:cubicBezTo>
                  <a:pt x="1331008" y="635709"/>
                  <a:pt x="1301213" y="665504"/>
                  <a:pt x="1264458" y="665504"/>
                </a:cubicBezTo>
                <a:lnTo>
                  <a:pt x="66550" y="665504"/>
                </a:lnTo>
                <a:cubicBezTo>
                  <a:pt x="29795" y="665504"/>
                  <a:pt x="0" y="635709"/>
                  <a:pt x="0" y="598954"/>
                </a:cubicBezTo>
                <a:lnTo>
                  <a:pt x="0" y="66550"/>
                </a:lnTo>
                <a:close/>
              </a:path>
            </a:pathLst>
          </a:custGeom>
          <a:solidFill>
            <a:srgbClr val="1B437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652" tIns="29652" rIns="29652" bIns="2965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CREAZIONE RETE DI MONITORAGGIO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>
                <a:solidFill>
                  <a:schemeClr val="bg1"/>
                </a:solidFill>
                <a:latin typeface="Roboto"/>
                <a:ea typeface="Calibri"/>
                <a:cs typeface="Times New Roman"/>
              </a:rPr>
              <a:t>(Installazione Server E Installazione/Gestione Telecamere)</a:t>
            </a:r>
            <a:endParaRPr lang="it-IT" sz="1600" b="1" kern="1200">
              <a:solidFill>
                <a:schemeClr val="bg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BFC66E5-5274-E710-E70C-15510090F496}"/>
              </a:ext>
            </a:extLst>
          </p:cNvPr>
          <p:cNvSpPr/>
          <p:nvPr/>
        </p:nvSpPr>
        <p:spPr>
          <a:xfrm>
            <a:off x="8599150" y="3211429"/>
            <a:ext cx="2576123" cy="1253318"/>
          </a:xfrm>
          <a:custGeom>
            <a:avLst/>
            <a:gdLst>
              <a:gd name="connsiteX0" fmla="*/ 0 w 1331008"/>
              <a:gd name="connsiteY0" fmla="*/ 66550 h 665504"/>
              <a:gd name="connsiteX1" fmla="*/ 66550 w 1331008"/>
              <a:gd name="connsiteY1" fmla="*/ 0 h 665504"/>
              <a:gd name="connsiteX2" fmla="*/ 1264458 w 1331008"/>
              <a:gd name="connsiteY2" fmla="*/ 0 h 665504"/>
              <a:gd name="connsiteX3" fmla="*/ 1331008 w 1331008"/>
              <a:gd name="connsiteY3" fmla="*/ 66550 h 665504"/>
              <a:gd name="connsiteX4" fmla="*/ 1331008 w 1331008"/>
              <a:gd name="connsiteY4" fmla="*/ 598954 h 665504"/>
              <a:gd name="connsiteX5" fmla="*/ 1264458 w 1331008"/>
              <a:gd name="connsiteY5" fmla="*/ 665504 h 665504"/>
              <a:gd name="connsiteX6" fmla="*/ 66550 w 1331008"/>
              <a:gd name="connsiteY6" fmla="*/ 665504 h 665504"/>
              <a:gd name="connsiteX7" fmla="*/ 0 w 1331008"/>
              <a:gd name="connsiteY7" fmla="*/ 598954 h 665504"/>
              <a:gd name="connsiteX8" fmla="*/ 0 w 1331008"/>
              <a:gd name="connsiteY8" fmla="*/ 66550 h 66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008" h="665504">
                <a:moveTo>
                  <a:pt x="0" y="66550"/>
                </a:moveTo>
                <a:cubicBezTo>
                  <a:pt x="0" y="29795"/>
                  <a:pt x="29795" y="0"/>
                  <a:pt x="66550" y="0"/>
                </a:cubicBezTo>
                <a:lnTo>
                  <a:pt x="1264458" y="0"/>
                </a:lnTo>
                <a:cubicBezTo>
                  <a:pt x="1301213" y="0"/>
                  <a:pt x="1331008" y="29795"/>
                  <a:pt x="1331008" y="66550"/>
                </a:cubicBezTo>
                <a:lnTo>
                  <a:pt x="1331008" y="598954"/>
                </a:lnTo>
                <a:cubicBezTo>
                  <a:pt x="1331008" y="635709"/>
                  <a:pt x="1301213" y="665504"/>
                  <a:pt x="1264458" y="665504"/>
                </a:cubicBezTo>
                <a:lnTo>
                  <a:pt x="66550" y="665504"/>
                </a:lnTo>
                <a:cubicBezTo>
                  <a:pt x="29795" y="665504"/>
                  <a:pt x="0" y="635709"/>
                  <a:pt x="0" y="598954"/>
                </a:cubicBezTo>
                <a:lnTo>
                  <a:pt x="0" y="66550"/>
                </a:lnTo>
                <a:close/>
              </a:path>
            </a:pathLst>
          </a:custGeom>
          <a:solidFill>
            <a:srgbClr val="1B437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652" tIns="29652" rIns="29652" bIns="2965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MONITORAGGIO DPI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99297ED-6B9A-5FC4-6E1B-05F37FBE4147}"/>
              </a:ext>
            </a:extLst>
          </p:cNvPr>
          <p:cNvSpPr/>
          <p:nvPr/>
        </p:nvSpPr>
        <p:spPr>
          <a:xfrm>
            <a:off x="8599150" y="4729666"/>
            <a:ext cx="2576123" cy="1566276"/>
          </a:xfrm>
          <a:custGeom>
            <a:avLst/>
            <a:gdLst>
              <a:gd name="connsiteX0" fmla="*/ 0 w 1331008"/>
              <a:gd name="connsiteY0" fmla="*/ 103165 h 1031651"/>
              <a:gd name="connsiteX1" fmla="*/ 103165 w 1331008"/>
              <a:gd name="connsiteY1" fmla="*/ 0 h 1031651"/>
              <a:gd name="connsiteX2" fmla="*/ 1227843 w 1331008"/>
              <a:gd name="connsiteY2" fmla="*/ 0 h 1031651"/>
              <a:gd name="connsiteX3" fmla="*/ 1331008 w 1331008"/>
              <a:gd name="connsiteY3" fmla="*/ 103165 h 1031651"/>
              <a:gd name="connsiteX4" fmla="*/ 1331008 w 1331008"/>
              <a:gd name="connsiteY4" fmla="*/ 928486 h 1031651"/>
              <a:gd name="connsiteX5" fmla="*/ 1227843 w 1331008"/>
              <a:gd name="connsiteY5" fmla="*/ 1031651 h 1031651"/>
              <a:gd name="connsiteX6" fmla="*/ 103165 w 1331008"/>
              <a:gd name="connsiteY6" fmla="*/ 1031651 h 1031651"/>
              <a:gd name="connsiteX7" fmla="*/ 0 w 1331008"/>
              <a:gd name="connsiteY7" fmla="*/ 928486 h 1031651"/>
              <a:gd name="connsiteX8" fmla="*/ 0 w 1331008"/>
              <a:gd name="connsiteY8" fmla="*/ 103165 h 1031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008" h="1031651">
                <a:moveTo>
                  <a:pt x="0" y="103165"/>
                </a:moveTo>
                <a:cubicBezTo>
                  <a:pt x="0" y="46189"/>
                  <a:pt x="46189" y="0"/>
                  <a:pt x="103165" y="0"/>
                </a:cubicBezTo>
                <a:lnTo>
                  <a:pt x="1227843" y="0"/>
                </a:lnTo>
                <a:cubicBezTo>
                  <a:pt x="1284819" y="0"/>
                  <a:pt x="1331008" y="46189"/>
                  <a:pt x="1331008" y="103165"/>
                </a:cubicBezTo>
                <a:lnTo>
                  <a:pt x="1331008" y="928486"/>
                </a:lnTo>
                <a:cubicBezTo>
                  <a:pt x="1331008" y="985462"/>
                  <a:pt x="1284819" y="1031651"/>
                  <a:pt x="1227843" y="1031651"/>
                </a:cubicBezTo>
                <a:lnTo>
                  <a:pt x="103165" y="1031651"/>
                </a:lnTo>
                <a:cubicBezTo>
                  <a:pt x="46189" y="1031651"/>
                  <a:pt x="0" y="985462"/>
                  <a:pt x="0" y="928486"/>
                </a:cubicBezTo>
                <a:lnTo>
                  <a:pt x="0" y="103165"/>
                </a:lnTo>
                <a:close/>
              </a:path>
            </a:pathLst>
          </a:custGeom>
          <a:solidFill>
            <a:srgbClr val="1B437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376" tIns="40376" rIns="40376" bIns="40376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ZONE AD ALTO RISCHIO: 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ACCESSO CONTROLLATO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1EA5F3A-AAAC-9E26-4CF8-46E7068674BC}"/>
              </a:ext>
            </a:extLst>
          </p:cNvPr>
          <p:cNvSpPr/>
          <p:nvPr/>
        </p:nvSpPr>
        <p:spPr>
          <a:xfrm>
            <a:off x="3188341" y="4747217"/>
            <a:ext cx="3063870" cy="1546869"/>
          </a:xfrm>
          <a:custGeom>
            <a:avLst/>
            <a:gdLst>
              <a:gd name="connsiteX0" fmla="*/ 0 w 1331008"/>
              <a:gd name="connsiteY0" fmla="*/ 133101 h 1419666"/>
              <a:gd name="connsiteX1" fmla="*/ 133101 w 1331008"/>
              <a:gd name="connsiteY1" fmla="*/ 0 h 1419666"/>
              <a:gd name="connsiteX2" fmla="*/ 1197907 w 1331008"/>
              <a:gd name="connsiteY2" fmla="*/ 0 h 1419666"/>
              <a:gd name="connsiteX3" fmla="*/ 1331008 w 1331008"/>
              <a:gd name="connsiteY3" fmla="*/ 133101 h 1419666"/>
              <a:gd name="connsiteX4" fmla="*/ 1331008 w 1331008"/>
              <a:gd name="connsiteY4" fmla="*/ 1286565 h 1419666"/>
              <a:gd name="connsiteX5" fmla="*/ 1197907 w 1331008"/>
              <a:gd name="connsiteY5" fmla="*/ 1419666 h 1419666"/>
              <a:gd name="connsiteX6" fmla="*/ 133101 w 1331008"/>
              <a:gd name="connsiteY6" fmla="*/ 1419666 h 1419666"/>
              <a:gd name="connsiteX7" fmla="*/ 0 w 1331008"/>
              <a:gd name="connsiteY7" fmla="*/ 1286565 h 1419666"/>
              <a:gd name="connsiteX8" fmla="*/ 0 w 1331008"/>
              <a:gd name="connsiteY8" fmla="*/ 133101 h 141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008" h="1419666">
                <a:moveTo>
                  <a:pt x="0" y="133101"/>
                </a:moveTo>
                <a:cubicBezTo>
                  <a:pt x="0" y="59591"/>
                  <a:pt x="59591" y="0"/>
                  <a:pt x="133101" y="0"/>
                </a:cubicBezTo>
                <a:lnTo>
                  <a:pt x="1197907" y="0"/>
                </a:lnTo>
                <a:cubicBezTo>
                  <a:pt x="1271417" y="0"/>
                  <a:pt x="1331008" y="59591"/>
                  <a:pt x="1331008" y="133101"/>
                </a:cubicBezTo>
                <a:lnTo>
                  <a:pt x="1331008" y="1286565"/>
                </a:lnTo>
                <a:cubicBezTo>
                  <a:pt x="1331008" y="1360075"/>
                  <a:pt x="1271417" y="1419666"/>
                  <a:pt x="1197907" y="1419666"/>
                </a:cubicBezTo>
                <a:lnTo>
                  <a:pt x="133101" y="1419666"/>
                </a:lnTo>
                <a:cubicBezTo>
                  <a:pt x="59591" y="1419666"/>
                  <a:pt x="0" y="1360075"/>
                  <a:pt x="0" y="1286565"/>
                </a:cubicBezTo>
                <a:lnTo>
                  <a:pt x="0" y="133101"/>
                </a:lnTo>
                <a:close/>
              </a:path>
            </a:pathLst>
          </a:custGeom>
          <a:solidFill>
            <a:srgbClr val="1B437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144" tIns="49144" rIns="49144" bIns="49144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>
                <a:solidFill>
                  <a:schemeClr val="bg1"/>
                </a:solidFill>
              </a:rPr>
              <a:t>GESTIONE ACCESSI ALLO STABILIMENTO (DLT IOTA)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B7B32-0953-F10A-1773-CE211ABBB503}"/>
              </a:ext>
            </a:extLst>
          </p:cNvPr>
          <p:cNvSpPr/>
          <p:nvPr/>
        </p:nvSpPr>
        <p:spPr>
          <a:xfrm>
            <a:off x="8294004" y="1004708"/>
            <a:ext cx="3186414" cy="563495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9148F5AD-E29B-2061-A098-EB3F19721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2E3696B7-590B-21AF-EB1D-C9C6F68BC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44C345C-BCDF-FB69-1A53-467D28632FDD}"/>
              </a:ext>
            </a:extLst>
          </p:cNvPr>
          <p:cNvSpPr txBox="1"/>
          <p:nvPr/>
        </p:nvSpPr>
        <p:spPr>
          <a:xfrm>
            <a:off x="8599150" y="1079584"/>
            <a:ext cx="2576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/>
              <a:t>Computer Vision, AI, Object Detection</a:t>
            </a:r>
          </a:p>
        </p:txBody>
      </p:sp>
      <p:sp>
        <p:nvSpPr>
          <p:cNvPr id="85" name="Segnaposto testo 3">
            <a:extLst>
              <a:ext uri="{FF2B5EF4-FFF2-40B4-BE49-F238E27FC236}">
                <a16:creationId xmlns:a16="http://schemas.microsoft.com/office/drawing/2014/main" id="{3A020039-322F-3E1C-E81A-C4D13F8147B3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Modularità della soluzione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33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EA87AD6-F42C-9A9A-832C-20904EC22EBC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La soluzione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3" name="CasellaDiTesto 1053">
            <a:extLst>
              <a:ext uri="{FF2B5EF4-FFF2-40B4-BE49-F238E27FC236}">
                <a16:creationId xmlns:a16="http://schemas.microsoft.com/office/drawing/2014/main" id="{8E410854-8EE4-03CD-99CA-10C890AD688C}"/>
              </a:ext>
            </a:extLst>
          </p:cNvPr>
          <p:cNvSpPr txBox="1"/>
          <p:nvPr/>
        </p:nvSpPr>
        <p:spPr>
          <a:xfrm>
            <a:off x="319130" y="5373395"/>
            <a:ext cx="2287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>
                <a:solidFill>
                  <a:schemeClr val="bg2">
                    <a:lumMod val="50000"/>
                  </a:schemeClr>
                </a:solidFill>
              </a:rPr>
              <a:t>Laser Scanner / </a:t>
            </a:r>
          </a:p>
          <a:p>
            <a:pPr algn="ctr"/>
            <a:r>
              <a:rPr lang="it-IT" sz="1200">
                <a:solidFill>
                  <a:schemeClr val="bg2">
                    <a:lumMod val="50000"/>
                  </a:schemeClr>
                </a:solidFill>
              </a:rPr>
              <a:t>Drone photogrammetry</a:t>
            </a:r>
          </a:p>
        </p:txBody>
      </p:sp>
      <p:sp>
        <p:nvSpPr>
          <p:cNvPr id="7" name="CasellaDiTesto 1053">
            <a:extLst>
              <a:ext uri="{FF2B5EF4-FFF2-40B4-BE49-F238E27FC236}">
                <a16:creationId xmlns:a16="http://schemas.microsoft.com/office/drawing/2014/main" id="{BBE625DA-5109-3BCF-2F20-309824109EC0}"/>
              </a:ext>
            </a:extLst>
          </p:cNvPr>
          <p:cNvSpPr txBox="1"/>
          <p:nvPr/>
        </p:nvSpPr>
        <p:spPr>
          <a:xfrm>
            <a:off x="3976367" y="1331492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Sito Industriale:</a:t>
            </a:r>
          </a:p>
          <a:p>
            <a:pPr algn="ctr"/>
            <a:r>
              <a:rPr lang="it-IT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Modello 3D Ricostruito</a:t>
            </a:r>
          </a:p>
        </p:txBody>
      </p:sp>
      <p:pic>
        <p:nvPicPr>
          <p:cNvPr id="11" name="Picture 10" descr="A green circle with a black and white camera&#10;&#10;Description automatically generated">
            <a:extLst>
              <a:ext uri="{FF2B5EF4-FFF2-40B4-BE49-F238E27FC236}">
                <a16:creationId xmlns:a16="http://schemas.microsoft.com/office/drawing/2014/main" id="{A51C7C40-26BB-5C1C-5816-CE88F6E8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300" y="9182979"/>
            <a:ext cx="1649186" cy="1665514"/>
          </a:xfrm>
          <a:prstGeom prst="rect">
            <a:avLst/>
          </a:prstGeom>
        </p:spPr>
      </p:pic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ADE0469B-4F0F-72A2-B2C1-875C44A6A260}"/>
              </a:ext>
            </a:extLst>
          </p:cNvPr>
          <p:cNvGrpSpPr/>
          <p:nvPr/>
        </p:nvGrpSpPr>
        <p:grpSpPr>
          <a:xfrm>
            <a:off x="7681690" y="3753706"/>
            <a:ext cx="1378111" cy="1055224"/>
            <a:chOff x="8284762" y="3947857"/>
            <a:chExt cx="1378111" cy="1055224"/>
          </a:xfrm>
        </p:grpSpPr>
        <p:pic>
          <p:nvPicPr>
            <p:cNvPr id="15" name="Elemento grafico 22" descr="Server con riempimento a tinta unita">
              <a:extLst>
                <a:ext uri="{FF2B5EF4-FFF2-40B4-BE49-F238E27FC236}">
                  <a16:creationId xmlns:a16="http://schemas.microsoft.com/office/drawing/2014/main" id="{3CFF7C98-CAC9-A640-7559-0A226D76C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90912" y="3947857"/>
              <a:ext cx="871961" cy="871961"/>
            </a:xfrm>
            <a:prstGeom prst="rect">
              <a:avLst/>
            </a:prstGeom>
          </p:spPr>
        </p:pic>
        <p:pic>
          <p:nvPicPr>
            <p:cNvPr id="16" name="Elemento grafico 27" descr="Database con riempimento a tinta unita">
              <a:extLst>
                <a:ext uri="{FF2B5EF4-FFF2-40B4-BE49-F238E27FC236}">
                  <a16:creationId xmlns:a16="http://schemas.microsoft.com/office/drawing/2014/main" id="{E3CF8036-384E-1BF2-098E-BFBAE3995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84762" y="3951708"/>
              <a:ext cx="546853" cy="546853"/>
            </a:xfrm>
            <a:prstGeom prst="rect">
              <a:avLst/>
            </a:prstGeom>
          </p:spPr>
        </p:pic>
        <p:pic>
          <p:nvPicPr>
            <p:cNvPr id="27" name="Graphic 26" descr="Processor with solid fill">
              <a:extLst>
                <a:ext uri="{FF2B5EF4-FFF2-40B4-BE49-F238E27FC236}">
                  <a16:creationId xmlns:a16="http://schemas.microsoft.com/office/drawing/2014/main" id="{BBC15C15-C6DC-81A6-1B01-FADD8420E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12772" y="4470301"/>
              <a:ext cx="532780" cy="532780"/>
            </a:xfrm>
            <a:prstGeom prst="rect">
              <a:avLst/>
            </a:prstGeom>
          </p:spPr>
        </p:pic>
      </p:grpSp>
      <p:sp>
        <p:nvSpPr>
          <p:cNvPr id="4" name="CasellaDiTesto 1053">
            <a:extLst>
              <a:ext uri="{FF2B5EF4-FFF2-40B4-BE49-F238E27FC236}">
                <a16:creationId xmlns:a16="http://schemas.microsoft.com/office/drawing/2014/main" id="{767159F4-CE15-B649-14B8-ED27680FC02C}"/>
              </a:ext>
            </a:extLst>
          </p:cNvPr>
          <p:cNvSpPr txBox="1"/>
          <p:nvPr/>
        </p:nvSpPr>
        <p:spPr>
          <a:xfrm>
            <a:off x="7503640" y="3411864"/>
            <a:ext cx="1665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>
                <a:solidFill>
                  <a:schemeClr val="bg2">
                    <a:lumMod val="50000"/>
                  </a:schemeClr>
                </a:solidFill>
              </a:rPr>
              <a:t>Computation site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F2EC296-C264-C8E5-62CB-E43D93E09F59}"/>
              </a:ext>
            </a:extLst>
          </p:cNvPr>
          <p:cNvGrpSpPr/>
          <p:nvPr/>
        </p:nvGrpSpPr>
        <p:grpSpPr>
          <a:xfrm>
            <a:off x="2761187" y="3022080"/>
            <a:ext cx="4667248" cy="2768349"/>
            <a:chOff x="2637446" y="993595"/>
            <a:chExt cx="4592209" cy="255058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54D6792-9024-2A9D-2438-F24B63B5D99E}"/>
                </a:ext>
              </a:extLst>
            </p:cNvPr>
            <p:cNvGrpSpPr>
              <a:grpSpLocks/>
            </p:cNvGrpSpPr>
            <p:nvPr/>
          </p:nvGrpSpPr>
          <p:grpSpPr>
            <a:xfrm>
              <a:off x="2637446" y="993595"/>
              <a:ext cx="4228497" cy="2550584"/>
              <a:chOff x="3044371" y="1143755"/>
              <a:chExt cx="4228497" cy="255058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26A0DDD-FA62-5283-E1B6-0F07F2D37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44371" y="1143755"/>
                <a:ext cx="4228497" cy="2550584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6" name="Freeform 4">
                <a:extLst>
                  <a:ext uri="{FF2B5EF4-FFF2-40B4-BE49-F238E27FC236}">
                    <a16:creationId xmlns:a16="http://schemas.microsoft.com/office/drawing/2014/main" id="{22D1A2A5-3A0F-C85B-66E0-8842D29A91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01890" y="2206655"/>
                <a:ext cx="430456" cy="430456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>
                  <a:alphaModFix amt="80000"/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65B8D8B9-A241-E074-AED5-8143C94FB4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8210" y="2206654"/>
                <a:ext cx="437795" cy="43779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>
                  <a:alphaModFix amt="80000"/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Freeform 4">
                <a:extLst>
                  <a:ext uri="{FF2B5EF4-FFF2-40B4-BE49-F238E27FC236}">
                    <a16:creationId xmlns:a16="http://schemas.microsoft.com/office/drawing/2014/main" id="{8A6C3CA1-70A4-4016-A6F1-54D3868453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47727" y="2254394"/>
                <a:ext cx="44907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>
                  <a:alphaModFix amt="80000"/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Freeform 5">
                <a:extLst>
                  <a:ext uri="{FF2B5EF4-FFF2-40B4-BE49-F238E27FC236}">
                    <a16:creationId xmlns:a16="http://schemas.microsoft.com/office/drawing/2014/main" id="{129E84E9-9359-4803-5A1B-789D898FD4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44067" y="2254394"/>
                <a:ext cx="45273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>
                  <a:alphaModFix amt="80000"/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F451C282-89FA-E6F8-0B5E-CD61ADDB2E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99904" y="2839185"/>
                <a:ext cx="44907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>
                  <a:alphaModFix amt="80000"/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90FED462-2F2A-05EE-F3F1-488C3F66A7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96244" y="2839185"/>
                <a:ext cx="45273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>
                  <a:alphaModFix amt="80000"/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F253255-D65C-26C4-2A7B-664E4E9005BC}"/>
                </a:ext>
              </a:extLst>
            </p:cNvPr>
            <p:cNvSpPr/>
            <p:nvPr/>
          </p:nvSpPr>
          <p:spPr>
            <a:xfrm>
              <a:off x="4209690" y="1149657"/>
              <a:ext cx="412983" cy="412983"/>
            </a:xfrm>
            <a:custGeom>
              <a:avLst/>
              <a:gdLst/>
              <a:ahLst/>
              <a:cxnLst/>
              <a:rect l="l" t="t" r="r" b="b"/>
              <a:pathLst>
                <a:path w="4114800" h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8000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CD924A48-17FF-5978-F97D-CF8D01FC4F46}"/>
                </a:ext>
              </a:extLst>
            </p:cNvPr>
            <p:cNvSpPr/>
            <p:nvPr/>
          </p:nvSpPr>
          <p:spPr>
            <a:xfrm>
              <a:off x="4209690" y="1149657"/>
              <a:ext cx="412983" cy="412983"/>
            </a:xfrm>
            <a:custGeom>
              <a:avLst/>
              <a:gdLst/>
              <a:ahLst/>
              <a:cxnLst/>
              <a:rect l="l" t="t" r="r" b="b"/>
              <a:pathLst>
                <a:path w="4114800" h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0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75BDC58-A9BF-8459-F179-DC09DD8A7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0517" y="2556969"/>
              <a:ext cx="1626355" cy="15565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53DC50-6074-685A-9B56-9CA02417A4C9}"/>
                </a:ext>
              </a:extLst>
            </p:cNvPr>
            <p:cNvCxnSpPr>
              <a:cxnSpLocks/>
            </p:cNvCxnSpPr>
            <p:nvPr/>
          </p:nvCxnSpPr>
          <p:spPr>
            <a:xfrm>
              <a:off x="4782694" y="3023680"/>
              <a:ext cx="2374178" cy="0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5618A86-91DD-1B9F-91FB-D42FA67AE6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9760" y="2013785"/>
              <a:ext cx="3997112" cy="10638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EDB4EEE-C92A-3867-FC85-FABB849BA00E}"/>
                </a:ext>
              </a:extLst>
            </p:cNvPr>
            <p:cNvCxnSpPr>
              <a:cxnSpLocks/>
            </p:cNvCxnSpPr>
            <p:nvPr/>
          </p:nvCxnSpPr>
          <p:spPr>
            <a:xfrm>
              <a:off x="4704080" y="1345247"/>
              <a:ext cx="2525575" cy="10119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E235A52-1174-A05C-BE8A-C14C7951BAF2}"/>
                </a:ext>
              </a:extLst>
            </p:cNvPr>
            <p:cNvCxnSpPr>
              <a:cxnSpLocks/>
            </p:cNvCxnSpPr>
            <p:nvPr/>
          </p:nvCxnSpPr>
          <p:spPr>
            <a:xfrm>
              <a:off x="7194160" y="1341281"/>
              <a:ext cx="0" cy="1708411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28" name="CasellaDiTesto 1053">
            <a:extLst>
              <a:ext uri="{FF2B5EF4-FFF2-40B4-BE49-F238E27FC236}">
                <a16:creationId xmlns:a16="http://schemas.microsoft.com/office/drawing/2014/main" id="{0B0D7F38-85EC-D245-C762-F82E01ABF501}"/>
              </a:ext>
            </a:extLst>
          </p:cNvPr>
          <p:cNvSpPr txBox="1"/>
          <p:nvPr/>
        </p:nvSpPr>
        <p:spPr>
          <a:xfrm>
            <a:off x="7503640" y="4933143"/>
            <a:ext cx="1777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>
                <a:solidFill>
                  <a:schemeClr val="bg2">
                    <a:lumMod val="50000"/>
                  </a:schemeClr>
                </a:solidFill>
              </a:rPr>
              <a:t>Streaming video over ethernet </a:t>
            </a:r>
          </a:p>
          <a:p>
            <a:pPr algn="ctr"/>
            <a:r>
              <a:rPr lang="it-IT" sz="1200">
                <a:solidFill>
                  <a:schemeClr val="bg2">
                    <a:lumMod val="50000"/>
                  </a:schemeClr>
                </a:solidFill>
              </a:rPr>
              <a:t>(RTSP Protocol)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D9EED6-46C4-9A79-6A45-19D6A0141AAB}"/>
              </a:ext>
            </a:extLst>
          </p:cNvPr>
          <p:cNvSpPr txBox="1"/>
          <p:nvPr/>
        </p:nvSpPr>
        <p:spPr>
          <a:xfrm>
            <a:off x="10306102" y="1269003"/>
            <a:ext cx="1277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Interfaccia Utente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552C3F-BC8F-EB88-821A-66D08B213532}"/>
              </a:ext>
            </a:extLst>
          </p:cNvPr>
          <p:cNvSpPr txBox="1"/>
          <p:nvPr/>
        </p:nvSpPr>
        <p:spPr>
          <a:xfrm>
            <a:off x="490596" y="1280506"/>
            <a:ext cx="23655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Acquisizione immagini per la ricostruzione 3D </a:t>
            </a:r>
          </a:p>
          <a:p>
            <a:pPr algn="ctr"/>
            <a:r>
              <a:rPr lang="it-IT" sz="1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</a:t>
            </a:r>
          </a:p>
          <a:p>
            <a:pPr algn="ctr"/>
            <a:r>
              <a:rPr lang="it-IT" sz="1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Installazione/Calibrazione telecamere</a:t>
            </a:r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11600CE0-34B4-6055-020F-A18E6BDDE7FA}"/>
              </a:ext>
            </a:extLst>
          </p:cNvPr>
          <p:cNvGrpSpPr/>
          <p:nvPr/>
        </p:nvGrpSpPr>
        <p:grpSpPr>
          <a:xfrm>
            <a:off x="332429" y="2644048"/>
            <a:ext cx="2261314" cy="2477522"/>
            <a:chOff x="487035" y="2342296"/>
            <a:chExt cx="2261314" cy="2477522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F2FC870-E811-2D15-28ED-BA4CAC44E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52645" y="2342296"/>
              <a:ext cx="1395557" cy="1477328"/>
            </a:xfrm>
            <a:prstGeom prst="rect">
              <a:avLst/>
            </a:prstGeom>
          </p:spPr>
        </p:pic>
        <p:pic>
          <p:nvPicPr>
            <p:cNvPr id="2" name="Immagine 1032">
              <a:extLst>
                <a:ext uri="{FF2B5EF4-FFF2-40B4-BE49-F238E27FC236}">
                  <a16:creationId xmlns:a16="http://schemas.microsoft.com/office/drawing/2014/main" id="{037CA6A8-5D65-6ED7-3980-33367D9A39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l="1615" r="53390"/>
            <a:stretch/>
          </p:blipFill>
          <p:spPr>
            <a:xfrm>
              <a:off x="2229277" y="3536185"/>
              <a:ext cx="519072" cy="1283633"/>
            </a:xfrm>
            <a:prstGeom prst="rect">
              <a:avLst/>
            </a:prstGeom>
          </p:spPr>
        </p:pic>
        <p:pic>
          <p:nvPicPr>
            <p:cNvPr id="1026" name="Picture 2" descr="Drone Immagini - Sfoglia 5,249,658 foto, vettoriali e video Stock | Adobe  Stock">
              <a:extLst>
                <a:ext uri="{FF2B5EF4-FFF2-40B4-BE49-F238E27FC236}">
                  <a16:creationId xmlns:a16="http://schemas.microsoft.com/office/drawing/2014/main" id="{578D7C2B-C333-E682-A7AA-49C11F0884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16" t="21397" r="7219" b="29857"/>
            <a:stretch/>
          </p:blipFill>
          <p:spPr bwMode="auto">
            <a:xfrm>
              <a:off x="487035" y="3833685"/>
              <a:ext cx="1716452" cy="769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CasellaDiTesto 1053">
            <a:extLst>
              <a:ext uri="{FF2B5EF4-FFF2-40B4-BE49-F238E27FC236}">
                <a16:creationId xmlns:a16="http://schemas.microsoft.com/office/drawing/2014/main" id="{5F1C941F-FFF2-853E-3E48-CD99380E7364}"/>
              </a:ext>
            </a:extLst>
          </p:cNvPr>
          <p:cNvSpPr txBox="1"/>
          <p:nvPr/>
        </p:nvSpPr>
        <p:spPr>
          <a:xfrm>
            <a:off x="7103879" y="1290435"/>
            <a:ext cx="20561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Rete di Monitoraggio </a:t>
            </a:r>
          </a:p>
          <a:p>
            <a:pPr algn="ctr"/>
            <a:r>
              <a:rPr lang="it-IT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Analisi del flusso video in tempo reale tramite Computer Vision e Artificial Intelligence </a:t>
            </a:r>
          </a:p>
          <a:p>
            <a:pPr algn="ctr"/>
            <a:endParaRPr lang="it-IT" sz="1400"/>
          </a:p>
        </p:txBody>
      </p:sp>
      <p:sp>
        <p:nvSpPr>
          <p:cNvPr id="54" name="Freeform 2">
            <a:extLst>
              <a:ext uri="{FF2B5EF4-FFF2-40B4-BE49-F238E27FC236}">
                <a16:creationId xmlns:a16="http://schemas.microsoft.com/office/drawing/2014/main" id="{C817DA74-B1B6-B9A6-CEEE-4C234B5E49A4}"/>
              </a:ext>
            </a:extLst>
          </p:cNvPr>
          <p:cNvSpPr/>
          <p:nvPr/>
        </p:nvSpPr>
        <p:spPr>
          <a:xfrm>
            <a:off x="3201358" y="1423324"/>
            <a:ext cx="455594" cy="370170"/>
          </a:xfrm>
          <a:custGeom>
            <a:avLst/>
            <a:gdLst/>
            <a:ahLst/>
            <a:cxnLst/>
            <a:rect l="l" t="t" r="r" b="b"/>
            <a:pathLst>
              <a:path w="5125588" h="4164540">
                <a:moveTo>
                  <a:pt x="0" y="0"/>
                </a:moveTo>
                <a:lnTo>
                  <a:pt x="5125588" y="0"/>
                </a:lnTo>
                <a:lnTo>
                  <a:pt x="5125588" y="4164540"/>
                </a:lnTo>
                <a:lnTo>
                  <a:pt x="0" y="416454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5" name="Freeform 2">
            <a:extLst>
              <a:ext uri="{FF2B5EF4-FFF2-40B4-BE49-F238E27FC236}">
                <a16:creationId xmlns:a16="http://schemas.microsoft.com/office/drawing/2014/main" id="{E26A2951-ADDA-A00F-3D5B-9D2D6E64A74A}"/>
              </a:ext>
            </a:extLst>
          </p:cNvPr>
          <p:cNvSpPr/>
          <p:nvPr/>
        </p:nvSpPr>
        <p:spPr>
          <a:xfrm>
            <a:off x="6303062" y="1383070"/>
            <a:ext cx="455594" cy="370170"/>
          </a:xfrm>
          <a:custGeom>
            <a:avLst/>
            <a:gdLst/>
            <a:ahLst/>
            <a:cxnLst/>
            <a:rect l="l" t="t" r="r" b="b"/>
            <a:pathLst>
              <a:path w="5125588" h="4164540">
                <a:moveTo>
                  <a:pt x="0" y="0"/>
                </a:moveTo>
                <a:lnTo>
                  <a:pt x="5125588" y="0"/>
                </a:lnTo>
                <a:lnTo>
                  <a:pt x="5125588" y="4164540"/>
                </a:lnTo>
                <a:lnTo>
                  <a:pt x="0" y="416454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6" name="Freeform 2">
            <a:extLst>
              <a:ext uri="{FF2B5EF4-FFF2-40B4-BE49-F238E27FC236}">
                <a16:creationId xmlns:a16="http://schemas.microsoft.com/office/drawing/2014/main" id="{4C567C1A-9369-6FFC-D149-F700FC377FBF}"/>
              </a:ext>
            </a:extLst>
          </p:cNvPr>
          <p:cNvSpPr/>
          <p:nvPr/>
        </p:nvSpPr>
        <p:spPr>
          <a:xfrm>
            <a:off x="9505285" y="1386759"/>
            <a:ext cx="455594" cy="370170"/>
          </a:xfrm>
          <a:custGeom>
            <a:avLst/>
            <a:gdLst/>
            <a:ahLst/>
            <a:cxnLst/>
            <a:rect l="l" t="t" r="r" b="b"/>
            <a:pathLst>
              <a:path w="5125588" h="4164540">
                <a:moveTo>
                  <a:pt x="0" y="0"/>
                </a:moveTo>
                <a:lnTo>
                  <a:pt x="5125588" y="0"/>
                </a:lnTo>
                <a:lnTo>
                  <a:pt x="5125588" y="4164540"/>
                </a:lnTo>
                <a:lnTo>
                  <a:pt x="0" y="416454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0BD5638-0826-1C53-7E1F-A7D0FAE1129F}"/>
              </a:ext>
            </a:extLst>
          </p:cNvPr>
          <p:cNvGrpSpPr/>
          <p:nvPr/>
        </p:nvGrpSpPr>
        <p:grpSpPr>
          <a:xfrm>
            <a:off x="10117329" y="1903881"/>
            <a:ext cx="1542440" cy="4117044"/>
            <a:chOff x="10245929" y="2020798"/>
            <a:chExt cx="1542440" cy="4117044"/>
          </a:xfrm>
        </p:grpSpPr>
        <p:pic>
          <p:nvPicPr>
            <p:cNvPr id="17" name="Picture 12" descr="Graphic designer - Free people icons">
              <a:extLst>
                <a:ext uri="{FF2B5EF4-FFF2-40B4-BE49-F238E27FC236}">
                  <a16:creationId xmlns:a16="http://schemas.microsoft.com/office/drawing/2014/main" id="{F3A2F33F-65C9-25A4-5EC3-7C5A22941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565563" y="3354893"/>
              <a:ext cx="903172" cy="903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CasellaDiTesto 1053">
              <a:extLst>
                <a:ext uri="{FF2B5EF4-FFF2-40B4-BE49-F238E27FC236}">
                  <a16:creationId xmlns:a16="http://schemas.microsoft.com/office/drawing/2014/main" id="{EF8B4C95-7CC4-3273-3C21-09CC2DD49FBC}"/>
                </a:ext>
              </a:extLst>
            </p:cNvPr>
            <p:cNvSpPr txBox="1"/>
            <p:nvPr/>
          </p:nvSpPr>
          <p:spPr>
            <a:xfrm>
              <a:off x="10336474" y="4286329"/>
              <a:ext cx="13613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>
                  <a:solidFill>
                    <a:schemeClr val="bg2">
                      <a:lumMod val="50000"/>
                    </a:schemeClr>
                  </a:solidFill>
                </a:rPr>
                <a:t>Office Monitoring site (HMI)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5F47EC9-E99D-854A-D797-51883D389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594487" y="2020798"/>
              <a:ext cx="845325" cy="969790"/>
            </a:xfrm>
            <a:prstGeom prst="rect">
              <a:avLst/>
            </a:prstGeom>
          </p:spPr>
        </p:pic>
        <p:sp>
          <p:nvSpPr>
            <p:cNvPr id="57" name="CasellaDiTesto 1053">
              <a:extLst>
                <a:ext uri="{FF2B5EF4-FFF2-40B4-BE49-F238E27FC236}">
                  <a16:creationId xmlns:a16="http://schemas.microsoft.com/office/drawing/2014/main" id="{7DCFE6E7-1038-8C17-A362-59D63AACE7C9}"/>
                </a:ext>
              </a:extLst>
            </p:cNvPr>
            <p:cNvSpPr txBox="1"/>
            <p:nvPr/>
          </p:nvSpPr>
          <p:spPr>
            <a:xfrm>
              <a:off x="10461688" y="3018852"/>
              <a:ext cx="11109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>
                  <a:solidFill>
                    <a:schemeClr val="bg2">
                      <a:lumMod val="50000"/>
                    </a:schemeClr>
                  </a:solidFill>
                </a:rPr>
                <a:t>App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23FBF9D-54CC-D187-9F48-72BD7704F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639732" y="5053257"/>
              <a:ext cx="754835" cy="748545"/>
            </a:xfrm>
            <a:prstGeom prst="rect">
              <a:avLst/>
            </a:prstGeom>
          </p:spPr>
        </p:pic>
        <p:sp>
          <p:nvSpPr>
            <p:cNvPr id="26" name="CasellaDiTesto 1053">
              <a:extLst>
                <a:ext uri="{FF2B5EF4-FFF2-40B4-BE49-F238E27FC236}">
                  <a16:creationId xmlns:a16="http://schemas.microsoft.com/office/drawing/2014/main" id="{ECF7791D-7061-ED26-1F16-3D61DBBFBA46}"/>
                </a:ext>
              </a:extLst>
            </p:cNvPr>
            <p:cNvSpPr txBox="1"/>
            <p:nvPr/>
          </p:nvSpPr>
          <p:spPr>
            <a:xfrm>
              <a:off x="10245929" y="5830065"/>
              <a:ext cx="15424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>
                  <a:solidFill>
                    <a:schemeClr val="bg2">
                      <a:lumMod val="50000"/>
                    </a:schemeClr>
                  </a:solidFill>
                </a:rPr>
                <a:t>Altoparlanti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3466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8C8F71-E5EF-C0E7-76D7-9157AD5C3872}"/>
              </a:ext>
            </a:extLst>
          </p:cNvPr>
          <p:cNvCxnSpPr>
            <a:cxnSpLocks/>
          </p:cNvCxnSpPr>
          <p:nvPr/>
        </p:nvCxnSpPr>
        <p:spPr>
          <a:xfrm>
            <a:off x="9971161" y="4702234"/>
            <a:ext cx="1035444" cy="4814"/>
          </a:xfrm>
          <a:prstGeom prst="line">
            <a:avLst/>
          </a:prstGeom>
          <a:ln w="571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EA87AD6-F42C-9A9A-832C-20904EC22EBC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Monitoraggio movimento dei veicoli</a:t>
            </a:r>
          </a:p>
        </p:txBody>
      </p:sp>
      <p:pic>
        <p:nvPicPr>
          <p:cNvPr id="11" name="Picture 10" descr="A green circle with a black and white camera&#10;&#10;Description automatically generated">
            <a:extLst>
              <a:ext uri="{FF2B5EF4-FFF2-40B4-BE49-F238E27FC236}">
                <a16:creationId xmlns:a16="http://schemas.microsoft.com/office/drawing/2014/main" id="{A51C7C40-26BB-5C1C-5816-CE88F6E8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300" y="9182979"/>
            <a:ext cx="1649186" cy="166551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108EEAB-EAAA-7F77-C392-FE9692211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924" y="1167227"/>
            <a:ext cx="3361114" cy="1995152"/>
          </a:xfrm>
          <a:prstGeom prst="rect">
            <a:avLst/>
          </a:prstGeom>
          <a:ln>
            <a:solidFill>
              <a:srgbClr val="272D36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87BE1AF-E512-8E49-9BF5-A9DEB1CB0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3688" y="1164583"/>
            <a:ext cx="3536861" cy="1995152"/>
          </a:xfrm>
          <a:prstGeom prst="rect">
            <a:avLst/>
          </a:prstGeom>
          <a:ln>
            <a:solidFill>
              <a:srgbClr val="272D36"/>
            </a:solidFill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06C4231-A032-FC18-FC86-0028154AEA10}"/>
              </a:ext>
            </a:extLst>
          </p:cNvPr>
          <p:cNvSpPr txBox="1"/>
          <p:nvPr/>
        </p:nvSpPr>
        <p:spPr>
          <a:xfrm>
            <a:off x="333284" y="3440581"/>
            <a:ext cx="5244322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Una volta rilevato un mezzo pesante in movimento, si definirà una zona ad alto rischio.</a:t>
            </a:r>
          </a:p>
          <a:p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All’interno o in prossimità di una zona ad alto rischio verranno emesse </a:t>
            </a:r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segnalazioni sonore con un altoparlante.</a:t>
            </a:r>
          </a:p>
          <a:p>
            <a:endParaRPr lang="it-IT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Sarà inoltre visibile una </a:t>
            </a:r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Dashboard con una mappa delle diverse zone </a:t>
            </a:r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aggiornata in tempo reale, con l’indicazione del relativo stato di allerta.</a:t>
            </a:r>
            <a:endParaRPr lang="it-IT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F7EB1B-2E68-6AA5-9435-1321ADC03C92}"/>
              </a:ext>
            </a:extLst>
          </p:cNvPr>
          <p:cNvSpPr txBox="1"/>
          <p:nvPr/>
        </p:nvSpPr>
        <p:spPr>
          <a:xfrm>
            <a:off x="328321" y="1136515"/>
            <a:ext cx="43626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Tramite la rete di monitoraggio, Il movimento dei veicoli viene rilevato e crea </a:t>
            </a:r>
            <a:r>
              <a:rPr lang="it-IT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una zona ad alto rischio mobile.</a:t>
            </a:r>
          </a:p>
          <a:p>
            <a:endParaRPr lang="it-IT" b="1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it-IT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 il riconoscimento dei veicoli pesanti sarà addestrata appositamente una Rete Neurale Convoluzionale.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7741DD-CA02-3C5E-E860-D653B7F7BA6B}"/>
              </a:ext>
            </a:extLst>
          </p:cNvPr>
          <p:cNvGrpSpPr/>
          <p:nvPr/>
        </p:nvGrpSpPr>
        <p:grpSpPr>
          <a:xfrm>
            <a:off x="5641177" y="3735666"/>
            <a:ext cx="3612386" cy="1995152"/>
            <a:chOff x="2637446" y="993595"/>
            <a:chExt cx="4625888" cy="255058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54D6792-9024-2A9D-2438-F24B63B5D99E}"/>
                </a:ext>
              </a:extLst>
            </p:cNvPr>
            <p:cNvGrpSpPr>
              <a:grpSpLocks/>
            </p:cNvGrpSpPr>
            <p:nvPr/>
          </p:nvGrpSpPr>
          <p:grpSpPr>
            <a:xfrm>
              <a:off x="2637446" y="993595"/>
              <a:ext cx="4228497" cy="2550584"/>
              <a:chOff x="3044371" y="1143755"/>
              <a:chExt cx="4228497" cy="255058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26A0DDD-FA62-5283-E1B6-0F07F2D37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44371" y="1143755"/>
                <a:ext cx="4228497" cy="2550584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6" name="Freeform 4">
                <a:extLst>
                  <a:ext uri="{FF2B5EF4-FFF2-40B4-BE49-F238E27FC236}">
                    <a16:creationId xmlns:a16="http://schemas.microsoft.com/office/drawing/2014/main" id="{22D1A2A5-3A0F-C85B-66E0-8842D29A91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01890" y="2206655"/>
                <a:ext cx="430456" cy="430456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alphaModFix amt="80000"/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65B8D8B9-A241-E074-AED5-8143C94FB4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8210" y="2206654"/>
                <a:ext cx="437795" cy="43779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alphaModFix amt="80000"/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Freeform 4">
                <a:extLst>
                  <a:ext uri="{FF2B5EF4-FFF2-40B4-BE49-F238E27FC236}">
                    <a16:creationId xmlns:a16="http://schemas.microsoft.com/office/drawing/2014/main" id="{8A6C3CA1-70A4-4016-A6F1-54D3868453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47727" y="2254394"/>
                <a:ext cx="44907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>
                  <a:alphaModFix amt="80000"/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Freeform 5">
                <a:extLst>
                  <a:ext uri="{FF2B5EF4-FFF2-40B4-BE49-F238E27FC236}">
                    <a16:creationId xmlns:a16="http://schemas.microsoft.com/office/drawing/2014/main" id="{129E84E9-9359-4803-5A1B-789D898FD4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44067" y="2254394"/>
                <a:ext cx="45273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alphaModFix amt="80000"/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F451C282-89FA-E6F8-0B5E-CD61ADDB2E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99904" y="2839185"/>
                <a:ext cx="44907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alphaModFix amt="80000"/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90FED462-2F2A-05EE-F3F1-488C3F66A7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96244" y="2839185"/>
                <a:ext cx="452735" cy="45273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4114800">
                    <a:moveTo>
                      <a:pt x="0" y="0"/>
                    </a:moveTo>
                    <a:lnTo>
                      <a:pt x="4114800" y="0"/>
                    </a:lnTo>
                    <a:lnTo>
                      <a:pt x="4114800" y="4114800"/>
                    </a:lnTo>
                    <a:lnTo>
                      <a:pt x="0" y="4114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alphaModFix amt="80000"/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F253255-D65C-26C4-2A7B-664E4E9005BC}"/>
                </a:ext>
              </a:extLst>
            </p:cNvPr>
            <p:cNvSpPr/>
            <p:nvPr/>
          </p:nvSpPr>
          <p:spPr>
            <a:xfrm>
              <a:off x="4209690" y="1149657"/>
              <a:ext cx="412983" cy="412983"/>
            </a:xfrm>
            <a:custGeom>
              <a:avLst/>
              <a:gdLst/>
              <a:ahLst/>
              <a:cxnLst/>
              <a:rect l="l" t="t" r="r" b="b"/>
              <a:pathLst>
                <a:path w="4114800" h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8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CD924A48-17FF-5978-F97D-CF8D01FC4F46}"/>
                </a:ext>
              </a:extLst>
            </p:cNvPr>
            <p:cNvSpPr/>
            <p:nvPr/>
          </p:nvSpPr>
          <p:spPr>
            <a:xfrm>
              <a:off x="4209690" y="1149657"/>
              <a:ext cx="412983" cy="412983"/>
            </a:xfrm>
            <a:custGeom>
              <a:avLst/>
              <a:gdLst/>
              <a:ahLst/>
              <a:cxnLst/>
              <a:rect l="l" t="t" r="r" b="b"/>
              <a:pathLst>
                <a:path w="4114800" h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8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75BDC58-A9BF-8459-F179-DC09DD8A750A}"/>
                </a:ext>
              </a:extLst>
            </p:cNvPr>
            <p:cNvCxnSpPr>
              <a:cxnSpLocks/>
            </p:cNvCxnSpPr>
            <p:nvPr/>
          </p:nvCxnSpPr>
          <p:spPr>
            <a:xfrm>
              <a:off x="5530517" y="2572534"/>
              <a:ext cx="1721869" cy="0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53DC50-6074-685A-9B56-9CA02417A4C9}"/>
                </a:ext>
              </a:extLst>
            </p:cNvPr>
            <p:cNvCxnSpPr>
              <a:cxnSpLocks/>
            </p:cNvCxnSpPr>
            <p:nvPr/>
          </p:nvCxnSpPr>
          <p:spPr>
            <a:xfrm>
              <a:off x="4782694" y="2996497"/>
              <a:ext cx="2469692" cy="0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5618A86-91DD-1B9F-91FB-D42FA67AE6A2}"/>
                </a:ext>
              </a:extLst>
            </p:cNvPr>
            <p:cNvCxnSpPr>
              <a:cxnSpLocks/>
            </p:cNvCxnSpPr>
            <p:nvPr/>
          </p:nvCxnSpPr>
          <p:spPr>
            <a:xfrm>
              <a:off x="3159760" y="2024424"/>
              <a:ext cx="4095745" cy="3841"/>
            </a:xfrm>
            <a:prstGeom prst="line">
              <a:avLst/>
            </a:prstGeom>
            <a:ln w="57150" cap="flat" cmpd="sng" algn="ctr">
              <a:solidFill>
                <a:srgbClr val="272D36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EDB4EEE-C92A-3867-FC85-FABB849BA00E}"/>
                </a:ext>
              </a:extLst>
            </p:cNvPr>
            <p:cNvCxnSpPr>
              <a:cxnSpLocks/>
            </p:cNvCxnSpPr>
            <p:nvPr/>
          </p:nvCxnSpPr>
          <p:spPr>
            <a:xfrm>
              <a:off x="4704080" y="1366308"/>
              <a:ext cx="2559254" cy="0"/>
            </a:xfrm>
            <a:prstGeom prst="line">
              <a:avLst/>
            </a:prstGeom>
            <a:ln w="57150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E235A52-1174-A05C-BE8A-C14C7951BAF2}"/>
                </a:ext>
              </a:extLst>
            </p:cNvPr>
            <p:cNvCxnSpPr>
              <a:cxnSpLocks/>
            </p:cNvCxnSpPr>
            <p:nvPr/>
          </p:nvCxnSpPr>
          <p:spPr>
            <a:xfrm>
              <a:off x="7263334" y="1328420"/>
              <a:ext cx="0" cy="169672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1CEFD53-D82E-B867-9A80-CC9D5690782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23862" y="4332186"/>
            <a:ext cx="837469" cy="6580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A4BB6B-6F96-AD25-3A6C-8543D70B8C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48149" y="4274394"/>
            <a:ext cx="862870" cy="85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4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8AE4C5-BEBF-2DB3-175A-7538740A3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60808"/>
              </p:ext>
            </p:extLst>
          </p:nvPr>
        </p:nvGraphicFramePr>
        <p:xfrm>
          <a:off x="334962" y="-182881"/>
          <a:ext cx="11522075" cy="3516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BC8D733E-ED74-EF6D-F203-389F53DEAD93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Riconoscimento DPI tramite AI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FD8D1-5A2D-1A31-1955-4D521BD7324D}"/>
              </a:ext>
            </a:extLst>
          </p:cNvPr>
          <p:cNvSpPr txBox="1"/>
          <p:nvPr/>
        </p:nvSpPr>
        <p:spPr>
          <a:xfrm>
            <a:off x="341108" y="2081823"/>
            <a:ext cx="1670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Acquisizione </a:t>
            </a:r>
            <a:r>
              <a:rPr lang="it-IT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 segnale video e </a:t>
            </a:r>
            <a:r>
              <a:rPr lang="it-IT" sz="12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Analisi</a:t>
            </a:r>
            <a:r>
              <a:rPr lang="it-IT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 parte del centro di calcolo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C2AB4F-8366-C87F-0E91-D76D3950619F}"/>
              </a:ext>
            </a:extLst>
          </p:cNvPr>
          <p:cNvGrpSpPr/>
          <p:nvPr/>
        </p:nvGrpSpPr>
        <p:grpSpPr>
          <a:xfrm>
            <a:off x="2553901" y="2081823"/>
            <a:ext cx="2191794" cy="3419429"/>
            <a:chOff x="2604799" y="2144883"/>
            <a:chExt cx="2191794" cy="34194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654376-48E6-57DF-EFB8-F47826ACFD95}"/>
                </a:ext>
              </a:extLst>
            </p:cNvPr>
            <p:cNvGrpSpPr/>
            <p:nvPr/>
          </p:nvGrpSpPr>
          <p:grpSpPr>
            <a:xfrm>
              <a:off x="2604799" y="3647189"/>
              <a:ext cx="2191794" cy="1917123"/>
              <a:chOff x="2465440" y="3977785"/>
              <a:chExt cx="2191794" cy="191712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E987FFA-3D3B-9F4B-52AC-8B16893CE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5440" y="5140869"/>
                <a:ext cx="1077578" cy="723827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BC85E571-61E4-4762-DF2A-E367900EB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5983" y="5143869"/>
                <a:ext cx="1061251" cy="751039"/>
              </a:xfrm>
              <a:prstGeom prst="rect">
                <a:avLst/>
              </a:prstGeom>
            </p:spPr>
          </p:pic>
          <p:pic>
            <p:nvPicPr>
              <p:cNvPr id="9" name="Picture 8" descr="A group of people walking on a sidewalk&#10;&#10;Description automatically generated">
                <a:extLst>
                  <a:ext uri="{FF2B5EF4-FFF2-40B4-BE49-F238E27FC236}">
                    <a16:creationId xmlns:a16="http://schemas.microsoft.com/office/drawing/2014/main" id="{C6A06EAF-CAF6-7DF1-32E5-620D0203E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01317" y="3977785"/>
                <a:ext cx="2094218" cy="1080391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9E8AAF-1AFC-6F36-ACC7-C0AA36E0112A}"/>
                </a:ext>
              </a:extLst>
            </p:cNvPr>
            <p:cNvSpPr txBox="1"/>
            <p:nvPr/>
          </p:nvSpPr>
          <p:spPr>
            <a:xfrm>
              <a:off x="2734784" y="2144883"/>
              <a:ext cx="1972476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Elaborazione Immagine:</a:t>
              </a: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 viene rilevata una persona, viene disegnata una </a:t>
              </a:r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bounding box</a:t>
              </a: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intorno a essa, mostrando la posizione e le dimensioni dell'oggetto individuato.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8EA020-92C2-D62A-50C7-15D3CB653CD1}"/>
              </a:ext>
            </a:extLst>
          </p:cNvPr>
          <p:cNvGrpSpPr/>
          <p:nvPr/>
        </p:nvGrpSpPr>
        <p:grpSpPr>
          <a:xfrm>
            <a:off x="7562139" y="2081823"/>
            <a:ext cx="2353984" cy="5078313"/>
            <a:chOff x="7684034" y="2144883"/>
            <a:chExt cx="2353984" cy="507831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468783-8E5F-C0E6-F48E-AAC6EAB09FC7}"/>
                </a:ext>
              </a:extLst>
            </p:cNvPr>
            <p:cNvSpPr txBox="1"/>
            <p:nvPr/>
          </p:nvSpPr>
          <p:spPr>
            <a:xfrm>
              <a:off x="7684034" y="2144883"/>
              <a:ext cx="2040083" cy="507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 base ai key points acquisiti, sarà adottata una strategia d’isolamento delle </a:t>
              </a:r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zone d’interesse</a:t>
              </a: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che, nella nostra applicazione</a:t>
              </a:r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coincidono con la parte del corpo in cui ci aspettiamo di trovare il DPI .</a:t>
              </a: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Ad esempio conoscendo la posizione relativa alle orecchie, sarà facile individuare la poszione del casco attesa, a prescindere dalla postura dell’operatore.</a:t>
              </a:r>
            </a:p>
            <a:p>
              <a:endParaRPr lang="it-IT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 zone di interesse saranno: </a:t>
              </a: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Occhi -&gt; Occhiali</a:t>
              </a: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Naso/Bocca -&gt; Maschera</a:t>
              </a: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Mani -&gt; Guanti</a:t>
              </a: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Torace -&gt; Veste</a:t>
              </a:r>
            </a:p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Piedi -&gt; Stivali</a:t>
              </a:r>
            </a:p>
            <a:p>
              <a:endParaRPr lang="it-IT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endParaRPr lang="it-IT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endParaRPr lang="it-IT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endParaRPr lang="it-IT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21" name="Picture 20" descr="A sign on a metal gate&#10;&#10;Description automatically generated">
              <a:extLst>
                <a:ext uri="{FF2B5EF4-FFF2-40B4-BE49-F238E27FC236}">
                  <a16:creationId xmlns:a16="http://schemas.microsoft.com/office/drawing/2014/main" id="{4197CB21-AC46-FB12-0AAB-295C07F4B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20" t="18305" r="19599" b="48297"/>
            <a:stretch/>
          </p:blipFill>
          <p:spPr>
            <a:xfrm>
              <a:off x="8879692" y="5875288"/>
              <a:ext cx="1158326" cy="80367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5F43B07-4D35-CA89-FC5D-A1B647719CD4}"/>
              </a:ext>
            </a:extLst>
          </p:cNvPr>
          <p:cNvGrpSpPr/>
          <p:nvPr/>
        </p:nvGrpSpPr>
        <p:grpSpPr>
          <a:xfrm>
            <a:off x="10040918" y="2081823"/>
            <a:ext cx="1757432" cy="4206750"/>
            <a:chOff x="10137256" y="2160890"/>
            <a:chExt cx="1757432" cy="420675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4B3158C-2983-5845-E459-07734A3DA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137256" y="2955676"/>
              <a:ext cx="1339001" cy="10699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F042D9-3FDA-4973-DE65-0E89F79CDEC9}"/>
                </a:ext>
              </a:extLst>
            </p:cNvPr>
            <p:cNvSpPr txBox="1"/>
            <p:nvPr/>
          </p:nvSpPr>
          <p:spPr>
            <a:xfrm>
              <a:off x="10137256" y="2160890"/>
              <a:ext cx="17555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Riceverà in ingresso immagini ritagliate e circoscritte della zona d’interesse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0604CD-6F3C-94B4-D0A3-D0C535D56363}"/>
                </a:ext>
              </a:extLst>
            </p:cNvPr>
            <p:cNvSpPr txBox="1"/>
            <p:nvPr/>
          </p:nvSpPr>
          <p:spPr>
            <a:xfrm>
              <a:off x="10137256" y="4059316"/>
              <a:ext cx="1757432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Il sistema utilizza una </a:t>
              </a:r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Rete Neurale Convoluzionale (CNN)</a:t>
              </a: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per classificare ciascuna regione come appartenente a una delle due classi: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DPI</a:t>
              </a: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(presenza del dispositivo di protezione)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</a:t>
              </a:r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non-DPI</a:t>
              </a: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(assenza del dispositivo)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01BDC6-51A4-0BB5-1679-AA22C5601DCF}"/>
              </a:ext>
            </a:extLst>
          </p:cNvPr>
          <p:cNvGrpSpPr/>
          <p:nvPr/>
        </p:nvGrpSpPr>
        <p:grpSpPr>
          <a:xfrm>
            <a:off x="5134584" y="2092466"/>
            <a:ext cx="2201896" cy="4215492"/>
            <a:chOff x="5273665" y="2155526"/>
            <a:chExt cx="2201896" cy="421549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36859FA-63E2-1EF5-7D27-A11A8D4E2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096" b="5646"/>
            <a:stretch/>
          </p:blipFill>
          <p:spPr>
            <a:xfrm>
              <a:off x="6475230" y="2209712"/>
              <a:ext cx="1000331" cy="166944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E57EFBB-A562-DA94-91CB-F1F68371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69362" y="4181278"/>
              <a:ext cx="1542841" cy="110570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0D73F81-45D5-560C-9E7B-04B10EE98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410" t="6215" r="2038" b="2801"/>
            <a:stretch/>
          </p:blipFill>
          <p:spPr>
            <a:xfrm>
              <a:off x="5369362" y="5379558"/>
              <a:ext cx="1542841" cy="99146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872823B-AD1E-9F3F-BD3A-DA40B53FF2A0}"/>
                </a:ext>
              </a:extLst>
            </p:cNvPr>
            <p:cNvSpPr txBox="1"/>
            <p:nvPr/>
          </p:nvSpPr>
          <p:spPr>
            <a:xfrm>
              <a:off x="5273665" y="2155526"/>
              <a:ext cx="1287303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Vengono identificati i </a:t>
              </a:r>
              <a:r>
                <a:rPr lang="it-IT" sz="12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punti chiave del corpo umano </a:t>
              </a:r>
              <a:r>
                <a:rPr lang="it-IT" sz="1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presente in un'immagine. Ogni punto corrisponde a una specifica parte del corpo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F45CA1B-6153-AE32-4EA6-C00AF7D4DF7D}"/>
              </a:ext>
            </a:extLst>
          </p:cNvPr>
          <p:cNvSpPr/>
          <p:nvPr/>
        </p:nvSpPr>
        <p:spPr>
          <a:xfrm>
            <a:off x="359398" y="3351716"/>
            <a:ext cx="2040083" cy="28658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Addestramento della Rete: </a:t>
            </a:r>
          </a:p>
          <a:p>
            <a:pPr algn="ctr"/>
            <a:r>
              <a:rPr lang="it-IT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 dataset opensource</a:t>
            </a:r>
          </a:p>
          <a:p>
            <a:pPr algn="ctr"/>
            <a:r>
              <a:rPr lang="it-IT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con i dati acquisiti una volta installate le telecamere</a:t>
            </a:r>
          </a:p>
        </p:txBody>
      </p:sp>
    </p:spTree>
    <p:extLst>
      <p:ext uri="{BB962C8B-B14F-4D97-AF65-F5344CB8AC3E}">
        <p14:creationId xmlns:p14="http://schemas.microsoft.com/office/powerpoint/2010/main" val="233064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38D5-2A50-6A2F-B579-8DE054770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052512"/>
            <a:ext cx="5357177" cy="2376488"/>
          </a:xfrm>
        </p:spPr>
        <p:txBody>
          <a:bodyPr/>
          <a:lstStyle/>
          <a:p>
            <a:pPr marL="0" indent="0">
              <a:buNone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Come architetturale neurale per i task di object detection in tempo reale (sia per i veicoli pesanti e sia per il rilevamento delle persone) utilizzeremo </a:t>
            </a:r>
            <a:r>
              <a:rPr lang="it-IT" sz="1600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YOLO ( You Only Look Once)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che rappresenta la migliore soluzione allo stato dell’arte in termini di velocità e accuratezza.</a:t>
            </a:r>
          </a:p>
          <a:p>
            <a:pPr marL="0" indent="0">
              <a:buNone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YOLO è un metodo di </a:t>
            </a:r>
            <a:r>
              <a:rPr lang="it-IT" sz="1600" b="1" i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object detection 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 tratta l'individuazione degli oggetti come un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problema di regressione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prevedendo simultaneamente le bounding box e le classi in un'unica soluzione end-to-end.</a:t>
            </a:r>
          </a:p>
          <a:p>
            <a:pPr marL="0" indent="0">
              <a:buNone/>
            </a:pPr>
            <a:endParaRPr lang="it-IT" sz="160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0B826647-1C7F-648C-0DC7-0FA7CB5B11AC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Riconoscimento DPI tramite AI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9541BE-ABF5-E60E-33CC-6AB2ABF87EA3}"/>
              </a:ext>
            </a:extLst>
          </p:cNvPr>
          <p:cNvSpPr txBox="1">
            <a:spLocks/>
          </p:cNvSpPr>
          <p:nvPr/>
        </p:nvSpPr>
        <p:spPr>
          <a:xfrm>
            <a:off x="334963" y="2811745"/>
            <a:ext cx="5761037" cy="1483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18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12203C6-A40D-B36B-099F-F21D64D232C8}"/>
              </a:ext>
            </a:extLst>
          </p:cNvPr>
          <p:cNvSpPr txBox="1">
            <a:spLocks/>
          </p:cNvSpPr>
          <p:nvPr/>
        </p:nvSpPr>
        <p:spPr>
          <a:xfrm>
            <a:off x="6437626" y="4295739"/>
            <a:ext cx="5419412" cy="208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Velocità</a:t>
            </a:r>
            <a:r>
              <a:rPr lang="it-IT" sz="16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Poiché l'intera immagine viene analizzata una sola volta, YOLO è estremamente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veloce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permettendo di eseguire il rilevamento in tempo reale.</a:t>
            </a:r>
          </a:p>
          <a:p>
            <a:r>
              <a:rPr lang="it-IT" sz="1600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Visione globale dell'immagine</a:t>
            </a:r>
            <a:r>
              <a:rPr lang="it-IT" sz="16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differenza di altri metodi che analizzano singole regioni, YOLO vede l'intera immagine durante l'addestramento e il test, rendendo il sistema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meno incline ai falsi positivi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4B33B15-3436-67D0-0AB3-BA6741C42BFB}"/>
              </a:ext>
            </a:extLst>
          </p:cNvPr>
          <p:cNvSpPr txBox="1">
            <a:spLocks/>
          </p:cNvSpPr>
          <p:nvPr/>
        </p:nvSpPr>
        <p:spPr>
          <a:xfrm>
            <a:off x="535191" y="4404941"/>
            <a:ext cx="5761037" cy="1483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t-IT" sz="180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3025E4B-26FB-014C-EBEE-0371C7D39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49" y="3689939"/>
            <a:ext cx="4173711" cy="257751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0197F68-C2AA-B072-3E39-57234BCF5D0A}"/>
              </a:ext>
            </a:extLst>
          </p:cNvPr>
          <p:cNvSpPr txBox="1"/>
          <p:nvPr/>
        </p:nvSpPr>
        <p:spPr>
          <a:xfrm>
            <a:off x="6096000" y="1052512"/>
            <a:ext cx="574470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Suddivide l'immagine in una griglia e assegna a ciascuna cella la responsabilità di rilevare un oggetto se il centro cade in quella cella.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Prevede più bounding box per ogni cella, insieme a un punteggio di confidenza, che indica la probabilità della presenza dell'oggetto.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rete stima anche le probabilità di classe per ciascuna box.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risultati vengono interpretati combinando le previsioni, e la Non-Maximum Suppression (NMS) rimuove le box duplicate per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garantire che ogni oggetto sia rilevato una sola volta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2868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EAC53-CA90-2C66-DB91-644368F25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062018"/>
            <a:ext cx="6084214" cy="2452981"/>
          </a:xfrm>
          <a:noFill/>
        </p:spPr>
        <p:txBody>
          <a:bodyPr/>
          <a:lstStyle/>
          <a:p>
            <a:pPr marL="0" indent="0">
              <a:buNone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tecnologia di monitoraggio rappresenta un abilitatore di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sostenibilità sociale 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sicurezza sul lavoro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È possibile infatti controllare l’accesso a zone ad alto rischio, impedendo l’ingresso in aree specifiche nel caso in cui l'operatore non indossi i DPI necessari.</a:t>
            </a:r>
          </a:p>
          <a:p>
            <a:pPr marL="0" indent="0">
              <a:buNone/>
            </a:pPr>
            <a:r>
              <a:rPr lang="it-IT" sz="16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Nello stabilimento di Self Garden ci sono zone di conservazione di sostanze pericolose. Per queste zone la lista dei DPI necessari è più lunga rispetto ad altre e il rischio di infortunio è più elevato.</a:t>
            </a:r>
          </a:p>
          <a:p>
            <a:pPr marL="0" indent="0">
              <a:buNone/>
            </a:pPr>
            <a:r>
              <a:rPr lang="it-IT" sz="160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soluzione che verrà implementata prevede:</a:t>
            </a:r>
          </a:p>
        </p:txBody>
      </p:sp>
      <p:pic>
        <p:nvPicPr>
          <p:cNvPr id="8" name="Picture 7" descr="A large container with a warning sign&#10;&#10;Description automatically generated">
            <a:extLst>
              <a:ext uri="{FF2B5EF4-FFF2-40B4-BE49-F238E27FC236}">
                <a16:creationId xmlns:a16="http://schemas.microsoft.com/office/drawing/2014/main" id="{E2796645-B23B-E370-459F-4BC0F177C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2" b="15799"/>
          <a:stretch/>
        </p:blipFill>
        <p:spPr>
          <a:xfrm>
            <a:off x="9307665" y="1119168"/>
            <a:ext cx="2475992" cy="25195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FCC078C3-5183-DBD7-FD11-39E77E7A6879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accesso Controllato a zone ad alto rischio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97F116-26F9-889B-B246-BAE970EF2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820" y="5003579"/>
            <a:ext cx="655554" cy="145518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3731FE7-8684-AD61-F2AD-D3AD3C40A190}"/>
              </a:ext>
            </a:extLst>
          </p:cNvPr>
          <p:cNvGrpSpPr/>
          <p:nvPr/>
        </p:nvGrpSpPr>
        <p:grpSpPr>
          <a:xfrm>
            <a:off x="3537646" y="5118024"/>
            <a:ext cx="4072693" cy="1323440"/>
            <a:chOff x="3653149" y="4589639"/>
            <a:chExt cx="4238449" cy="1377303"/>
          </a:xfrm>
        </p:grpSpPr>
        <p:pic>
          <p:nvPicPr>
            <p:cNvPr id="13" name="Picture 12" descr="A sign on a metal gate&#10;&#10;Description automatically generated">
              <a:extLst>
                <a:ext uri="{FF2B5EF4-FFF2-40B4-BE49-F238E27FC236}">
                  <a16:creationId xmlns:a16="http://schemas.microsoft.com/office/drawing/2014/main" id="{89B507BE-5379-E8EA-13D1-90CC139AF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20" t="18305" r="19599" b="48297"/>
            <a:stretch/>
          </p:blipFill>
          <p:spPr>
            <a:xfrm>
              <a:off x="5984131" y="4589639"/>
              <a:ext cx="1907467" cy="132343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64A2B9-9D93-D473-EAD0-B557E39EC875}"/>
                </a:ext>
              </a:extLst>
            </p:cNvPr>
            <p:cNvSpPr txBox="1"/>
            <p:nvPr/>
          </p:nvSpPr>
          <p:spPr>
            <a:xfrm>
              <a:off x="3653149" y="4589640"/>
              <a:ext cx="2262189" cy="1377302"/>
            </a:xfrm>
            <a:prstGeom prst="rect">
              <a:avLst/>
            </a:prstGeom>
            <a:noFill/>
            <a:ln>
              <a:solidFill>
                <a:srgbClr val="1B437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it-IT" sz="16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L’operatore indossa </a:t>
              </a:r>
              <a:r>
                <a:rPr lang="it-IT" sz="16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correttamente tutti i DPI necessari </a:t>
              </a:r>
              <a:r>
                <a:rPr lang="it-IT" sz="16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ad accedere a quella zona?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22A0D9-E941-A427-6C92-A17EA1FAAE28}"/>
              </a:ext>
            </a:extLst>
          </p:cNvPr>
          <p:cNvGrpSpPr/>
          <p:nvPr/>
        </p:nvGrpSpPr>
        <p:grpSpPr>
          <a:xfrm>
            <a:off x="8480530" y="5075762"/>
            <a:ext cx="3198213" cy="1323439"/>
            <a:chOff x="8463516" y="4603799"/>
            <a:chExt cx="3961865" cy="137730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F16030-111F-5CA1-7C3A-89531B8BDC54}"/>
                </a:ext>
              </a:extLst>
            </p:cNvPr>
            <p:cNvSpPr txBox="1"/>
            <p:nvPr/>
          </p:nvSpPr>
          <p:spPr>
            <a:xfrm>
              <a:off x="8824837" y="4603799"/>
              <a:ext cx="3600544" cy="1377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Sì</a:t>
              </a:r>
              <a:r>
                <a:rPr lang="it-IT" sz="16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il lucchetto si apre</a:t>
              </a:r>
            </a:p>
            <a:p>
              <a:endParaRPr lang="it-IT" sz="1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r>
                <a:rPr lang="it-IT" sz="16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No</a:t>
              </a:r>
              <a:r>
                <a:rPr lang="it-IT" sz="16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il lucchetto non si apre e segnala all’operatore la mancanza dei DPI necessari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E51FA81-8AD3-F88E-9F11-13F53DDE4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63516" y="4603799"/>
              <a:ext cx="361321" cy="33924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FA6DE6E-63F5-3146-EA40-752034767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75596" y="5184003"/>
              <a:ext cx="337158" cy="33924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9435E75-343B-D016-F3C9-E392B744A4E4}"/>
              </a:ext>
            </a:extLst>
          </p:cNvPr>
          <p:cNvGrpSpPr/>
          <p:nvPr/>
        </p:nvGrpSpPr>
        <p:grpSpPr>
          <a:xfrm>
            <a:off x="1737360" y="4432681"/>
            <a:ext cx="8530058" cy="716604"/>
            <a:chOff x="1203864" y="3621646"/>
            <a:chExt cx="8877225" cy="74576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0827455-B573-B67D-AEE9-9B4401C4C4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8717" y="4023595"/>
              <a:ext cx="7885134" cy="80099"/>
            </a:xfrm>
            <a:prstGeom prst="line">
              <a:avLst/>
            </a:prstGeom>
            <a:ln w="2857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04FA32F-D21B-DB3C-0689-75D68FFAC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78373" y="3621646"/>
              <a:ext cx="502716" cy="578123"/>
            </a:xfrm>
            <a:prstGeom prst="rect">
              <a:avLst/>
            </a:prstGeom>
          </p:spPr>
        </p:pic>
        <p:sp>
          <p:nvSpPr>
            <p:cNvPr id="10" name="Freeform 2">
              <a:extLst>
                <a:ext uri="{FF2B5EF4-FFF2-40B4-BE49-F238E27FC236}">
                  <a16:creationId xmlns:a16="http://schemas.microsoft.com/office/drawing/2014/main" id="{24C7A68B-AD50-1EDD-140D-99C7102D9885}"/>
                </a:ext>
              </a:extLst>
            </p:cNvPr>
            <p:cNvSpPr/>
            <p:nvPr/>
          </p:nvSpPr>
          <p:spPr>
            <a:xfrm rot="1236730">
              <a:off x="1203864" y="3839973"/>
              <a:ext cx="652910" cy="527442"/>
            </a:xfrm>
            <a:custGeom>
              <a:avLst/>
              <a:gdLst/>
              <a:ahLst/>
              <a:cxnLst/>
              <a:rect l="l" t="t" r="r" b="b"/>
              <a:pathLst>
                <a:path w="3982674" h="2802807">
                  <a:moveTo>
                    <a:pt x="0" y="0"/>
                  </a:moveTo>
                  <a:lnTo>
                    <a:pt x="3982674" y="0"/>
                  </a:lnTo>
                  <a:lnTo>
                    <a:pt x="3982674" y="2802807"/>
                  </a:lnTo>
                  <a:lnTo>
                    <a:pt x="0" y="2802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14790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0C0DB24-322F-5B1A-60BD-610D34EC979A}"/>
              </a:ext>
            </a:extLst>
          </p:cNvPr>
          <p:cNvSpPr txBox="1"/>
          <p:nvPr/>
        </p:nvSpPr>
        <p:spPr>
          <a:xfrm>
            <a:off x="339609" y="3424668"/>
            <a:ext cx="685705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 </a:t>
            </a:r>
            <a:r>
              <a:rPr lang="it-IT" sz="1600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lucchetto manuale 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garantisce l’accesso al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solo personale autorizzato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 </a:t>
            </a:r>
            <a:r>
              <a:rPr lang="it-IT" sz="1600" b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lucchetto elettronico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connesso alla rete, consente l’apertura </a:t>
            </a:r>
            <a:r>
              <a:rPr lang="it-IT" sz="1600" b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solo in caso di conformità </a:t>
            </a:r>
            <a:r>
              <a:rPr lang="it-IT" sz="16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alle norme previste per quella determinata zona.</a:t>
            </a:r>
          </a:p>
          <a:p>
            <a:pPr>
              <a:spcAft>
                <a:spcPts val="300"/>
              </a:spcAft>
            </a:pPr>
            <a:endParaRPr lang="it-IT" sz="16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048E4D-1B98-7B06-3EDF-E5355B3014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40" b="11840"/>
          <a:stretch/>
        </p:blipFill>
        <p:spPr>
          <a:xfrm>
            <a:off x="6625425" y="1119168"/>
            <a:ext cx="2475992" cy="25195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343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EAC53-CA90-2C66-DB91-644368F25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256173"/>
            <a:ext cx="5943066" cy="1689649"/>
          </a:xfrm>
          <a:noFill/>
        </p:spPr>
        <p:txBody>
          <a:bodyPr/>
          <a:lstStyle/>
          <a:p>
            <a:pPr marL="0" indent="0">
              <a:buNone/>
            </a:pP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 sistema ideato, essendo basato su decisione di un algoritmo di Intelligenza Artificiale non può garantire un’accuratezza pari al 100%. Nel caso di mancata rilevazione dei DPI, il sistema permette di bypassare il meccanismo di apertura automatizzata previa </a:t>
            </a:r>
            <a:r>
              <a:rPr lang="it-IT" sz="16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autorizzazione da parte di un soggetto responsabile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che autorizza l’ingresso dell’operatore aprendo il varco in modalità manuale:</a:t>
            </a:r>
          </a:p>
        </p:txBody>
      </p:sp>
      <p:pic>
        <p:nvPicPr>
          <p:cNvPr id="8" name="Picture 7" descr="A large container with a warning sign&#10;&#10;Description automatically generated">
            <a:extLst>
              <a:ext uri="{FF2B5EF4-FFF2-40B4-BE49-F238E27FC236}">
                <a16:creationId xmlns:a16="http://schemas.microsoft.com/office/drawing/2014/main" id="{E2796645-B23B-E370-459F-4BC0F177C8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2" b="15799"/>
          <a:stretch/>
        </p:blipFill>
        <p:spPr>
          <a:xfrm>
            <a:off x="9307665" y="1119168"/>
            <a:ext cx="2475992" cy="25195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FCC078C3-5183-DBD7-FD11-39E77E7A6879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accesso Controllato a zone ad alto rischio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97F116-26F9-889B-B246-BAE970EF2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820" y="5003579"/>
            <a:ext cx="655554" cy="145518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3731FE7-8684-AD61-F2AD-D3AD3C40A190}"/>
              </a:ext>
            </a:extLst>
          </p:cNvPr>
          <p:cNvGrpSpPr/>
          <p:nvPr/>
        </p:nvGrpSpPr>
        <p:grpSpPr>
          <a:xfrm>
            <a:off x="3537646" y="5118024"/>
            <a:ext cx="4072693" cy="1323440"/>
            <a:chOff x="3653149" y="4589639"/>
            <a:chExt cx="4238449" cy="1377303"/>
          </a:xfrm>
        </p:grpSpPr>
        <p:pic>
          <p:nvPicPr>
            <p:cNvPr id="13" name="Picture 12" descr="A sign on a metal gate&#10;&#10;Description automatically generated">
              <a:extLst>
                <a:ext uri="{FF2B5EF4-FFF2-40B4-BE49-F238E27FC236}">
                  <a16:creationId xmlns:a16="http://schemas.microsoft.com/office/drawing/2014/main" id="{89B507BE-5379-E8EA-13D1-90CC139AF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20" t="18305" r="19599" b="48297"/>
            <a:stretch/>
          </p:blipFill>
          <p:spPr>
            <a:xfrm>
              <a:off x="5984131" y="4589639"/>
              <a:ext cx="1907467" cy="132343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64A2B9-9D93-D473-EAD0-B557E39EC875}"/>
                </a:ext>
              </a:extLst>
            </p:cNvPr>
            <p:cNvSpPr txBox="1"/>
            <p:nvPr/>
          </p:nvSpPr>
          <p:spPr>
            <a:xfrm>
              <a:off x="3653149" y="4589640"/>
              <a:ext cx="2262189" cy="1377302"/>
            </a:xfrm>
            <a:prstGeom prst="rect">
              <a:avLst/>
            </a:prstGeom>
            <a:noFill/>
            <a:ln>
              <a:solidFill>
                <a:srgbClr val="1B437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it-IT" sz="16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L’operatore indossa </a:t>
              </a:r>
              <a:r>
                <a:rPr lang="it-IT" sz="16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correttamente tutti i DPI necessari </a:t>
              </a:r>
              <a:r>
                <a:rPr lang="it-IT" sz="16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ad accedere a quella zona?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22A0D9-E941-A427-6C92-A17EA1FAAE28}"/>
              </a:ext>
            </a:extLst>
          </p:cNvPr>
          <p:cNvGrpSpPr/>
          <p:nvPr/>
        </p:nvGrpSpPr>
        <p:grpSpPr>
          <a:xfrm>
            <a:off x="8480530" y="5075763"/>
            <a:ext cx="3198213" cy="1323439"/>
            <a:chOff x="8463516" y="4603799"/>
            <a:chExt cx="3961865" cy="137730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F16030-111F-5CA1-7C3A-89531B8BDC54}"/>
                </a:ext>
              </a:extLst>
            </p:cNvPr>
            <p:cNvSpPr txBox="1"/>
            <p:nvPr/>
          </p:nvSpPr>
          <p:spPr>
            <a:xfrm>
              <a:off x="8824837" y="4603799"/>
              <a:ext cx="3600544" cy="1377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Sì</a:t>
              </a:r>
              <a:r>
                <a:rPr lang="it-IT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il sistema rileva solo la presenza dell'operatore</a:t>
              </a:r>
            </a:p>
            <a:p>
              <a:endParaRPr lang="it-IT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r>
                <a:rPr lang="it-IT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No</a:t>
              </a:r>
              <a:r>
                <a:rPr lang="it-IT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il sistema lancia un allarme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E51FA81-8AD3-F88E-9F11-13F53DDE4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63516" y="4603799"/>
              <a:ext cx="361321" cy="33924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FA6DE6E-63F5-3146-EA40-752034767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87678" y="5420571"/>
              <a:ext cx="337159" cy="339240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827455-B573-B67D-AEE9-9B4401C4C495}"/>
              </a:ext>
            </a:extLst>
          </p:cNvPr>
          <p:cNvCxnSpPr>
            <a:cxnSpLocks/>
          </p:cNvCxnSpPr>
          <p:nvPr/>
        </p:nvCxnSpPr>
        <p:spPr>
          <a:xfrm>
            <a:off x="2433866" y="4895900"/>
            <a:ext cx="2475992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2">
            <a:extLst>
              <a:ext uri="{FF2B5EF4-FFF2-40B4-BE49-F238E27FC236}">
                <a16:creationId xmlns:a16="http://schemas.microsoft.com/office/drawing/2014/main" id="{24C7A68B-AD50-1EDD-140D-99C7102D9885}"/>
              </a:ext>
            </a:extLst>
          </p:cNvPr>
          <p:cNvSpPr/>
          <p:nvPr/>
        </p:nvSpPr>
        <p:spPr>
          <a:xfrm rot="1236730">
            <a:off x="1737360" y="4642491"/>
            <a:ext cx="627376" cy="506818"/>
          </a:xfrm>
          <a:custGeom>
            <a:avLst/>
            <a:gdLst/>
            <a:ahLst/>
            <a:cxnLst/>
            <a:rect l="l" t="t" r="r" b="b"/>
            <a:pathLst>
              <a:path w="3982674" h="2802807">
                <a:moveTo>
                  <a:pt x="0" y="0"/>
                </a:moveTo>
                <a:lnTo>
                  <a:pt x="3982674" y="0"/>
                </a:lnTo>
                <a:lnTo>
                  <a:pt x="3982674" y="2802807"/>
                </a:lnTo>
                <a:lnTo>
                  <a:pt x="0" y="2802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790"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048E4D-1B98-7B06-3EDF-E5355B3014DC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40" b="11840"/>
          <a:stretch/>
        </p:blipFill>
        <p:spPr>
          <a:xfrm>
            <a:off x="6625425" y="1119168"/>
            <a:ext cx="2475992" cy="25195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B728A59-64B4-0E5D-C7DE-9CAFCAE25E22}"/>
              </a:ext>
            </a:extLst>
          </p:cNvPr>
          <p:cNvSpPr txBox="1"/>
          <p:nvPr/>
        </p:nvSpPr>
        <p:spPr>
          <a:xfrm>
            <a:off x="334963" y="2916931"/>
            <a:ext cx="6173864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 </a:t>
            </a:r>
            <a:r>
              <a:rPr lang="it-IT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responsabile autorizzato 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può, dietro segnalazione dell'operatore o per suo intervento diretto, sbloccare il lucchetto e permettere l'accesso alla zona pericolosa</a:t>
            </a:r>
            <a:endParaRPr lang="it-IT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ogni caso, ad apertura avvenuta, se gli operatori </a:t>
            </a:r>
            <a:r>
              <a:rPr lang="it-IT" sz="16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all'interno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della zona pericolosa non indossano i DPI il sistema segnala un </a:t>
            </a:r>
            <a:r>
              <a:rPr lang="it-IT" sz="1600" b="1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alert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it-IT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15">
            <a:extLst>
              <a:ext uri="{FF2B5EF4-FFF2-40B4-BE49-F238E27FC236}">
                <a16:creationId xmlns:a16="http://schemas.microsoft.com/office/drawing/2014/main" id="{67ED3EF6-8F64-F8C9-ED19-8DBBF12015B3}"/>
              </a:ext>
            </a:extLst>
          </p:cNvPr>
          <p:cNvCxnSpPr>
            <a:cxnSpLocks/>
          </p:cNvCxnSpPr>
          <p:nvPr/>
        </p:nvCxnSpPr>
        <p:spPr>
          <a:xfrm>
            <a:off x="4909858" y="4913648"/>
            <a:ext cx="0" cy="179862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219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9E03C9-4BC1-DBB6-0DC1-FE94107F633E}"/>
              </a:ext>
            </a:extLst>
          </p:cNvPr>
          <p:cNvSpPr txBox="1"/>
          <p:nvPr/>
        </p:nvSpPr>
        <p:spPr>
          <a:xfrm>
            <a:off x="929432" y="1131587"/>
            <a:ext cx="501120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Arrivo al punto di accesso</a:t>
            </a:r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 trasportatore inserisce il suo nome e firma (in aggiunta a dati opzionali, come fornitore, targa, ecc).     </a:t>
            </a:r>
          </a:p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</a:p>
          <a:p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                        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it-IT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Presa visione e accettazione delle Regole aziendali e Norme di Sicurezza</a:t>
            </a:r>
          </a:p>
          <a:p>
            <a:pPr marL="342900" indent="-342900">
              <a:buFont typeface="+mj-lt"/>
              <a:buAutoNum type="arabicPeriod" startAt="2"/>
            </a:pPr>
            <a:endParaRPr lang="it-IT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it-IT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Accesso</a:t>
            </a:r>
          </a:p>
          <a:p>
            <a:pPr marL="342900" indent="-342900">
              <a:buFont typeface="+mj-lt"/>
              <a:buAutoNum type="arabicPeriod" startAt="2"/>
            </a:pPr>
            <a:endParaRPr lang="it-IT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it-IT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Pesa del camion (Lordo)</a:t>
            </a:r>
          </a:p>
          <a:p>
            <a:pPr marL="342900" indent="-342900">
              <a:buFont typeface="+mj-lt"/>
              <a:buAutoNum type="arabicPeriod" startAt="2"/>
            </a:pPr>
            <a:endParaRPr lang="it-IT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it-IT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Scarico</a:t>
            </a:r>
          </a:p>
          <a:p>
            <a:pPr marL="342900" indent="-342900">
              <a:buFont typeface="+mj-lt"/>
              <a:buAutoNum type="arabicPeriod" startAt="2"/>
            </a:pPr>
            <a:endParaRPr lang="it-IT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it-IT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Tara</a:t>
            </a:r>
          </a:p>
          <a:p>
            <a:pPr marL="342900" indent="-342900">
              <a:buFont typeface="+mj-lt"/>
              <a:buAutoNum type="arabicPeriod" startAt="2"/>
            </a:pPr>
            <a:endParaRPr lang="it-IT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it-IT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Firma di uscita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FE224-76FB-3E58-8C37-8626A6790120}"/>
              </a:ext>
            </a:extLst>
          </p:cNvPr>
          <p:cNvSpPr txBox="1"/>
          <p:nvPr/>
        </p:nvSpPr>
        <p:spPr>
          <a:xfrm>
            <a:off x="1263477" y="2029720"/>
            <a:ext cx="44721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Nota Bene</a:t>
            </a:r>
            <a:r>
              <a:rPr lang="it-IT" sz="1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le informazioni non possono essere salvate e inserite in un database, se non con previa autorizzazione da parte dei soggetti interessati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F05329-D4EF-CEAC-E0A9-E5F56C0CA1A9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Gestione degli accessi allo stabilimento</a:t>
            </a:r>
            <a:endParaRPr kumimoji="0" lang="it-IT" sz="2400" b="0" i="0" u="none" strike="noStrike" kern="1200" cap="all" spc="4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5C8E4-C713-BCE9-6500-54C58C486119}"/>
              </a:ext>
            </a:extLst>
          </p:cNvPr>
          <p:cNvSpPr txBox="1"/>
          <p:nvPr/>
        </p:nvSpPr>
        <p:spPr>
          <a:xfrm>
            <a:off x="6096000" y="1131587"/>
            <a:ext cx="48979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Il </a:t>
            </a:r>
            <a:r>
              <a:rPr lang="it-IT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Totem/Tablet 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 punto di accesso </a:t>
            </a:r>
            <a:r>
              <a:rPr lang="it-IT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è collegato all’applicazione gestionale interna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  <a:p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Una volta che il trasportatore ha firmato viene creato un evento in questa applicazione.</a:t>
            </a:r>
          </a:p>
          <a:p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 il mezzo oltrepassa il totem senza un contestuale evento di firma, viene segnalato un </a:t>
            </a:r>
            <a:r>
              <a:rPr lang="it-IT" sz="16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alert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54FB120-B36D-A83F-1E42-A7C53F5D2C22}"/>
              </a:ext>
            </a:extLst>
          </p:cNvPr>
          <p:cNvSpPr/>
          <p:nvPr/>
        </p:nvSpPr>
        <p:spPr>
          <a:xfrm>
            <a:off x="10374219" y="824701"/>
            <a:ext cx="1970661" cy="2150790"/>
          </a:xfrm>
          <a:custGeom>
            <a:avLst/>
            <a:gdLst/>
            <a:ahLst/>
            <a:cxnLst/>
            <a:rect l="l" t="t" r="r" b="b"/>
            <a:pathLst>
              <a:path w="7540371" h="8229600">
                <a:moveTo>
                  <a:pt x="0" y="0"/>
                </a:moveTo>
                <a:lnTo>
                  <a:pt x="7540371" y="0"/>
                </a:lnTo>
                <a:lnTo>
                  <a:pt x="75403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42366" y1="81189" x2="42366" y2="81189"/>
                          <a14:backgroundMark x1="60305" y1="83706" x2="60305" y2="83706"/>
                          <a14:backgroundMark x1="62595" y1="74615" x2="62595" y2="7461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09D3E-ACCB-A977-8C4C-A0FCA43049AB}"/>
              </a:ext>
            </a:extLst>
          </p:cNvPr>
          <p:cNvSpPr txBox="1"/>
          <p:nvPr/>
        </p:nvSpPr>
        <p:spPr>
          <a:xfrm>
            <a:off x="6096000" y="2976255"/>
            <a:ext cx="50317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All’interno dell’applicazione interna viene creato un evento di arrivo merci.</a:t>
            </a:r>
          </a:p>
          <a:p>
            <a:r>
              <a:rPr lang="it-IT" sz="16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questo livello è possibile aggiungere</a:t>
            </a:r>
          </a:p>
          <a:p>
            <a:r>
              <a:rPr lang="it-IT" sz="16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 dati della fornitura </a:t>
            </a:r>
          </a:p>
          <a:p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(data, peso e altri dati contestuali).</a:t>
            </a:r>
          </a:p>
          <a:p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 informazioni vengono salvate in un 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71CCAF-CD48-86BD-EDEE-3A52B7BFE714}"/>
              </a:ext>
            </a:extLst>
          </p:cNvPr>
          <p:cNvSpPr txBox="1"/>
          <p:nvPr/>
        </p:nvSpPr>
        <p:spPr>
          <a:xfrm>
            <a:off x="6096000" y="4578463"/>
            <a:ext cx="50112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 termine, il trasportatore segna l'uscita. Anche se ciò non avviene, il sistema rileva automaticamente la targa del mezzo e gestisce la chiusura dello scarico merci. Prima dell'effettiva chiusura dell'evento, però, e le informazioni vengono </a:t>
            </a:r>
            <a:r>
              <a:rPr lang="it-IT" sz="1600" b="1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notarizzate</a:t>
            </a:r>
            <a:r>
              <a:rPr lang="it-IT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su IOTA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a garanzia dell'immutabilità e incensurabilità dei dati. La </a:t>
            </a:r>
            <a:r>
              <a:rPr lang="it-IT" sz="16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notarizzazione</a:t>
            </a:r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chiude il processo.</a:t>
            </a:r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F751DB44-CE13-CFA0-F006-F8A479C1F396}"/>
              </a:ext>
            </a:extLst>
          </p:cNvPr>
          <p:cNvSpPr/>
          <p:nvPr/>
        </p:nvSpPr>
        <p:spPr>
          <a:xfrm>
            <a:off x="10961934" y="3340901"/>
            <a:ext cx="803499" cy="831564"/>
          </a:xfrm>
          <a:custGeom>
            <a:avLst/>
            <a:gdLst/>
            <a:ahLst/>
            <a:cxnLst/>
            <a:rect l="l" t="t" r="r" b="b"/>
            <a:pathLst>
              <a:path w="3975926" h="4114800">
                <a:moveTo>
                  <a:pt x="0" y="0"/>
                </a:moveTo>
                <a:lnTo>
                  <a:pt x="3975926" y="0"/>
                </a:lnTo>
                <a:lnTo>
                  <a:pt x="39759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38160F50-F114-FDE3-BAA9-88BFC1205159}"/>
              </a:ext>
            </a:extLst>
          </p:cNvPr>
          <p:cNvSpPr/>
          <p:nvPr/>
        </p:nvSpPr>
        <p:spPr>
          <a:xfrm>
            <a:off x="4203700" y="4374100"/>
            <a:ext cx="1115838" cy="75877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6" y="0"/>
                </a:lnTo>
                <a:lnTo>
                  <a:pt x="60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alphaModFix amt="6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67A3FFC9-3360-6C28-8A26-01D92ECFCAA5}"/>
              </a:ext>
            </a:extLst>
          </p:cNvPr>
          <p:cNvSpPr/>
          <p:nvPr/>
        </p:nvSpPr>
        <p:spPr>
          <a:xfrm rot="5400000">
            <a:off x="-981329" y="2647188"/>
            <a:ext cx="3238064" cy="422272"/>
          </a:xfrm>
          <a:custGeom>
            <a:avLst/>
            <a:gdLst/>
            <a:ahLst/>
            <a:cxnLst/>
            <a:rect l="l" t="t" r="r" b="b"/>
            <a:pathLst>
              <a:path w="7315200" h="1280160">
                <a:moveTo>
                  <a:pt x="0" y="0"/>
                </a:moveTo>
                <a:lnTo>
                  <a:pt x="7315200" y="0"/>
                </a:lnTo>
                <a:lnTo>
                  <a:pt x="73152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183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Freeform 9">
            <a:extLst>
              <a:ext uri="{FF2B5EF4-FFF2-40B4-BE49-F238E27FC236}">
                <a16:creationId xmlns:a16="http://schemas.microsoft.com/office/drawing/2014/main" id="{14821711-7640-6A7E-02FB-2A642D83C6E9}"/>
              </a:ext>
            </a:extLst>
          </p:cNvPr>
          <p:cNvSpPr/>
          <p:nvPr/>
        </p:nvSpPr>
        <p:spPr>
          <a:xfrm rot="5400000">
            <a:off x="-802840" y="4886592"/>
            <a:ext cx="2811640" cy="724036"/>
          </a:xfrm>
          <a:custGeom>
            <a:avLst/>
            <a:gdLst/>
            <a:ahLst/>
            <a:cxnLst/>
            <a:rect l="l" t="t" r="r" b="b"/>
            <a:pathLst>
              <a:path w="7315200" h="1280160">
                <a:moveTo>
                  <a:pt x="0" y="0"/>
                </a:moveTo>
                <a:lnTo>
                  <a:pt x="7315200" y="0"/>
                </a:lnTo>
                <a:lnTo>
                  <a:pt x="73152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4036" t="16147" r="35242" b="25531"/>
            </a:stretch>
          </a:blipFill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615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87AFE871-F86B-BE36-7F91-DE7CE3BA9B6D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TOTEM Homepage: Arrivo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915D42-5393-FFA4-9A0F-0218B20D14FF}"/>
              </a:ext>
            </a:extLst>
          </p:cNvPr>
          <p:cNvGrpSpPr>
            <a:grpSpLocks/>
          </p:cNvGrpSpPr>
          <p:nvPr/>
        </p:nvGrpSpPr>
        <p:grpSpPr>
          <a:xfrm>
            <a:off x="1872714" y="1380075"/>
            <a:ext cx="3659941" cy="2584283"/>
            <a:chOff x="253604" y="943784"/>
            <a:chExt cx="4418945" cy="312021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5BEAD5-0DF9-3BD4-061D-A667B02AE953}"/>
                </a:ext>
              </a:extLst>
            </p:cNvPr>
            <p:cNvSpPr>
              <a:spLocks/>
            </p:cNvSpPr>
            <p:nvPr/>
          </p:nvSpPr>
          <p:spPr>
            <a:xfrm>
              <a:off x="665325" y="1280159"/>
              <a:ext cx="3681806" cy="24277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  <p:pic>
          <p:nvPicPr>
            <p:cNvPr id="5" name="Graphic 4" descr="Tablet with solid fill">
              <a:extLst>
                <a:ext uri="{FF2B5EF4-FFF2-40B4-BE49-F238E27FC236}">
                  <a16:creationId xmlns:a16="http://schemas.microsoft.com/office/drawing/2014/main" id="{0D4D68F7-E843-5B68-7CB1-C02662F81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570" t="19371" r="6731" b="19411"/>
            <a:stretch/>
          </p:blipFill>
          <p:spPr>
            <a:xfrm>
              <a:off x="253604" y="943784"/>
              <a:ext cx="4418945" cy="3120216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7C50EF7-F881-A424-97F1-CD3AA6BEEF22}"/>
                </a:ext>
              </a:extLst>
            </p:cNvPr>
            <p:cNvSpPr>
              <a:spLocks/>
            </p:cNvSpPr>
            <p:nvPr/>
          </p:nvSpPr>
          <p:spPr>
            <a:xfrm>
              <a:off x="944484" y="2241564"/>
              <a:ext cx="1293879" cy="84131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dirty="0"/>
                <a:t>STAI ENTRANDO?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C453E06-A38E-B1DD-0BF5-C0089AFDD349}"/>
                </a:ext>
              </a:extLst>
            </p:cNvPr>
            <p:cNvSpPr>
              <a:spLocks/>
            </p:cNvSpPr>
            <p:nvPr/>
          </p:nvSpPr>
          <p:spPr>
            <a:xfrm>
              <a:off x="2783016" y="2241564"/>
              <a:ext cx="1293879" cy="841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dirty="0"/>
                <a:t>STAI USCENDO?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27FB094-00AE-82F1-5090-DC47BBE4804E}"/>
                </a:ext>
              </a:extLst>
            </p:cNvPr>
            <p:cNvSpPr>
              <a:spLocks/>
            </p:cNvSpPr>
            <p:nvPr/>
          </p:nvSpPr>
          <p:spPr>
            <a:xfrm>
              <a:off x="944484" y="1514650"/>
              <a:ext cx="3132411" cy="39053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/>
                <a:t>Benvenuto a </a:t>
              </a:r>
              <a:r>
                <a:rPr lang="it-IT" sz="1400" dirty="0"/>
                <a:t>SELF-GARDEN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28D5CDA-8851-85EB-7F4C-17AA3D92C27F}"/>
              </a:ext>
            </a:extLst>
          </p:cNvPr>
          <p:cNvGrpSpPr>
            <a:grpSpLocks/>
          </p:cNvGrpSpPr>
          <p:nvPr/>
        </p:nvGrpSpPr>
        <p:grpSpPr>
          <a:xfrm>
            <a:off x="6559141" y="1373682"/>
            <a:ext cx="3669145" cy="2590782"/>
            <a:chOff x="5735638" y="943784"/>
            <a:chExt cx="4418945" cy="31202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873A22A-A9D6-35C0-19F7-7959D2C9704F}"/>
                </a:ext>
              </a:extLst>
            </p:cNvPr>
            <p:cNvSpPr>
              <a:spLocks/>
            </p:cNvSpPr>
            <p:nvPr/>
          </p:nvSpPr>
          <p:spPr>
            <a:xfrm>
              <a:off x="6147359" y="1280160"/>
              <a:ext cx="3681806" cy="24277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  <p:pic>
          <p:nvPicPr>
            <p:cNvPr id="14" name="Graphic 13" descr="Tablet with solid fill">
              <a:extLst>
                <a:ext uri="{FF2B5EF4-FFF2-40B4-BE49-F238E27FC236}">
                  <a16:creationId xmlns:a16="http://schemas.microsoft.com/office/drawing/2014/main" id="{01E3EC7E-78E5-EAF7-54E2-AA90FF2E3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570" t="19371" r="6731" b="19411"/>
            <a:stretch/>
          </p:blipFill>
          <p:spPr>
            <a:xfrm>
              <a:off x="5735638" y="943784"/>
              <a:ext cx="4418945" cy="3120216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7745D1C-F34E-9AD8-1BE2-2F0A410B2B48}"/>
                </a:ext>
              </a:extLst>
            </p:cNvPr>
            <p:cNvSpPr>
              <a:spLocks/>
            </p:cNvSpPr>
            <p:nvPr/>
          </p:nvSpPr>
          <p:spPr>
            <a:xfrm>
              <a:off x="6426518" y="1514650"/>
              <a:ext cx="3132411" cy="39053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Inserisci i tuoi dati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5CEC03-154A-747F-75C0-05D7FCDC69BF}"/>
                </a:ext>
              </a:extLst>
            </p:cNvPr>
            <p:cNvSpPr>
              <a:spLocks/>
            </p:cNvSpPr>
            <p:nvPr/>
          </p:nvSpPr>
          <p:spPr>
            <a:xfrm>
              <a:off x="6426518" y="1999628"/>
              <a:ext cx="3132411" cy="14293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E7263E6-34FA-6E47-D8F1-44036F4A131C}"/>
                </a:ext>
              </a:extLst>
            </p:cNvPr>
            <p:cNvSpPr>
              <a:spLocks/>
            </p:cNvSpPr>
            <p:nvPr/>
          </p:nvSpPr>
          <p:spPr>
            <a:xfrm>
              <a:off x="8108841" y="2167712"/>
              <a:ext cx="1283364" cy="379716"/>
            </a:xfrm>
            <a:prstGeom prst="roundRect">
              <a:avLst>
                <a:gd name="adj" fmla="val 32721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Cognome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D768432-CA32-EA98-7618-BA9C0F7E0872}"/>
                </a:ext>
              </a:extLst>
            </p:cNvPr>
            <p:cNvSpPr>
              <a:spLocks/>
            </p:cNvSpPr>
            <p:nvPr/>
          </p:nvSpPr>
          <p:spPr>
            <a:xfrm>
              <a:off x="6546318" y="2185136"/>
              <a:ext cx="1283364" cy="379716"/>
            </a:xfrm>
            <a:prstGeom prst="roundRect">
              <a:avLst>
                <a:gd name="adj" fmla="val 40748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/>
                <a:t>Nome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6BACE24-2C78-1405-BC3E-9F49063A473B}"/>
                </a:ext>
              </a:extLst>
            </p:cNvPr>
            <p:cNvSpPr>
              <a:spLocks/>
            </p:cNvSpPr>
            <p:nvPr/>
          </p:nvSpPr>
          <p:spPr>
            <a:xfrm>
              <a:off x="6546317" y="2659593"/>
              <a:ext cx="2845887" cy="379716"/>
            </a:xfrm>
            <a:prstGeom prst="roundRect">
              <a:avLst>
                <a:gd name="adj" fmla="val 32721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Azienda fornitrice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8307B94-10CF-A298-410E-1D3E8DD22CE4}"/>
              </a:ext>
            </a:extLst>
          </p:cNvPr>
          <p:cNvGrpSpPr>
            <a:grpSpLocks/>
          </p:cNvGrpSpPr>
          <p:nvPr/>
        </p:nvGrpSpPr>
        <p:grpSpPr>
          <a:xfrm>
            <a:off x="1903852" y="3994836"/>
            <a:ext cx="3669144" cy="2590782"/>
            <a:chOff x="840405" y="3971914"/>
            <a:chExt cx="3773588" cy="266453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F478D9-0B85-BE27-F862-B3B228FBED2A}"/>
                </a:ext>
              </a:extLst>
            </p:cNvPr>
            <p:cNvSpPr>
              <a:spLocks/>
            </p:cNvSpPr>
            <p:nvPr/>
          </p:nvSpPr>
          <p:spPr>
            <a:xfrm>
              <a:off x="1158757" y="4229208"/>
              <a:ext cx="3144103" cy="21646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C44977C-C612-2B6E-81F1-85CA4BADCEE1}"/>
                </a:ext>
              </a:extLst>
            </p:cNvPr>
            <p:cNvGrpSpPr>
              <a:grpSpLocks/>
            </p:cNvGrpSpPr>
            <p:nvPr/>
          </p:nvGrpSpPr>
          <p:grpSpPr>
            <a:xfrm>
              <a:off x="840405" y="3971914"/>
              <a:ext cx="3773588" cy="2664530"/>
              <a:chOff x="840405" y="3971914"/>
              <a:chExt cx="3773588" cy="2664530"/>
            </a:xfrm>
          </p:grpSpPr>
          <p:pic>
            <p:nvPicPr>
              <p:cNvPr id="25" name="Graphic 24" descr="Tablet with solid fill">
                <a:extLst>
                  <a:ext uri="{FF2B5EF4-FFF2-40B4-BE49-F238E27FC236}">
                    <a16:creationId xmlns:a16="http://schemas.microsoft.com/office/drawing/2014/main" id="{69BCEF38-4636-D58D-A356-C0DEE15EC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6570" t="19371" r="6731" b="19411"/>
              <a:stretch/>
            </p:blipFill>
            <p:spPr>
              <a:xfrm>
                <a:off x="840405" y="3971914"/>
                <a:ext cx="3773588" cy="2664530"/>
              </a:xfrm>
              <a:prstGeom prst="rect">
                <a:avLst/>
              </a:prstGeom>
            </p:spPr>
          </p:pic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2E58A3B-E19A-7648-EAB0-D2272FCB7D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67739" y="4376441"/>
                <a:ext cx="2674944" cy="30387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/>
                  <a:t>Inserisci i tuoi dati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72909A28-203D-4A2D-E325-93DAE3CA71B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67139" y="4823101"/>
                <a:ext cx="2674944" cy="1112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82474292-76CA-9E77-89B1-5CFD0123C4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37702" y="5311541"/>
                <a:ext cx="1904381" cy="593892"/>
              </a:xfrm>
              <a:prstGeom prst="roundRect">
                <a:avLst>
                  <a:gd name="adj" fmla="val 32721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/>
                  <a:t>Norme Sicurezza</a:t>
                </a: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33F6316-2155-3A74-0C7B-97C7D6B594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4876357"/>
                <a:ext cx="1808480" cy="381929"/>
              </a:xfrm>
              <a:prstGeom prst="roundRect">
                <a:avLst>
                  <a:gd name="adj" fmla="val 40748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/>
                  <a:t>Regolamento 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3D71CC6-D190-5401-86BF-1A3C358A8D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67139" y="5973848"/>
                <a:ext cx="2674944" cy="2743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/>
                  <a:t>Accetto i termini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68DF5CA-C30E-D3CB-1398-0929AA5C5F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6024355"/>
                <a:ext cx="182880" cy="1522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167DE62-70B2-B471-3EFA-E9A1AA82C326}"/>
              </a:ext>
            </a:extLst>
          </p:cNvPr>
          <p:cNvGrpSpPr>
            <a:grpSpLocks/>
          </p:cNvGrpSpPr>
          <p:nvPr/>
        </p:nvGrpSpPr>
        <p:grpSpPr>
          <a:xfrm>
            <a:off x="6559142" y="4015002"/>
            <a:ext cx="3669144" cy="2590782"/>
            <a:chOff x="5953363" y="3999591"/>
            <a:chExt cx="3773588" cy="266453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C4CB774-F504-889A-4413-1F2C40EAD198}"/>
                </a:ext>
              </a:extLst>
            </p:cNvPr>
            <p:cNvSpPr>
              <a:spLocks/>
            </p:cNvSpPr>
            <p:nvPr/>
          </p:nvSpPr>
          <p:spPr>
            <a:xfrm>
              <a:off x="6271715" y="4256885"/>
              <a:ext cx="3144103" cy="21646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5" name="Graphic 34" descr="Tablet with solid fill">
              <a:extLst>
                <a:ext uri="{FF2B5EF4-FFF2-40B4-BE49-F238E27FC236}">
                  <a16:creationId xmlns:a16="http://schemas.microsoft.com/office/drawing/2014/main" id="{2E8591BA-A7B3-8872-1EAA-89A982A85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570" t="19371" r="6731" b="19411"/>
            <a:stretch/>
          </p:blipFill>
          <p:spPr>
            <a:xfrm>
              <a:off x="5953363" y="3999591"/>
              <a:ext cx="3773588" cy="2664530"/>
            </a:xfrm>
            <a:prstGeom prst="rect">
              <a:avLst/>
            </a:prstGeom>
          </p:spPr>
        </p:pic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0566CF2-AC4A-C127-D818-62460682EF76}"/>
                </a:ext>
              </a:extLst>
            </p:cNvPr>
            <p:cNvSpPr>
              <a:spLocks/>
            </p:cNvSpPr>
            <p:nvPr/>
          </p:nvSpPr>
          <p:spPr>
            <a:xfrm>
              <a:off x="6480697" y="4404118"/>
              <a:ext cx="2674944" cy="30387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Firma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6ECE698-A5C9-05F5-9FC7-97002EB18081}"/>
                </a:ext>
              </a:extLst>
            </p:cNvPr>
            <p:cNvSpPr>
              <a:spLocks/>
            </p:cNvSpPr>
            <p:nvPr/>
          </p:nvSpPr>
          <p:spPr>
            <a:xfrm>
              <a:off x="6480097" y="4759338"/>
              <a:ext cx="2674944" cy="111216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FD3BE81B-A3BD-3341-E423-42CBF2D5A19C}"/>
                </a:ext>
              </a:extLst>
            </p:cNvPr>
            <p:cNvSpPr>
              <a:spLocks/>
            </p:cNvSpPr>
            <p:nvPr/>
          </p:nvSpPr>
          <p:spPr>
            <a:xfrm>
              <a:off x="6661282" y="4908199"/>
              <a:ext cx="2336799" cy="80988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B1FD788-6461-1297-1D64-29FFDCA8562D}"/>
                </a:ext>
              </a:extLst>
            </p:cNvPr>
            <p:cNvSpPr>
              <a:spLocks/>
            </p:cNvSpPr>
            <p:nvPr/>
          </p:nvSpPr>
          <p:spPr>
            <a:xfrm>
              <a:off x="7840157" y="5978506"/>
              <a:ext cx="1325359" cy="269662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/>
                <a:t>ENTRA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69FCFFF-5445-6657-E00B-F6158F0169CE}"/>
              </a:ext>
            </a:extLst>
          </p:cNvPr>
          <p:cNvSpPr txBox="1"/>
          <p:nvPr/>
        </p:nvSpPr>
        <p:spPr>
          <a:xfrm>
            <a:off x="10228286" y="5034525"/>
            <a:ext cx="1628752" cy="116955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FCEFD8"/>
              </a:gs>
              <a:gs pos="100000">
                <a:schemeClr val="bg1"/>
              </a:gs>
            </a:gsLst>
            <a:lin ang="135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Creazione Nuovo Evento nell’app e Nuovo Record per il Database Accessi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004929AB-9AB8-9558-136F-8F9E3911A6F7}"/>
              </a:ext>
            </a:extLst>
          </p:cNvPr>
          <p:cNvSpPr/>
          <p:nvPr/>
        </p:nvSpPr>
        <p:spPr>
          <a:xfrm>
            <a:off x="1161790" y="1479282"/>
            <a:ext cx="559032" cy="55903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>
              <a:alphaModFix amt="3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30854A6F-BE66-402A-1824-BA2B71E6624B}"/>
              </a:ext>
            </a:extLst>
          </p:cNvPr>
          <p:cNvSpPr/>
          <p:nvPr/>
        </p:nvSpPr>
        <p:spPr>
          <a:xfrm>
            <a:off x="5877953" y="1479282"/>
            <a:ext cx="527574" cy="52757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7">
              <a:alphaModFix amt="3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30" name="Freeform 4">
            <a:extLst>
              <a:ext uri="{FF2B5EF4-FFF2-40B4-BE49-F238E27FC236}">
                <a16:creationId xmlns:a16="http://schemas.microsoft.com/office/drawing/2014/main" id="{9DF81C24-9F5D-2308-7DDA-5A867D814BA6}"/>
              </a:ext>
            </a:extLst>
          </p:cNvPr>
          <p:cNvSpPr/>
          <p:nvPr/>
        </p:nvSpPr>
        <p:spPr>
          <a:xfrm>
            <a:off x="5871627" y="4079908"/>
            <a:ext cx="540226" cy="54022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9">
              <a:alphaModFix amt="32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5992B8AE-38B9-A01A-A472-E7519A817B3F}"/>
              </a:ext>
            </a:extLst>
          </p:cNvPr>
          <p:cNvSpPr/>
          <p:nvPr/>
        </p:nvSpPr>
        <p:spPr>
          <a:xfrm>
            <a:off x="1168838" y="4079908"/>
            <a:ext cx="544937" cy="57745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1">
              <a:alphaModFix amt="32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86CC7D0D-262E-2487-3CBC-D9A5DE4AFE22}"/>
              </a:ext>
            </a:extLst>
          </p:cNvPr>
          <p:cNvSpPr/>
          <p:nvPr/>
        </p:nvSpPr>
        <p:spPr>
          <a:xfrm>
            <a:off x="10439436" y="4574325"/>
            <a:ext cx="1395032" cy="445477"/>
          </a:xfrm>
          <a:custGeom>
            <a:avLst/>
            <a:gdLst/>
            <a:ahLst/>
            <a:cxnLst/>
            <a:rect l="l" t="t" r="r" b="b"/>
            <a:pathLst>
              <a:path w="7315200" h="1280160">
                <a:moveTo>
                  <a:pt x="0" y="0"/>
                </a:moveTo>
                <a:lnTo>
                  <a:pt x="7315200" y="0"/>
                </a:lnTo>
                <a:lnTo>
                  <a:pt x="73152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62806" r="-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515A02-CBB1-94D3-0DB2-2D65CDA6FE08}"/>
              </a:ext>
            </a:extLst>
          </p:cNvPr>
          <p:cNvSpPr txBox="1"/>
          <p:nvPr/>
        </p:nvSpPr>
        <p:spPr>
          <a:xfrm>
            <a:off x="10150690" y="4110149"/>
            <a:ext cx="1783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Prossimo Step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2C3C09-E3AD-E4C7-0CE1-63CA2EE71582}"/>
              </a:ext>
            </a:extLst>
          </p:cNvPr>
          <p:cNvSpPr txBox="1"/>
          <p:nvPr/>
        </p:nvSpPr>
        <p:spPr>
          <a:xfrm>
            <a:off x="312389" y="1004994"/>
            <a:ext cx="3068637" cy="307777"/>
          </a:xfrm>
          <a:prstGeom prst="rect">
            <a:avLst/>
          </a:prstGeom>
          <a:solidFill>
            <a:srgbClr val="F5F4EF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Interfaccia dedicata ai trasportatori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E0EBF8E-72EA-191C-2F0C-420BB34D6E5A}"/>
              </a:ext>
            </a:extLst>
          </p:cNvPr>
          <p:cNvSpPr txBox="1"/>
          <p:nvPr/>
        </p:nvSpPr>
        <p:spPr>
          <a:xfrm>
            <a:off x="3507044" y="1000615"/>
            <a:ext cx="135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(illustrativo)</a:t>
            </a:r>
          </a:p>
        </p:txBody>
      </p:sp>
    </p:spTree>
    <p:extLst>
      <p:ext uri="{BB962C8B-B14F-4D97-AF65-F5344CB8AC3E}">
        <p14:creationId xmlns:p14="http://schemas.microsoft.com/office/powerpoint/2010/main" val="1757669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C88D-2D86-76D9-0A42-0FEA1309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311F57B1-6C01-2BC1-1FF5-CCBCF4063A6B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4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App gestionale: operazioni di scarico</a:t>
            </a:r>
          </a:p>
        </p:txBody>
      </p:sp>
      <p:pic>
        <p:nvPicPr>
          <p:cNvPr id="47" name="Graphic 46" descr="Database with solid fill">
            <a:extLst>
              <a:ext uri="{FF2B5EF4-FFF2-40B4-BE49-F238E27FC236}">
                <a16:creationId xmlns:a16="http://schemas.microsoft.com/office/drawing/2014/main" id="{98577D4B-CE17-BA96-9F51-24074E2B2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1226" y="1859297"/>
            <a:ext cx="1185653" cy="118565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BA4A2081-88AF-F194-B5FE-70FC82F4A04B}"/>
              </a:ext>
            </a:extLst>
          </p:cNvPr>
          <p:cNvGrpSpPr/>
          <p:nvPr/>
        </p:nvGrpSpPr>
        <p:grpSpPr>
          <a:xfrm>
            <a:off x="1720060" y="1863566"/>
            <a:ext cx="3889724" cy="2746533"/>
            <a:chOff x="193569" y="1124265"/>
            <a:chExt cx="4418945" cy="312021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E0FD05-1B60-8F49-8DCB-22E7663523D8}"/>
                </a:ext>
              </a:extLst>
            </p:cNvPr>
            <p:cNvGrpSpPr/>
            <p:nvPr/>
          </p:nvGrpSpPr>
          <p:grpSpPr>
            <a:xfrm>
              <a:off x="193569" y="1124265"/>
              <a:ext cx="4418945" cy="3120216"/>
              <a:chOff x="3447076" y="1052513"/>
              <a:chExt cx="4418945" cy="3120216"/>
            </a:xfrm>
          </p:grpSpPr>
          <p:pic>
            <p:nvPicPr>
              <p:cNvPr id="16" name="Graphic 15" descr="Tablet with solid fill">
                <a:extLst>
                  <a:ext uri="{FF2B5EF4-FFF2-40B4-BE49-F238E27FC236}">
                    <a16:creationId xmlns:a16="http://schemas.microsoft.com/office/drawing/2014/main" id="{3BE82B84-F5D7-5BE1-C375-BB5455C95E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6570" t="19371" r="6731" b="19411"/>
              <a:stretch/>
            </p:blipFill>
            <p:spPr>
              <a:xfrm>
                <a:off x="3447076" y="1052513"/>
                <a:ext cx="4418945" cy="3120216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7099F91-48CD-4C8A-B6F5-99367C3D9BC6}"/>
                  </a:ext>
                </a:extLst>
              </p:cNvPr>
              <p:cNvSpPr/>
              <p:nvPr/>
            </p:nvSpPr>
            <p:spPr>
              <a:xfrm>
                <a:off x="3891280" y="1483360"/>
                <a:ext cx="3535680" cy="50577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dirty="0"/>
                  <a:t>Seleziona l’evento in corso</a:t>
                </a:r>
              </a:p>
            </p:txBody>
          </p: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9D36A71-81F0-0D6E-5128-8C932A412DCF}"/>
                </a:ext>
              </a:extLst>
            </p:cNvPr>
            <p:cNvSpPr/>
            <p:nvPr/>
          </p:nvSpPr>
          <p:spPr>
            <a:xfrm>
              <a:off x="637773" y="2114007"/>
              <a:ext cx="3535680" cy="162087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8F12491-4EBC-BD1E-09FA-D6CC1F5AE91F}"/>
                </a:ext>
              </a:extLst>
            </p:cNvPr>
            <p:cNvSpPr/>
            <p:nvPr/>
          </p:nvSpPr>
          <p:spPr>
            <a:xfrm>
              <a:off x="1115969" y="2282091"/>
              <a:ext cx="2541631" cy="430590"/>
            </a:xfrm>
            <a:prstGeom prst="roundRect">
              <a:avLst>
                <a:gd name="adj" fmla="val 40748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/>
                <a:t>Fornitore 5324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EF8C7CC-C8C5-09C7-53E8-8AAEE745819D}"/>
                </a:ext>
              </a:extLst>
            </p:cNvPr>
            <p:cNvSpPr/>
            <p:nvPr/>
          </p:nvSpPr>
          <p:spPr>
            <a:xfrm>
              <a:off x="629243" y="2282091"/>
              <a:ext cx="497735" cy="424731"/>
            </a:xfrm>
            <a:prstGeom prst="roundRect">
              <a:avLst>
                <a:gd name="adj" fmla="val 40748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/>
                <a:t>1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1F6DA4B-EA77-F06B-E4C3-5F6FC789DFED}"/>
                </a:ext>
              </a:extLst>
            </p:cNvPr>
            <p:cNvSpPr/>
            <p:nvPr/>
          </p:nvSpPr>
          <p:spPr>
            <a:xfrm>
              <a:off x="1115969" y="2707990"/>
              <a:ext cx="2541631" cy="430590"/>
            </a:xfrm>
            <a:prstGeom prst="roundRect">
              <a:avLst>
                <a:gd name="adj" fmla="val 4074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/>
                <a:t>Fornitore 3251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FA6E28A-0883-2576-37F7-9A923D0C548E}"/>
                </a:ext>
              </a:extLst>
            </p:cNvPr>
            <p:cNvSpPr/>
            <p:nvPr/>
          </p:nvSpPr>
          <p:spPr>
            <a:xfrm>
              <a:off x="629243" y="2707990"/>
              <a:ext cx="497735" cy="424731"/>
            </a:xfrm>
            <a:prstGeom prst="roundRect">
              <a:avLst>
                <a:gd name="adj" fmla="val 4074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/>
                <a:t>2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E921027-3E0F-8CE7-AE88-190CEE175EF7}"/>
                </a:ext>
              </a:extLst>
            </p:cNvPr>
            <p:cNvSpPr/>
            <p:nvPr/>
          </p:nvSpPr>
          <p:spPr>
            <a:xfrm>
              <a:off x="1124499" y="3148224"/>
              <a:ext cx="2541631" cy="430590"/>
            </a:xfrm>
            <a:prstGeom prst="roundRect">
              <a:avLst>
                <a:gd name="adj" fmla="val 40748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/>
                <a:t>Fornitore 5125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B923EC3-77E2-FC0F-FE71-BB0951979B48}"/>
                </a:ext>
              </a:extLst>
            </p:cNvPr>
            <p:cNvSpPr/>
            <p:nvPr/>
          </p:nvSpPr>
          <p:spPr>
            <a:xfrm>
              <a:off x="637773" y="3148224"/>
              <a:ext cx="497735" cy="424731"/>
            </a:xfrm>
            <a:prstGeom prst="roundRect">
              <a:avLst>
                <a:gd name="adj" fmla="val 40748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/>
                <a:t>3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60BE63A-1A21-D96F-6101-E7579F58B66C}"/>
              </a:ext>
            </a:extLst>
          </p:cNvPr>
          <p:cNvGrpSpPr/>
          <p:nvPr/>
        </p:nvGrpSpPr>
        <p:grpSpPr>
          <a:xfrm>
            <a:off x="5945370" y="1877282"/>
            <a:ext cx="3889724" cy="2746533"/>
            <a:chOff x="1942329" y="3722488"/>
            <a:chExt cx="4418945" cy="3120216"/>
          </a:xfrm>
        </p:grpSpPr>
        <p:pic>
          <p:nvPicPr>
            <p:cNvPr id="40" name="Graphic 39" descr="Tablet with solid fill">
              <a:extLst>
                <a:ext uri="{FF2B5EF4-FFF2-40B4-BE49-F238E27FC236}">
                  <a16:creationId xmlns:a16="http://schemas.microsoft.com/office/drawing/2014/main" id="{55E0F1E7-6441-392F-B971-0D2B25597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6570" t="19371" r="6731" b="19411"/>
            <a:stretch/>
          </p:blipFill>
          <p:spPr>
            <a:xfrm>
              <a:off x="1942329" y="3722488"/>
              <a:ext cx="4418945" cy="3120216"/>
            </a:xfrm>
            <a:prstGeom prst="rect">
              <a:avLst/>
            </a:prstGeom>
          </p:spPr>
        </p:pic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097AA09-FDA6-B0A8-5D60-A06C1E7224CF}"/>
                </a:ext>
              </a:extLst>
            </p:cNvPr>
            <p:cNvSpPr/>
            <p:nvPr/>
          </p:nvSpPr>
          <p:spPr>
            <a:xfrm>
              <a:off x="2405828" y="5898730"/>
              <a:ext cx="3491948" cy="470125"/>
            </a:xfrm>
            <a:prstGeom prst="roundRect">
              <a:avLst>
                <a:gd name="adj" fmla="val 40748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dirty="0"/>
                <a:t>Fornitore 3251: Inserimento dati completo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2504438-690C-4F14-A7D4-F3A55021AADB}"/>
                </a:ext>
              </a:extLst>
            </p:cNvPr>
            <p:cNvSpPr/>
            <p:nvPr/>
          </p:nvSpPr>
          <p:spPr>
            <a:xfrm>
              <a:off x="2405828" y="4162714"/>
              <a:ext cx="1706880" cy="26527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/>
                <a:t>Data e ora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A92D87D-952F-B728-B41D-974292DC6FA9}"/>
                </a:ext>
              </a:extLst>
            </p:cNvPr>
            <p:cNvSpPr/>
            <p:nvPr/>
          </p:nvSpPr>
          <p:spPr>
            <a:xfrm>
              <a:off x="2405828" y="4509250"/>
              <a:ext cx="3523084" cy="3138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/>
                <a:t>Prima pesata </a:t>
              </a:r>
              <a:r>
                <a:rPr lang="it-IT" sz="1600">
                  <a:sym typeface="Wingdings" panose="05000000000000000000" pitchFamily="2" charset="2"/>
                </a:rPr>
                <a:t> Peso Lordo</a:t>
              </a:r>
              <a:endParaRPr lang="it-IT" sz="16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16FEBD8-8017-20D3-395C-9530F63CAB68}"/>
                </a:ext>
              </a:extLst>
            </p:cNvPr>
            <p:cNvSpPr/>
            <p:nvPr/>
          </p:nvSpPr>
          <p:spPr>
            <a:xfrm>
              <a:off x="2418424" y="4888747"/>
              <a:ext cx="3523084" cy="313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/>
                <a:t>Seconda pesata </a:t>
              </a:r>
              <a:r>
                <a:rPr lang="it-IT" sz="1600" dirty="0">
                  <a:sym typeface="Wingdings" panose="05000000000000000000" pitchFamily="2" charset="2"/>
                </a:rPr>
                <a:t> Tara</a:t>
              </a:r>
              <a:endParaRPr lang="it-IT" sz="1600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03D7F0B-8383-89B3-4DEB-F1EC1F0A398C}"/>
                </a:ext>
              </a:extLst>
            </p:cNvPr>
            <p:cNvSpPr/>
            <p:nvPr/>
          </p:nvSpPr>
          <p:spPr>
            <a:xfrm>
              <a:off x="2418424" y="5256822"/>
              <a:ext cx="3510488" cy="25563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/>
                <a:t>Peso Netto 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1AD5A9B-F9E1-ECF9-3506-643D2D025D86}"/>
                </a:ext>
              </a:extLst>
            </p:cNvPr>
            <p:cNvSpPr/>
            <p:nvPr/>
          </p:nvSpPr>
          <p:spPr>
            <a:xfrm>
              <a:off x="2405828" y="5588867"/>
              <a:ext cx="3510488" cy="2556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/>
                <a:t>Altre Info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9EEA2EF-BB1A-45F9-48E6-56FCD1AB31EA}"/>
                </a:ext>
              </a:extLst>
            </p:cNvPr>
            <p:cNvSpPr/>
            <p:nvPr/>
          </p:nvSpPr>
          <p:spPr>
            <a:xfrm>
              <a:off x="4204538" y="4162712"/>
              <a:ext cx="1706880" cy="2652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/>
                <a:t>Veicolo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FD98191D-8C5B-E96F-A53B-3756660D766B}"/>
              </a:ext>
            </a:extLst>
          </p:cNvPr>
          <p:cNvSpPr/>
          <p:nvPr/>
        </p:nvSpPr>
        <p:spPr>
          <a:xfrm>
            <a:off x="6231320" y="4681601"/>
            <a:ext cx="3317824" cy="1208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Compilazione form dati </a:t>
            </a:r>
          </a:p>
          <a:p>
            <a:pPr algn="ctr"/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(la possibilità di terminare è subordinata all’inserimento dei campi obbligatori)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B92C35-E12A-AE94-91BF-CCF3C51FB20F}"/>
              </a:ext>
            </a:extLst>
          </p:cNvPr>
          <p:cNvSpPr/>
          <p:nvPr/>
        </p:nvSpPr>
        <p:spPr>
          <a:xfrm>
            <a:off x="1876046" y="4681601"/>
            <a:ext cx="3577753" cy="1202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L’operatore aziendale seleziona l’utente/fornitore, che sta effettuando le operazioni di scarico, per poi procedere con l’inserimento dei dati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B9A46D-0C50-282F-2FAA-F5835CE9B257}"/>
              </a:ext>
            </a:extLst>
          </p:cNvPr>
          <p:cNvSpPr txBox="1"/>
          <p:nvPr/>
        </p:nvSpPr>
        <p:spPr>
          <a:xfrm>
            <a:off x="10368471" y="3088733"/>
            <a:ext cx="1471164" cy="92333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FCD89E"/>
              </a:gs>
              <a:gs pos="100000">
                <a:schemeClr val="bg1"/>
              </a:gs>
            </a:gsLst>
            <a:lin ang="135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Database degli Accessi</a:t>
            </a:r>
          </a:p>
        </p:txBody>
      </p:sp>
      <p:sp>
        <p:nvSpPr>
          <p:cNvPr id="60" name="Freeform 9">
            <a:extLst>
              <a:ext uri="{FF2B5EF4-FFF2-40B4-BE49-F238E27FC236}">
                <a16:creationId xmlns:a16="http://schemas.microsoft.com/office/drawing/2014/main" id="{0981A990-C1CF-3B97-C147-E1E8502B8AD3}"/>
              </a:ext>
            </a:extLst>
          </p:cNvPr>
          <p:cNvSpPr/>
          <p:nvPr/>
        </p:nvSpPr>
        <p:spPr>
          <a:xfrm>
            <a:off x="9949394" y="3430807"/>
            <a:ext cx="671168" cy="214325"/>
          </a:xfrm>
          <a:custGeom>
            <a:avLst/>
            <a:gdLst/>
            <a:ahLst/>
            <a:cxnLst/>
            <a:rect l="l" t="t" r="r" b="b"/>
            <a:pathLst>
              <a:path w="7315200" h="1280160">
                <a:moveTo>
                  <a:pt x="0" y="0"/>
                </a:moveTo>
                <a:lnTo>
                  <a:pt x="7315200" y="0"/>
                </a:lnTo>
                <a:lnTo>
                  <a:pt x="73152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2806" r="-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7A558A-6838-35F1-68E2-66D8AB2A6274}"/>
              </a:ext>
            </a:extLst>
          </p:cNvPr>
          <p:cNvSpPr txBox="1"/>
          <p:nvPr/>
        </p:nvSpPr>
        <p:spPr>
          <a:xfrm>
            <a:off x="334963" y="973772"/>
            <a:ext cx="3525837" cy="307777"/>
          </a:xfrm>
          <a:prstGeom prst="rect">
            <a:avLst/>
          </a:prstGeom>
          <a:solidFill>
            <a:srgbClr val="F5F4EF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Interfaccia dedicata agli operatori interni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34C992E-F366-1D9B-BC50-0862508C32A7}"/>
              </a:ext>
            </a:extLst>
          </p:cNvPr>
          <p:cNvSpPr txBox="1"/>
          <p:nvPr/>
        </p:nvSpPr>
        <p:spPr>
          <a:xfrm>
            <a:off x="4002344" y="952273"/>
            <a:ext cx="135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(illustrativo)</a:t>
            </a:r>
          </a:p>
        </p:txBody>
      </p:sp>
    </p:spTree>
    <p:extLst>
      <p:ext uri="{BB962C8B-B14F-4D97-AF65-F5344CB8AC3E}">
        <p14:creationId xmlns:p14="http://schemas.microsoft.com/office/powerpoint/2010/main" val="694551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9807-C358-C22A-FAC1-AB2EC1A8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E25AF841-B371-D2E6-EE25-7222A88AC5A8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all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TOTEM uscita: Homepage</a:t>
            </a:r>
            <a:endParaRPr kumimoji="0" lang="it-IT" sz="2400" b="0" i="0" u="none" strike="noStrike" kern="1200" cap="all" spc="4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21AD9A-FB5F-B7A0-D9AA-9975F47C40F1}"/>
              </a:ext>
            </a:extLst>
          </p:cNvPr>
          <p:cNvGrpSpPr/>
          <p:nvPr/>
        </p:nvGrpSpPr>
        <p:grpSpPr>
          <a:xfrm>
            <a:off x="2039317" y="1586286"/>
            <a:ext cx="3282507" cy="2317778"/>
            <a:chOff x="253604" y="943784"/>
            <a:chExt cx="4418945" cy="312021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94FA72-F41E-7010-329A-C1ED3836FD5C}"/>
                </a:ext>
              </a:extLst>
            </p:cNvPr>
            <p:cNvSpPr/>
            <p:nvPr/>
          </p:nvSpPr>
          <p:spPr>
            <a:xfrm>
              <a:off x="665325" y="1280160"/>
              <a:ext cx="3681806" cy="24277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5" name="Graphic 4" descr="Tablet with solid fill">
              <a:extLst>
                <a:ext uri="{FF2B5EF4-FFF2-40B4-BE49-F238E27FC236}">
                  <a16:creationId xmlns:a16="http://schemas.microsoft.com/office/drawing/2014/main" id="{C3E226C2-6E2E-65D7-7CDB-0F96743B2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570" t="19371" r="6731" b="19411"/>
            <a:stretch/>
          </p:blipFill>
          <p:spPr>
            <a:xfrm>
              <a:off x="253604" y="943784"/>
              <a:ext cx="4418945" cy="3120216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58B82CD-6B9D-D416-C26F-7151C54702AE}"/>
                </a:ext>
              </a:extLst>
            </p:cNvPr>
            <p:cNvSpPr/>
            <p:nvPr/>
          </p:nvSpPr>
          <p:spPr>
            <a:xfrm>
              <a:off x="944484" y="2241564"/>
              <a:ext cx="1293879" cy="841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dirty="0"/>
                <a:t>STAI </a:t>
              </a:r>
              <a:r>
                <a:rPr lang="it-IT" sz="1000" dirty="0"/>
                <a:t>ENTRANDO</a:t>
              </a:r>
              <a:r>
                <a:rPr lang="it-IT" sz="1100" dirty="0"/>
                <a:t>?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447F461-3CD7-5B55-BB93-C49156093351}"/>
                </a:ext>
              </a:extLst>
            </p:cNvPr>
            <p:cNvSpPr/>
            <p:nvPr/>
          </p:nvSpPr>
          <p:spPr>
            <a:xfrm>
              <a:off x="2783016" y="2241564"/>
              <a:ext cx="1293879" cy="84131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000" dirty="0"/>
                <a:t>STAI</a:t>
              </a:r>
              <a:r>
                <a:rPr lang="it-IT" sz="1100" dirty="0"/>
                <a:t> USCENDO?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6A4A8DB-90F4-AECF-F86F-A0226329EC45}"/>
                </a:ext>
              </a:extLst>
            </p:cNvPr>
            <p:cNvSpPr/>
            <p:nvPr/>
          </p:nvSpPr>
          <p:spPr>
            <a:xfrm>
              <a:off x="944484" y="1514650"/>
              <a:ext cx="3132411" cy="39053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Benvenuto a </a:t>
              </a:r>
              <a:r>
                <a:rPr lang="it-IT" sz="1200" dirty="0"/>
                <a:t>SELF-GARDEN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ECF84B-3295-91CA-EEEC-32E5257A403E}"/>
              </a:ext>
            </a:extLst>
          </p:cNvPr>
          <p:cNvGrpSpPr/>
          <p:nvPr/>
        </p:nvGrpSpPr>
        <p:grpSpPr>
          <a:xfrm>
            <a:off x="4370943" y="4134506"/>
            <a:ext cx="3328863" cy="2350510"/>
            <a:chOff x="3139657" y="4193028"/>
            <a:chExt cx="3773588" cy="266453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206E4EF-250B-3D4F-E2B2-16CF1F8168CD}"/>
                </a:ext>
              </a:extLst>
            </p:cNvPr>
            <p:cNvSpPr/>
            <p:nvPr/>
          </p:nvSpPr>
          <p:spPr>
            <a:xfrm>
              <a:off x="3458009" y="4450322"/>
              <a:ext cx="3144103" cy="21646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5" name="Graphic 34" descr="Tablet with solid fill">
              <a:extLst>
                <a:ext uri="{FF2B5EF4-FFF2-40B4-BE49-F238E27FC236}">
                  <a16:creationId xmlns:a16="http://schemas.microsoft.com/office/drawing/2014/main" id="{3E17EAA0-5F73-2034-FAF1-731176922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570" t="19371" r="6731" b="19411"/>
            <a:stretch/>
          </p:blipFill>
          <p:spPr>
            <a:xfrm>
              <a:off x="3139657" y="4193028"/>
              <a:ext cx="3773588" cy="2664530"/>
            </a:xfrm>
            <a:prstGeom prst="rect">
              <a:avLst/>
            </a:prstGeom>
          </p:spPr>
        </p:pic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5E363E6-7150-E834-396E-C09C947E400F}"/>
                </a:ext>
              </a:extLst>
            </p:cNvPr>
            <p:cNvSpPr/>
            <p:nvPr/>
          </p:nvSpPr>
          <p:spPr>
            <a:xfrm>
              <a:off x="3666991" y="4597555"/>
              <a:ext cx="2674944" cy="30387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Firma e conferma uscita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2B9E72A-DFD3-EDCA-495D-AE5473E0569F}"/>
                </a:ext>
              </a:extLst>
            </p:cNvPr>
            <p:cNvSpPr/>
            <p:nvPr/>
          </p:nvSpPr>
          <p:spPr>
            <a:xfrm>
              <a:off x="3666391" y="4952775"/>
              <a:ext cx="2674944" cy="111216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18993F2-CA57-E9CD-60CA-F111322D785E}"/>
                </a:ext>
              </a:extLst>
            </p:cNvPr>
            <p:cNvSpPr/>
            <p:nvPr/>
          </p:nvSpPr>
          <p:spPr>
            <a:xfrm>
              <a:off x="3847576" y="5101636"/>
              <a:ext cx="2336799" cy="80988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3C14B62-438C-3B1B-89D1-BE6855CB1393}"/>
                </a:ext>
              </a:extLst>
            </p:cNvPr>
            <p:cNvSpPr/>
            <p:nvPr/>
          </p:nvSpPr>
          <p:spPr>
            <a:xfrm>
              <a:off x="5026451" y="6171943"/>
              <a:ext cx="1325359" cy="269662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/>
                <a:t>ESCI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235F602-BEDE-612E-65D3-09478BA206BE}"/>
              </a:ext>
            </a:extLst>
          </p:cNvPr>
          <p:cNvGrpSpPr/>
          <p:nvPr/>
        </p:nvGrpSpPr>
        <p:grpSpPr>
          <a:xfrm>
            <a:off x="6813157" y="1586286"/>
            <a:ext cx="3282507" cy="2317778"/>
            <a:chOff x="5735638" y="943784"/>
            <a:chExt cx="4418945" cy="31202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4F4C96-410F-D5B8-B1F4-BA862555E3AF}"/>
                </a:ext>
              </a:extLst>
            </p:cNvPr>
            <p:cNvSpPr/>
            <p:nvPr/>
          </p:nvSpPr>
          <p:spPr>
            <a:xfrm>
              <a:off x="6147359" y="1280160"/>
              <a:ext cx="3681806" cy="24277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4" name="Graphic 13" descr="Tablet with solid fill">
              <a:extLst>
                <a:ext uri="{FF2B5EF4-FFF2-40B4-BE49-F238E27FC236}">
                  <a16:creationId xmlns:a16="http://schemas.microsoft.com/office/drawing/2014/main" id="{72176F0E-6CD1-ED3A-31D0-FB35BA081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570" t="19371" r="6731" b="19411"/>
            <a:stretch/>
          </p:blipFill>
          <p:spPr>
            <a:xfrm>
              <a:off x="5735638" y="943784"/>
              <a:ext cx="4418945" cy="3120216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0CA7F32-54A2-22B4-18FC-04EA463139AC}"/>
                </a:ext>
              </a:extLst>
            </p:cNvPr>
            <p:cNvSpPr/>
            <p:nvPr/>
          </p:nvSpPr>
          <p:spPr>
            <a:xfrm>
              <a:off x="6426518" y="1514650"/>
              <a:ext cx="3132411" cy="39053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dirty="0"/>
                <a:t>Chi sei?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D7A35E7-3CDA-7459-F310-A0F236692D52}"/>
                </a:ext>
              </a:extLst>
            </p:cNvPr>
            <p:cNvSpPr/>
            <p:nvPr/>
          </p:nvSpPr>
          <p:spPr>
            <a:xfrm>
              <a:off x="6426518" y="1999628"/>
              <a:ext cx="3132411" cy="14293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50C586A-7251-FA60-FCFB-7E87108F2291}"/>
                </a:ext>
              </a:extLst>
            </p:cNvPr>
            <p:cNvSpPr/>
            <p:nvPr/>
          </p:nvSpPr>
          <p:spPr>
            <a:xfrm>
              <a:off x="8233841" y="2167712"/>
              <a:ext cx="1283364" cy="379716"/>
            </a:xfrm>
            <a:prstGeom prst="roundRect">
              <a:avLst>
                <a:gd name="adj" fmla="val 32721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dirty="0"/>
                <a:t>Cognome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95FFAA9-8A67-0A1A-4462-FA550A4DBEC0}"/>
                </a:ext>
              </a:extLst>
            </p:cNvPr>
            <p:cNvSpPr/>
            <p:nvPr/>
          </p:nvSpPr>
          <p:spPr>
            <a:xfrm>
              <a:off x="6904715" y="2167712"/>
              <a:ext cx="1283364" cy="379716"/>
            </a:xfrm>
            <a:prstGeom prst="roundRect">
              <a:avLst>
                <a:gd name="adj" fmla="val 40748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/>
                <a:t>Nome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4C727F0-3D4F-ECFF-3FAE-5728F7473F74}"/>
                </a:ext>
              </a:extLst>
            </p:cNvPr>
            <p:cNvSpPr/>
            <p:nvPr/>
          </p:nvSpPr>
          <p:spPr>
            <a:xfrm>
              <a:off x="6417988" y="2167712"/>
              <a:ext cx="440965" cy="374549"/>
            </a:xfrm>
            <a:prstGeom prst="roundRect">
              <a:avLst>
                <a:gd name="adj" fmla="val 40748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/>
                <a:t>1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1D461FD-3D84-1785-8B5E-906734FDABD3}"/>
                </a:ext>
              </a:extLst>
            </p:cNvPr>
            <p:cNvSpPr/>
            <p:nvPr/>
          </p:nvSpPr>
          <p:spPr>
            <a:xfrm>
              <a:off x="8233841" y="2593611"/>
              <a:ext cx="1283364" cy="379716"/>
            </a:xfrm>
            <a:prstGeom prst="roundRect">
              <a:avLst>
                <a:gd name="adj" fmla="val 32721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 dirty="0"/>
                <a:t>Cognome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96169EA-6729-08E6-AF39-E5EA9C740E9D}"/>
                </a:ext>
              </a:extLst>
            </p:cNvPr>
            <p:cNvSpPr/>
            <p:nvPr/>
          </p:nvSpPr>
          <p:spPr>
            <a:xfrm>
              <a:off x="6904715" y="2593611"/>
              <a:ext cx="1283364" cy="379716"/>
            </a:xfrm>
            <a:prstGeom prst="roundRect">
              <a:avLst>
                <a:gd name="adj" fmla="val 40748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/>
                <a:t>Nome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9BC7E6A-6A88-C568-2A9D-39D4D3EA4371}"/>
                </a:ext>
              </a:extLst>
            </p:cNvPr>
            <p:cNvSpPr/>
            <p:nvPr/>
          </p:nvSpPr>
          <p:spPr>
            <a:xfrm>
              <a:off x="6417988" y="2593611"/>
              <a:ext cx="440965" cy="374549"/>
            </a:xfrm>
            <a:prstGeom prst="roundRect">
              <a:avLst>
                <a:gd name="adj" fmla="val 40748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/>
                <a:t>2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7EF092E-8A12-D0C3-823E-CCE794C98C96}"/>
                </a:ext>
              </a:extLst>
            </p:cNvPr>
            <p:cNvSpPr/>
            <p:nvPr/>
          </p:nvSpPr>
          <p:spPr>
            <a:xfrm>
              <a:off x="8242371" y="3033845"/>
              <a:ext cx="1283364" cy="379716"/>
            </a:xfrm>
            <a:prstGeom prst="roundRect">
              <a:avLst>
                <a:gd name="adj" fmla="val 32721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/>
                <a:t>Cognome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757E10D-2307-81D2-A473-E7EAFD5D58D9}"/>
                </a:ext>
              </a:extLst>
            </p:cNvPr>
            <p:cNvSpPr/>
            <p:nvPr/>
          </p:nvSpPr>
          <p:spPr>
            <a:xfrm>
              <a:off x="6913245" y="3033845"/>
              <a:ext cx="1283364" cy="379716"/>
            </a:xfrm>
            <a:prstGeom prst="roundRect">
              <a:avLst>
                <a:gd name="adj" fmla="val 40748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100"/>
                <a:t>Nome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25CD490-6629-2E04-264E-0F715A4EF916}"/>
                </a:ext>
              </a:extLst>
            </p:cNvPr>
            <p:cNvSpPr/>
            <p:nvPr/>
          </p:nvSpPr>
          <p:spPr>
            <a:xfrm>
              <a:off x="6426518" y="3033845"/>
              <a:ext cx="440965" cy="374549"/>
            </a:xfrm>
            <a:prstGeom prst="roundRect">
              <a:avLst>
                <a:gd name="adj" fmla="val 40748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/>
                <a:t>3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BC16BDF-52EC-B4BD-67B4-DB34267B8D8A}"/>
              </a:ext>
            </a:extLst>
          </p:cNvPr>
          <p:cNvSpPr txBox="1"/>
          <p:nvPr/>
        </p:nvSpPr>
        <p:spPr>
          <a:xfrm>
            <a:off x="8338631" y="4369922"/>
            <a:ext cx="2163935" cy="92333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rgbClr val="FCD89E"/>
              </a:gs>
              <a:gs pos="100000">
                <a:schemeClr val="bg1"/>
              </a:gs>
            </a:gsLst>
            <a:lin ang="135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it-IT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Notarizzazione</a:t>
            </a:r>
            <a:r>
              <a:rPr lang="it-IT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su IOTA</a:t>
            </a:r>
          </a:p>
          <a:p>
            <a:pPr algn="ctr"/>
            <a:r>
              <a:rPr lang="it-IT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Chiusura Evento</a:t>
            </a:r>
          </a:p>
        </p:txBody>
      </p:sp>
      <p:pic>
        <p:nvPicPr>
          <p:cNvPr id="1026" name="Picture 2" descr="What Is IOTA (MIOTA)?">
            <a:extLst>
              <a:ext uri="{FF2B5EF4-FFF2-40B4-BE49-F238E27FC236}">
                <a16:creationId xmlns:a16="http://schemas.microsoft.com/office/drawing/2014/main" id="{636266D1-6776-C6BF-AE3B-ED58444B51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t="14854" r="9847" b="12796"/>
          <a:stretch/>
        </p:blipFill>
        <p:spPr bwMode="auto">
          <a:xfrm>
            <a:off x="10664226" y="5393255"/>
            <a:ext cx="792481" cy="75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Graphic 39" descr="Database with solid fill">
            <a:extLst>
              <a:ext uri="{FF2B5EF4-FFF2-40B4-BE49-F238E27FC236}">
                <a16:creationId xmlns:a16="http://schemas.microsoft.com/office/drawing/2014/main" id="{57E85382-CFE3-77C2-6ADE-0ACE965399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4632" y="3877394"/>
            <a:ext cx="1051668" cy="1051668"/>
          </a:xfrm>
          <a:prstGeom prst="rect">
            <a:avLst/>
          </a:prstGeom>
        </p:spPr>
      </p:pic>
      <p:sp>
        <p:nvSpPr>
          <p:cNvPr id="41" name="Plus Sign 40">
            <a:extLst>
              <a:ext uri="{FF2B5EF4-FFF2-40B4-BE49-F238E27FC236}">
                <a16:creationId xmlns:a16="http://schemas.microsoft.com/office/drawing/2014/main" id="{1B445E06-F811-0881-10E2-3F14A8AD9FB7}"/>
              </a:ext>
            </a:extLst>
          </p:cNvPr>
          <p:cNvSpPr/>
          <p:nvPr/>
        </p:nvSpPr>
        <p:spPr>
          <a:xfrm>
            <a:off x="10818968" y="4935607"/>
            <a:ext cx="482996" cy="45110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FE0F54FB-AE8C-717D-AEDC-9FD47947A77E}"/>
              </a:ext>
            </a:extLst>
          </p:cNvPr>
          <p:cNvSpPr/>
          <p:nvPr/>
        </p:nvSpPr>
        <p:spPr>
          <a:xfrm>
            <a:off x="1377690" y="1720582"/>
            <a:ext cx="559032" cy="55903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7">
              <a:alphaModFix amt="3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2F5E2EDE-B84E-ABCA-BBA8-F085E2308EFF}"/>
              </a:ext>
            </a:extLst>
          </p:cNvPr>
          <p:cNvSpPr/>
          <p:nvPr/>
        </p:nvSpPr>
        <p:spPr>
          <a:xfrm>
            <a:off x="6182753" y="1720582"/>
            <a:ext cx="527574" cy="52757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9">
              <a:alphaModFix amt="32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A6D576-21A1-BC80-DF1F-7CAF6BED2024}"/>
              </a:ext>
            </a:extLst>
          </p:cNvPr>
          <p:cNvSpPr/>
          <p:nvPr/>
        </p:nvSpPr>
        <p:spPr>
          <a:xfrm>
            <a:off x="3747479" y="4278060"/>
            <a:ext cx="544937" cy="57745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1">
              <a:alphaModFix amt="32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2" name="Freeform 9">
            <a:extLst>
              <a:ext uri="{FF2B5EF4-FFF2-40B4-BE49-F238E27FC236}">
                <a16:creationId xmlns:a16="http://schemas.microsoft.com/office/drawing/2014/main" id="{D3548E80-F52B-73CC-0EB5-B3CF20D9CCEA}"/>
              </a:ext>
            </a:extLst>
          </p:cNvPr>
          <p:cNvSpPr/>
          <p:nvPr/>
        </p:nvSpPr>
        <p:spPr>
          <a:xfrm>
            <a:off x="7754885" y="4755873"/>
            <a:ext cx="528667" cy="168820"/>
          </a:xfrm>
          <a:custGeom>
            <a:avLst/>
            <a:gdLst/>
            <a:ahLst/>
            <a:cxnLst/>
            <a:rect l="l" t="t" r="r" b="b"/>
            <a:pathLst>
              <a:path w="7315200" h="1280160">
                <a:moveTo>
                  <a:pt x="0" y="0"/>
                </a:moveTo>
                <a:lnTo>
                  <a:pt x="7315200" y="0"/>
                </a:lnTo>
                <a:lnTo>
                  <a:pt x="73152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62806" r="-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D5D0C0-5160-EA84-535F-63D27FAB915B}"/>
              </a:ext>
            </a:extLst>
          </p:cNvPr>
          <p:cNvSpPr txBox="1"/>
          <p:nvPr/>
        </p:nvSpPr>
        <p:spPr>
          <a:xfrm>
            <a:off x="312389" y="1004994"/>
            <a:ext cx="3068637" cy="307777"/>
          </a:xfrm>
          <a:prstGeom prst="rect">
            <a:avLst/>
          </a:prstGeom>
          <a:solidFill>
            <a:srgbClr val="F5F4EF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Interfaccia dedicata ai trasportatori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912C413-517C-AF92-4FEA-D7945D530E64}"/>
              </a:ext>
            </a:extLst>
          </p:cNvPr>
          <p:cNvSpPr txBox="1"/>
          <p:nvPr/>
        </p:nvSpPr>
        <p:spPr>
          <a:xfrm>
            <a:off x="3507044" y="1000615"/>
            <a:ext cx="135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(illustrativo)</a:t>
            </a:r>
          </a:p>
        </p:txBody>
      </p:sp>
    </p:spTree>
    <p:extLst>
      <p:ext uri="{BB962C8B-B14F-4D97-AF65-F5344CB8AC3E}">
        <p14:creationId xmlns:p14="http://schemas.microsoft.com/office/powerpoint/2010/main" val="2547830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B63AECE-CFA1-7470-F8EB-5E97FAA250BF}"/>
              </a:ext>
            </a:extLst>
          </p:cNvPr>
          <p:cNvSpPr txBox="1">
            <a:spLocks/>
          </p:cNvSpPr>
          <p:nvPr/>
        </p:nvSpPr>
        <p:spPr>
          <a:xfrm>
            <a:off x="388916" y="43757"/>
            <a:ext cx="11415557" cy="900027"/>
          </a:xfrm>
          <a:prstGeom prst="rect">
            <a:avLst/>
          </a:prstGeom>
        </p:spPr>
        <p:txBody>
          <a:bodyPr lIns="0" anchor="ctr" anchorCtr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sz="2667" kern="1200" cap="all" spc="400" baseline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3200"/>
              <a:t>Riepilogo proposta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C9FABD5-B53F-A853-486C-34BD26E32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2554670"/>
              </p:ext>
            </p:extLst>
          </p:nvPr>
        </p:nvGraphicFramePr>
        <p:xfrm>
          <a:off x="1025363" y="1550482"/>
          <a:ext cx="9744237" cy="4264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5820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57CFF5DE98A40ACFEE50952031BB2" ma:contentTypeVersion="13" ma:contentTypeDescription="Create a new document." ma:contentTypeScope="" ma:versionID="1b290a6e6252649908d92c5976d5d7e2">
  <xsd:schema xmlns:xsd="http://www.w3.org/2001/XMLSchema" xmlns:xs="http://www.w3.org/2001/XMLSchema" xmlns:p="http://schemas.microsoft.com/office/2006/metadata/properties" xmlns:ns2="5735192e-ec71-40a1-825c-8971dcddf271" xmlns:ns3="848150f8-85e9-4aeb-ae75-a80aa57084e0" targetNamespace="http://schemas.microsoft.com/office/2006/metadata/properties" ma:root="true" ma:fieldsID="58a6a892a146a2221de2f89f384aacde" ns2:_="" ns3:_="">
    <xsd:import namespace="5735192e-ec71-40a1-825c-8971dcddf271"/>
    <xsd:import namespace="848150f8-85e9-4aeb-ae75-a80aa57084e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5192e-ec71-40a1-825c-8971dcddf2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1236525-b976-4609-a1d2-2c06a491e0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8150f8-85e9-4aeb-ae75-a80aa57084e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5362636-606f-46bc-9d50-61b4a37de972}" ma:internalName="TaxCatchAll" ma:showField="CatchAllData" ma:web="848150f8-85e9-4aeb-ae75-a80aa57084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8150f8-85e9-4aeb-ae75-a80aa57084e0" xsi:nil="true"/>
    <lcf76f155ced4ddcb4097134ff3c332f xmlns="5735192e-ec71-40a1-825c-8971dcddf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C8D598F-48D6-4198-B5AB-85602379C655}"/>
</file>

<file path=customXml/itemProps2.xml><?xml version="1.0" encoding="utf-8"?>
<ds:datastoreItem xmlns:ds="http://schemas.openxmlformats.org/officeDocument/2006/customXml" ds:itemID="{B337FB58-256B-431C-83F6-1B345C6CBF52}"/>
</file>

<file path=customXml/itemProps3.xml><?xml version="1.0" encoding="utf-8"?>
<ds:datastoreItem xmlns:ds="http://schemas.openxmlformats.org/officeDocument/2006/customXml" ds:itemID="{D6A606F4-C2B8-48D0-8599-88638325ED52}"/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2017</Words>
  <Application>Microsoft Office PowerPoint</Application>
  <PresentationFormat>Widescreen</PresentationFormat>
  <Paragraphs>244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Roboto</vt:lpstr>
      <vt:lpstr>Roboto Bold</vt:lpstr>
      <vt:lpstr>Roboto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Daniele Di Noto</dc:creator>
  <cp:lastModifiedBy>Marco Chessari</cp:lastModifiedBy>
  <cp:revision>2</cp:revision>
  <dcterms:created xsi:type="dcterms:W3CDTF">2024-09-30T09:37:30Z</dcterms:created>
  <dcterms:modified xsi:type="dcterms:W3CDTF">2025-02-14T22:13:14Z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0x0101000FA57CFF5DE98A40ACFEE50952031BB2</vt:lpwstr>
  </property>
  <property fmtid="{D5CDD505-2E9C-101B-9397-08002B2CF9AE}" pid="3" name="Order">
    <vt:lpwstr>2800.00000000000</vt:lpwstr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</Properties>
</file>