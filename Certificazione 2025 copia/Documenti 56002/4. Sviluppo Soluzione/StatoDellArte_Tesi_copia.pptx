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7" r:id="rId4"/>
  </p:sldMasterIdLst>
  <p:sldIdLst>
    <p:sldId id="268" r:id="rId5"/>
    <p:sldId id="271" r:id="rId6"/>
    <p:sldId id="270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B27C"/>
    <a:srgbClr val="90DFB1"/>
    <a:srgbClr val="E5EA95"/>
    <a:srgbClr val="8ED7E9"/>
    <a:srgbClr val="C3E0EA"/>
    <a:srgbClr val="EDD4E2"/>
    <a:srgbClr val="F4F2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e Di Noto" userId="b95781cd-dd38-4f8a-b385-7604df60ded1" providerId="ADAL" clId="{52C7828A-7D3D-40E2-889F-BDA42046592C}"/>
    <pc:docChg chg="custSel modSld">
      <pc:chgData name="Daniele Di Noto" userId="b95781cd-dd38-4f8a-b385-7604df60ded1" providerId="ADAL" clId="{52C7828A-7D3D-40E2-889F-BDA42046592C}" dt="2025-02-14T15:40:45.366" v="28" actId="20577"/>
      <pc:docMkLst>
        <pc:docMk/>
      </pc:docMkLst>
      <pc:sldChg chg="mod modShow">
        <pc:chgData name="Daniele Di Noto" userId="b95781cd-dd38-4f8a-b385-7604df60ded1" providerId="ADAL" clId="{52C7828A-7D3D-40E2-889F-BDA42046592C}" dt="2025-02-14T15:40:10.539" v="1" actId="729"/>
        <pc:sldMkLst>
          <pc:docMk/>
          <pc:sldMk cId="0" sldId="268"/>
        </pc:sldMkLst>
      </pc:sldChg>
      <pc:sldChg chg="modSp mod">
        <pc:chgData name="Daniele Di Noto" userId="b95781cd-dd38-4f8a-b385-7604df60ded1" providerId="ADAL" clId="{52C7828A-7D3D-40E2-889F-BDA42046592C}" dt="2025-02-14T15:40:45.366" v="28" actId="20577"/>
        <pc:sldMkLst>
          <pc:docMk/>
          <pc:sldMk cId="1844432087" sldId="277"/>
        </pc:sldMkLst>
        <pc:spChg chg="mod">
          <ac:chgData name="Daniele Di Noto" userId="b95781cd-dd38-4f8a-b385-7604df60ded1" providerId="ADAL" clId="{52C7828A-7D3D-40E2-889F-BDA42046592C}" dt="2025-02-14T15:40:45.366" v="28" actId="20577"/>
          <ac:spMkLst>
            <pc:docMk/>
            <pc:sldMk cId="1844432087" sldId="277"/>
            <ac:spMk id="57" creationId="{DE349952-0B0E-840A-3BE8-E0D3EEE920B6}"/>
          </ac:spMkLst>
        </pc:spChg>
      </pc:sldChg>
      <pc:sldChg chg="mod modShow">
        <pc:chgData name="Daniele Di Noto" userId="b95781cd-dd38-4f8a-b385-7604df60ded1" providerId="ADAL" clId="{52C7828A-7D3D-40E2-889F-BDA42046592C}" dt="2025-02-14T15:40:05.992" v="0" actId="729"/>
        <pc:sldMkLst>
          <pc:docMk/>
          <pc:sldMk cId="0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722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9921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9906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1234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60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9472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59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3801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7190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13612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9656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888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6" r:id="rId6"/>
    <p:sldLayoutId id="2147483821" r:id="rId7"/>
    <p:sldLayoutId id="2147483822" r:id="rId8"/>
    <p:sldLayoutId id="2147483823" r:id="rId9"/>
    <p:sldLayoutId id="2147483825" r:id="rId10"/>
    <p:sldLayoutId id="214748382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18" Type="http://schemas.openxmlformats.org/officeDocument/2006/relationships/image" Target="../media/image29.png"/><Relationship Id="rId3" Type="http://schemas.openxmlformats.org/officeDocument/2006/relationships/image" Target="../media/image14.svg"/><Relationship Id="rId21" Type="http://schemas.openxmlformats.org/officeDocument/2006/relationships/image" Target="../media/image32.pn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17" Type="http://schemas.openxmlformats.org/officeDocument/2006/relationships/image" Target="../media/image28.sv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24" Type="http://schemas.openxmlformats.org/officeDocument/2006/relationships/image" Target="../media/image35.pn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23" Type="http://schemas.openxmlformats.org/officeDocument/2006/relationships/image" Target="../media/image34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Relationship Id="rId14" Type="http://schemas.openxmlformats.org/officeDocument/2006/relationships/image" Target="../media/image25.png"/><Relationship Id="rId22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.png"/><Relationship Id="rId7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5.svg"/><Relationship Id="rId9" Type="http://schemas.openxmlformats.org/officeDocument/2006/relationships/image" Target="https://lh7-rt.googleusercontent.com/docsz/AD_4nXcj8RGvffciNhE8K4-JfJYY0FrFtjiANfx7w5H9nAZr5pkf_f2oU0cEHnGGhS5yZudiiZvz1vgiR39JF8XdxIKZGOhFvWoRr6AdAdLgKBAk4ZNdI8iOsV76lwbqN-5PejnX3PWJIQ?key=K3BRV6Tf1F9HyhrhODJyhI2u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https://lh7-rt.googleusercontent.com/docsz/AD_4nXdA7hGOa3v5pNwq6lrv4YP__ju8gU1X8Yhm2jTfGTAI9Hj8S-5o-C5w63glNMzBD9KblDvQQ9yYv6_BKCMoGfy3ud4W6UEu2O3oYT4qg3w1lxnVpU6NsJylGbYaT1Vr2ka5sqnf?key=K3BRV6Tf1F9HyhrhODJyhI2u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49.svg"/><Relationship Id="rId7" Type="http://schemas.openxmlformats.org/officeDocument/2006/relationships/image" Target="../media/image52.svg"/><Relationship Id="rId12" Type="http://schemas.openxmlformats.org/officeDocument/2006/relationships/image" Target="../media/image5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6.png"/><Relationship Id="rId10" Type="http://schemas.openxmlformats.org/officeDocument/2006/relationships/image" Target="../media/image55.png"/><Relationship Id="rId4" Type="http://schemas.openxmlformats.org/officeDocument/2006/relationships/image" Target="../media/image50.png"/><Relationship Id="rId9" Type="http://schemas.openxmlformats.org/officeDocument/2006/relationships/image" Target="../media/image54.svg"/><Relationship Id="rId14" Type="http://schemas.openxmlformats.org/officeDocument/2006/relationships/image" Target="https://lh7-rt.googleusercontent.com/docsz/AD_4nXfgbELi67X5JSKjzJqkticoM4zl_1bLb_Z6IUyTbK5wjgFpegwDukNnHymkm1j6FlXAdZzewav9XYWlBEZX3JasA3t8SaWPtYDJ_zF1nfmLg6xNGHDkVh7xQfmviTqkhM5fWDx_uw?key=K3BRV6Tf1F9HyhrhODJyhI2u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sv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sv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svg"/><Relationship Id="rId9" Type="http://schemas.openxmlformats.org/officeDocument/2006/relationships/image" Target="../media/image7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77111" y="1303480"/>
            <a:ext cx="4823877" cy="4251041"/>
          </a:xfrm>
          <a:custGeom>
            <a:avLst/>
            <a:gdLst/>
            <a:ahLst/>
            <a:cxnLst/>
            <a:rect l="l" t="t" r="r" b="b"/>
            <a:pathLst>
              <a:path w="7235815" h="6376562">
                <a:moveTo>
                  <a:pt x="0" y="0"/>
                </a:moveTo>
                <a:lnTo>
                  <a:pt x="7235816" y="0"/>
                </a:lnTo>
                <a:lnTo>
                  <a:pt x="7235816" y="6376562"/>
                </a:lnTo>
                <a:lnTo>
                  <a:pt x="0" y="6376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797050" y="2428054"/>
            <a:ext cx="8135877" cy="2217027"/>
          </a:xfrm>
          <a:custGeom>
            <a:avLst/>
            <a:gdLst/>
            <a:ahLst/>
            <a:cxnLst/>
            <a:rect l="l" t="t" r="r" b="b"/>
            <a:pathLst>
              <a:path w="12203816" h="3325540">
                <a:moveTo>
                  <a:pt x="0" y="0"/>
                </a:moveTo>
                <a:lnTo>
                  <a:pt x="12203816" y="0"/>
                </a:lnTo>
                <a:lnTo>
                  <a:pt x="12203816" y="3325540"/>
                </a:lnTo>
                <a:lnTo>
                  <a:pt x="0" y="3325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2602235" y="2850797"/>
            <a:ext cx="6987531" cy="94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3"/>
              </a:lnSpc>
            </a:pPr>
            <a:r>
              <a:rPr lang="en-US" sz="6333" spc="215" err="1">
                <a:solidFill>
                  <a:srgbClr val="000000"/>
                </a:solidFill>
                <a:latin typeface="Apple Chancery" panose="03020702040506060504" pitchFamily="66" charset="-79"/>
                <a:ea typeface="Malibu"/>
                <a:cs typeface="Apple Chancery" panose="03020702040506060504" pitchFamily="66" charset="-79"/>
                <a:sym typeface="Malibu"/>
              </a:rPr>
              <a:t>Stato</a:t>
            </a:r>
            <a:r>
              <a:rPr lang="en-US" sz="6333" spc="215">
                <a:solidFill>
                  <a:srgbClr val="000000"/>
                </a:solidFill>
                <a:latin typeface="Apple Chancery" panose="03020702040506060504" pitchFamily="66" charset="-79"/>
                <a:ea typeface="Malibu"/>
                <a:cs typeface="Apple Chancery" panose="03020702040506060504" pitchFamily="66" charset="-79"/>
                <a:sym typeface="Malibu"/>
              </a:rPr>
              <a:t> </a:t>
            </a:r>
            <a:r>
              <a:rPr lang="en-US" sz="6333" spc="215" err="1">
                <a:solidFill>
                  <a:srgbClr val="000000"/>
                </a:solidFill>
                <a:latin typeface="Apple Chancery" panose="03020702040506060504" pitchFamily="66" charset="-79"/>
                <a:ea typeface="Malibu"/>
                <a:cs typeface="Apple Chancery" panose="03020702040506060504" pitchFamily="66" charset="-79"/>
                <a:sym typeface="Malibu"/>
              </a:rPr>
              <a:t>Dell’Arte</a:t>
            </a:r>
            <a:endParaRPr lang="en-US" sz="6333" spc="215">
              <a:solidFill>
                <a:srgbClr val="000000"/>
              </a:solidFill>
              <a:latin typeface="Apple Chancery" panose="03020702040506060504" pitchFamily="66" charset="-79"/>
              <a:ea typeface="Malibu"/>
              <a:cs typeface="Apple Chancery" panose="03020702040506060504" pitchFamily="66" charset="-79"/>
              <a:sym typeface="Malibu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718202" y="4079786"/>
            <a:ext cx="2755596" cy="278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2000" spc="215">
                <a:solidFill>
                  <a:srgbClr val="000000"/>
                </a:solidFill>
                <a:latin typeface="Apple Chancery" panose="03020702040506060504" pitchFamily="66" charset="-79"/>
                <a:cs typeface="Apple Chancery" panose="03020702040506060504" pitchFamily="66" charset="-79"/>
                <a:sym typeface="Cooper Hewitt"/>
              </a:rPr>
              <a:t>Sara </a:t>
            </a:r>
            <a:r>
              <a:rPr lang="en-US" sz="2000" spc="215" err="1">
                <a:solidFill>
                  <a:srgbClr val="000000"/>
                </a:solidFill>
                <a:latin typeface="Apple Chancery" panose="03020702040506060504" pitchFamily="66" charset="-79"/>
                <a:cs typeface="Apple Chancery" panose="03020702040506060504" pitchFamily="66" charset="-79"/>
                <a:sym typeface="Cooper Hewitt"/>
              </a:rPr>
              <a:t>Flamini</a:t>
            </a:r>
            <a:endParaRPr lang="en-US" sz="2000" spc="215">
              <a:solidFill>
                <a:srgbClr val="000000"/>
              </a:solidFill>
              <a:latin typeface="Apple Chancery" panose="03020702040506060504" pitchFamily="66" charset="-79"/>
              <a:cs typeface="Apple Chancery" panose="03020702040506060504" pitchFamily="66" charset="-79"/>
              <a:sym typeface="Cooper Hewitt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8064197" y="4481251"/>
            <a:ext cx="673583" cy="776848"/>
            <a:chOff x="0" y="0"/>
            <a:chExt cx="1347166" cy="1553696"/>
          </a:xfrm>
        </p:grpSpPr>
        <p:sp>
          <p:nvSpPr>
            <p:cNvPr id="7" name="Freeform 7"/>
            <p:cNvSpPr/>
            <p:nvPr/>
          </p:nvSpPr>
          <p:spPr>
            <a:xfrm>
              <a:off x="1133" y="0"/>
              <a:ext cx="739037" cy="614325"/>
            </a:xfrm>
            <a:custGeom>
              <a:avLst/>
              <a:gdLst/>
              <a:ahLst/>
              <a:cxnLst/>
              <a:rect l="l" t="t" r="r" b="b"/>
              <a:pathLst>
                <a:path w="739037" h="614325">
                  <a:moveTo>
                    <a:pt x="0" y="0"/>
                  </a:moveTo>
                  <a:lnTo>
                    <a:pt x="739038" y="0"/>
                  </a:lnTo>
                  <a:lnTo>
                    <a:pt x="739038" y="614325"/>
                  </a:lnTo>
                  <a:lnTo>
                    <a:pt x="0" y="614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Freeform 8"/>
            <p:cNvSpPr/>
            <p:nvPr/>
          </p:nvSpPr>
          <p:spPr>
            <a:xfrm rot="-3849135">
              <a:off x="787351" y="417665"/>
              <a:ext cx="512635" cy="426128"/>
            </a:xfrm>
            <a:custGeom>
              <a:avLst/>
              <a:gdLst/>
              <a:ahLst/>
              <a:cxnLst/>
              <a:rect l="l" t="t" r="r" b="b"/>
              <a:pathLst>
                <a:path w="512635" h="426128">
                  <a:moveTo>
                    <a:pt x="0" y="0"/>
                  </a:moveTo>
                  <a:lnTo>
                    <a:pt x="512635" y="0"/>
                  </a:lnTo>
                  <a:lnTo>
                    <a:pt x="512635" y="426128"/>
                  </a:lnTo>
                  <a:lnTo>
                    <a:pt x="0" y="426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Freeform 9"/>
            <p:cNvSpPr/>
            <p:nvPr/>
          </p:nvSpPr>
          <p:spPr>
            <a:xfrm rot="-7701299">
              <a:off x="63717" y="1055144"/>
              <a:ext cx="467850" cy="388900"/>
            </a:xfrm>
            <a:custGeom>
              <a:avLst/>
              <a:gdLst/>
              <a:ahLst/>
              <a:cxnLst/>
              <a:rect l="l" t="t" r="r" b="b"/>
              <a:pathLst>
                <a:path w="467850" h="388900">
                  <a:moveTo>
                    <a:pt x="0" y="0"/>
                  </a:moveTo>
                  <a:lnTo>
                    <a:pt x="467850" y="0"/>
                  </a:lnTo>
                  <a:lnTo>
                    <a:pt x="467850" y="388900"/>
                  </a:lnTo>
                  <a:lnTo>
                    <a:pt x="0" y="38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14804" y="1765607"/>
            <a:ext cx="673583" cy="776848"/>
            <a:chOff x="0" y="0"/>
            <a:chExt cx="1347166" cy="1553696"/>
          </a:xfrm>
        </p:grpSpPr>
        <p:sp>
          <p:nvSpPr>
            <p:cNvPr id="11" name="Freeform 11"/>
            <p:cNvSpPr/>
            <p:nvPr/>
          </p:nvSpPr>
          <p:spPr>
            <a:xfrm>
              <a:off x="1133" y="0"/>
              <a:ext cx="739037" cy="614325"/>
            </a:xfrm>
            <a:custGeom>
              <a:avLst/>
              <a:gdLst/>
              <a:ahLst/>
              <a:cxnLst/>
              <a:rect l="l" t="t" r="r" b="b"/>
              <a:pathLst>
                <a:path w="739037" h="614325">
                  <a:moveTo>
                    <a:pt x="0" y="0"/>
                  </a:moveTo>
                  <a:lnTo>
                    <a:pt x="739038" y="0"/>
                  </a:lnTo>
                  <a:lnTo>
                    <a:pt x="739038" y="614325"/>
                  </a:lnTo>
                  <a:lnTo>
                    <a:pt x="0" y="614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Freeform 12"/>
            <p:cNvSpPr/>
            <p:nvPr/>
          </p:nvSpPr>
          <p:spPr>
            <a:xfrm rot="-3849135">
              <a:off x="787351" y="417665"/>
              <a:ext cx="512635" cy="426128"/>
            </a:xfrm>
            <a:custGeom>
              <a:avLst/>
              <a:gdLst/>
              <a:ahLst/>
              <a:cxnLst/>
              <a:rect l="l" t="t" r="r" b="b"/>
              <a:pathLst>
                <a:path w="512635" h="426128">
                  <a:moveTo>
                    <a:pt x="0" y="0"/>
                  </a:moveTo>
                  <a:lnTo>
                    <a:pt x="512635" y="0"/>
                  </a:lnTo>
                  <a:lnTo>
                    <a:pt x="512635" y="426128"/>
                  </a:lnTo>
                  <a:lnTo>
                    <a:pt x="0" y="426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Freeform 13"/>
            <p:cNvSpPr/>
            <p:nvPr/>
          </p:nvSpPr>
          <p:spPr>
            <a:xfrm rot="-7701299">
              <a:off x="63717" y="1055144"/>
              <a:ext cx="467850" cy="388900"/>
            </a:xfrm>
            <a:custGeom>
              <a:avLst/>
              <a:gdLst/>
              <a:ahLst/>
              <a:cxnLst/>
              <a:rect l="l" t="t" r="r" b="b"/>
              <a:pathLst>
                <a:path w="467850" h="388900">
                  <a:moveTo>
                    <a:pt x="0" y="0"/>
                  </a:moveTo>
                  <a:lnTo>
                    <a:pt x="467850" y="0"/>
                  </a:lnTo>
                  <a:lnTo>
                    <a:pt x="467850" y="388900"/>
                  </a:lnTo>
                  <a:lnTo>
                    <a:pt x="0" y="38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4" name="Freeform 14"/>
          <p:cNvSpPr/>
          <p:nvPr/>
        </p:nvSpPr>
        <p:spPr>
          <a:xfrm rot="10068618">
            <a:off x="376890" y="239291"/>
            <a:ext cx="1117634" cy="1339213"/>
          </a:xfrm>
          <a:custGeom>
            <a:avLst/>
            <a:gdLst/>
            <a:ahLst/>
            <a:cxnLst/>
            <a:rect l="l" t="t" r="r" b="b"/>
            <a:pathLst>
              <a:path w="1676451" h="2008819">
                <a:moveTo>
                  <a:pt x="0" y="0"/>
                </a:moveTo>
                <a:lnTo>
                  <a:pt x="1676450" y="0"/>
                </a:lnTo>
                <a:lnTo>
                  <a:pt x="1676450" y="2008819"/>
                </a:lnTo>
                <a:lnTo>
                  <a:pt x="0" y="20088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 rot="-741439">
            <a:off x="10601040" y="5279497"/>
            <a:ext cx="1117634" cy="1339213"/>
          </a:xfrm>
          <a:custGeom>
            <a:avLst/>
            <a:gdLst/>
            <a:ahLst/>
            <a:cxnLst/>
            <a:rect l="l" t="t" r="r" b="b"/>
            <a:pathLst>
              <a:path w="1676451" h="2008819">
                <a:moveTo>
                  <a:pt x="0" y="0"/>
                </a:moveTo>
                <a:lnTo>
                  <a:pt x="1676451" y="0"/>
                </a:lnTo>
                <a:lnTo>
                  <a:pt x="1676451" y="2008819"/>
                </a:lnTo>
                <a:lnTo>
                  <a:pt x="0" y="20088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306914" y="3259333"/>
            <a:ext cx="4560089" cy="339334"/>
          </a:xfrm>
          <a:custGeom>
            <a:avLst/>
            <a:gdLst/>
            <a:ahLst/>
            <a:cxnLst/>
            <a:rect l="l" t="t" r="r" b="b"/>
            <a:pathLst>
              <a:path w="6840134" h="509001">
                <a:moveTo>
                  <a:pt x="0" y="0"/>
                </a:moveTo>
                <a:lnTo>
                  <a:pt x="6840134" y="0"/>
                </a:lnTo>
                <a:lnTo>
                  <a:pt x="6840134" y="509001"/>
                </a:lnTo>
                <a:lnTo>
                  <a:pt x="0" y="509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b="-286352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1235820" y="1960485"/>
            <a:ext cx="4702277" cy="1080000"/>
            <a:chOff x="0" y="0"/>
            <a:chExt cx="1632342" cy="4827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32342" cy="482774"/>
            </a:xfrm>
            <a:custGeom>
              <a:avLst/>
              <a:gdLst/>
              <a:ahLst/>
              <a:cxnLst/>
              <a:rect l="l" t="t" r="r" b="b"/>
              <a:pathLst>
                <a:path w="1632342" h="482774">
                  <a:moveTo>
                    <a:pt x="35124" y="0"/>
                  </a:moveTo>
                  <a:lnTo>
                    <a:pt x="1597218" y="0"/>
                  </a:lnTo>
                  <a:cubicBezTo>
                    <a:pt x="1616617" y="0"/>
                    <a:pt x="1632342" y="15725"/>
                    <a:pt x="1632342" y="35124"/>
                  </a:cubicBezTo>
                  <a:lnTo>
                    <a:pt x="1632342" y="447650"/>
                  </a:lnTo>
                  <a:cubicBezTo>
                    <a:pt x="1632342" y="456966"/>
                    <a:pt x="1628641" y="465899"/>
                    <a:pt x="1622055" y="472486"/>
                  </a:cubicBezTo>
                  <a:cubicBezTo>
                    <a:pt x="1615468" y="479073"/>
                    <a:pt x="1606534" y="482774"/>
                    <a:pt x="1597218" y="482774"/>
                  </a:cubicBezTo>
                  <a:lnTo>
                    <a:pt x="35124" y="482774"/>
                  </a:lnTo>
                  <a:cubicBezTo>
                    <a:pt x="15725" y="482774"/>
                    <a:pt x="0" y="467048"/>
                    <a:pt x="0" y="447650"/>
                  </a:cubicBezTo>
                  <a:lnTo>
                    <a:pt x="0" y="35124"/>
                  </a:lnTo>
                  <a:cubicBezTo>
                    <a:pt x="0" y="25808"/>
                    <a:pt x="3701" y="16874"/>
                    <a:pt x="10287" y="10287"/>
                  </a:cubicBezTo>
                  <a:cubicBezTo>
                    <a:pt x="16874" y="3701"/>
                    <a:pt x="25808" y="0"/>
                    <a:pt x="35124" y="0"/>
                  </a:cubicBezTo>
                  <a:close/>
                </a:path>
              </a:pathLst>
            </a:custGeom>
            <a:solidFill>
              <a:srgbClr val="F8F8F8"/>
            </a:solidFill>
            <a:ln w="104775" cap="rnd">
              <a:solidFill>
                <a:srgbClr val="91E1D5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32342" cy="5208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37506" y="1946986"/>
            <a:ext cx="818685" cy="1106998"/>
            <a:chOff x="0" y="-114300"/>
            <a:chExt cx="323431" cy="4373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23431" cy="284444"/>
            </a:xfrm>
            <a:custGeom>
              <a:avLst/>
              <a:gdLst/>
              <a:ahLst/>
              <a:cxnLst/>
              <a:rect l="l" t="t" r="r" b="b"/>
              <a:pathLst>
                <a:path w="323431" h="323032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14300"/>
              <a:ext cx="323431" cy="4373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5384"/>
                </a:lnSpc>
              </a:pPr>
              <a:r>
                <a:rPr lang="en-US" sz="3846" b="1">
                  <a:solidFill>
                    <a:srgbClr val="91E1D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sp>
        <p:nvSpPr>
          <p:cNvPr id="11" name="Freeform 11"/>
          <p:cNvSpPr/>
          <p:nvPr/>
        </p:nvSpPr>
        <p:spPr>
          <a:xfrm rot="-10800000">
            <a:off x="6662087" y="3259333"/>
            <a:ext cx="4560089" cy="339334"/>
          </a:xfrm>
          <a:custGeom>
            <a:avLst/>
            <a:gdLst/>
            <a:ahLst/>
            <a:cxnLst/>
            <a:rect l="l" t="t" r="r" b="b"/>
            <a:pathLst>
              <a:path w="6840134" h="509001">
                <a:moveTo>
                  <a:pt x="0" y="0"/>
                </a:moveTo>
                <a:lnTo>
                  <a:pt x="6840134" y="0"/>
                </a:lnTo>
                <a:lnTo>
                  <a:pt x="6840134" y="509001"/>
                </a:lnTo>
                <a:lnTo>
                  <a:pt x="0" y="509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b="-286352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2" name="Group 12"/>
          <p:cNvGrpSpPr/>
          <p:nvPr/>
        </p:nvGrpSpPr>
        <p:grpSpPr>
          <a:xfrm>
            <a:off x="6590993" y="1960485"/>
            <a:ext cx="4702277" cy="1080000"/>
            <a:chOff x="0" y="0"/>
            <a:chExt cx="1632342" cy="4827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32342" cy="482774"/>
            </a:xfrm>
            <a:custGeom>
              <a:avLst/>
              <a:gdLst/>
              <a:ahLst/>
              <a:cxnLst/>
              <a:rect l="l" t="t" r="r" b="b"/>
              <a:pathLst>
                <a:path w="1632342" h="482774">
                  <a:moveTo>
                    <a:pt x="35124" y="0"/>
                  </a:moveTo>
                  <a:lnTo>
                    <a:pt x="1597218" y="0"/>
                  </a:lnTo>
                  <a:cubicBezTo>
                    <a:pt x="1616617" y="0"/>
                    <a:pt x="1632342" y="15725"/>
                    <a:pt x="1632342" y="35124"/>
                  </a:cubicBezTo>
                  <a:lnTo>
                    <a:pt x="1632342" y="447650"/>
                  </a:lnTo>
                  <a:cubicBezTo>
                    <a:pt x="1632342" y="456966"/>
                    <a:pt x="1628641" y="465899"/>
                    <a:pt x="1622055" y="472486"/>
                  </a:cubicBezTo>
                  <a:cubicBezTo>
                    <a:pt x="1615468" y="479073"/>
                    <a:pt x="1606534" y="482774"/>
                    <a:pt x="1597218" y="482774"/>
                  </a:cubicBezTo>
                  <a:lnTo>
                    <a:pt x="35124" y="482774"/>
                  </a:lnTo>
                  <a:cubicBezTo>
                    <a:pt x="15725" y="482774"/>
                    <a:pt x="0" y="467048"/>
                    <a:pt x="0" y="447650"/>
                  </a:cubicBezTo>
                  <a:lnTo>
                    <a:pt x="0" y="35124"/>
                  </a:lnTo>
                  <a:cubicBezTo>
                    <a:pt x="0" y="25808"/>
                    <a:pt x="3701" y="16874"/>
                    <a:pt x="10287" y="10287"/>
                  </a:cubicBezTo>
                  <a:cubicBezTo>
                    <a:pt x="16874" y="3701"/>
                    <a:pt x="25808" y="0"/>
                    <a:pt x="35124" y="0"/>
                  </a:cubicBezTo>
                  <a:close/>
                </a:path>
              </a:pathLst>
            </a:custGeom>
            <a:solidFill>
              <a:srgbClr val="F8F8F8"/>
            </a:solidFill>
            <a:ln w="104775" cap="rnd">
              <a:solidFill>
                <a:srgbClr val="F8B27C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632342" cy="5208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181650" y="2091647"/>
            <a:ext cx="818685" cy="817676"/>
            <a:chOff x="0" y="-57150"/>
            <a:chExt cx="323431" cy="323032"/>
          </a:xfrm>
        </p:grpSpPr>
        <p:sp>
          <p:nvSpPr>
            <p:cNvPr id="16" name="Freeform 16"/>
            <p:cNvSpPr/>
            <p:nvPr/>
          </p:nvSpPr>
          <p:spPr>
            <a:xfrm>
              <a:off x="0" y="-57150"/>
              <a:ext cx="323431" cy="323032"/>
            </a:xfrm>
            <a:custGeom>
              <a:avLst/>
              <a:gdLst/>
              <a:ahLst/>
              <a:cxnLst/>
              <a:rect l="l" t="t" r="r" b="b"/>
              <a:pathLst>
                <a:path w="323431" h="323032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7856"/>
              <a:ext cx="323431" cy="2844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5384"/>
                </a:lnSpc>
              </a:pPr>
              <a:r>
                <a:rPr lang="en-US" sz="3846" b="1">
                  <a:solidFill>
                    <a:srgbClr val="F8B27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sp>
        <p:nvSpPr>
          <p:cNvPr id="19" name="Freeform 19"/>
          <p:cNvSpPr/>
          <p:nvPr/>
        </p:nvSpPr>
        <p:spPr>
          <a:xfrm rot="-10800000">
            <a:off x="1306914" y="4884118"/>
            <a:ext cx="4560089" cy="339334"/>
          </a:xfrm>
          <a:custGeom>
            <a:avLst/>
            <a:gdLst/>
            <a:ahLst/>
            <a:cxnLst/>
            <a:rect l="l" t="t" r="r" b="b"/>
            <a:pathLst>
              <a:path w="6840134" h="509001">
                <a:moveTo>
                  <a:pt x="0" y="0"/>
                </a:moveTo>
                <a:lnTo>
                  <a:pt x="6840134" y="0"/>
                </a:lnTo>
                <a:lnTo>
                  <a:pt x="6840134" y="509001"/>
                </a:lnTo>
                <a:lnTo>
                  <a:pt x="0" y="509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b="-286352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20" name="Group 20"/>
          <p:cNvGrpSpPr/>
          <p:nvPr/>
        </p:nvGrpSpPr>
        <p:grpSpPr>
          <a:xfrm>
            <a:off x="1235820" y="3585270"/>
            <a:ext cx="4702277" cy="1080000"/>
            <a:chOff x="0" y="0"/>
            <a:chExt cx="1632342" cy="48277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32342" cy="482774"/>
            </a:xfrm>
            <a:custGeom>
              <a:avLst/>
              <a:gdLst/>
              <a:ahLst/>
              <a:cxnLst/>
              <a:rect l="l" t="t" r="r" b="b"/>
              <a:pathLst>
                <a:path w="1632342" h="482774">
                  <a:moveTo>
                    <a:pt x="35124" y="0"/>
                  </a:moveTo>
                  <a:lnTo>
                    <a:pt x="1597218" y="0"/>
                  </a:lnTo>
                  <a:cubicBezTo>
                    <a:pt x="1616617" y="0"/>
                    <a:pt x="1632342" y="15725"/>
                    <a:pt x="1632342" y="35124"/>
                  </a:cubicBezTo>
                  <a:lnTo>
                    <a:pt x="1632342" y="447650"/>
                  </a:lnTo>
                  <a:cubicBezTo>
                    <a:pt x="1632342" y="456966"/>
                    <a:pt x="1628641" y="465899"/>
                    <a:pt x="1622055" y="472486"/>
                  </a:cubicBezTo>
                  <a:cubicBezTo>
                    <a:pt x="1615468" y="479073"/>
                    <a:pt x="1606534" y="482774"/>
                    <a:pt x="1597218" y="482774"/>
                  </a:cubicBezTo>
                  <a:lnTo>
                    <a:pt x="35124" y="482774"/>
                  </a:lnTo>
                  <a:cubicBezTo>
                    <a:pt x="15725" y="482774"/>
                    <a:pt x="0" y="467048"/>
                    <a:pt x="0" y="447650"/>
                  </a:cubicBezTo>
                  <a:lnTo>
                    <a:pt x="0" y="35124"/>
                  </a:lnTo>
                  <a:cubicBezTo>
                    <a:pt x="0" y="25808"/>
                    <a:pt x="3701" y="16874"/>
                    <a:pt x="10287" y="10287"/>
                  </a:cubicBezTo>
                  <a:cubicBezTo>
                    <a:pt x="16874" y="3701"/>
                    <a:pt x="25808" y="0"/>
                    <a:pt x="35124" y="0"/>
                  </a:cubicBezTo>
                  <a:close/>
                </a:path>
              </a:pathLst>
            </a:custGeom>
            <a:solidFill>
              <a:srgbClr val="F8F8F8"/>
            </a:solidFill>
            <a:ln w="104775" cap="rnd">
              <a:solidFill>
                <a:srgbClr val="F8D389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632342" cy="5208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4994" y="3716433"/>
            <a:ext cx="883708" cy="817675"/>
            <a:chOff x="-8487" y="-67466"/>
            <a:chExt cx="349119" cy="323032"/>
          </a:xfrm>
        </p:grpSpPr>
        <p:sp>
          <p:nvSpPr>
            <p:cNvPr id="24" name="Freeform 24"/>
            <p:cNvSpPr/>
            <p:nvPr/>
          </p:nvSpPr>
          <p:spPr>
            <a:xfrm>
              <a:off x="-8487" y="-67466"/>
              <a:ext cx="323431" cy="323032"/>
            </a:xfrm>
            <a:custGeom>
              <a:avLst/>
              <a:gdLst/>
              <a:ahLst/>
              <a:cxnLst/>
              <a:rect l="l" t="t" r="r" b="b"/>
              <a:pathLst>
                <a:path w="323431" h="323032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201" y="-64662"/>
              <a:ext cx="323431" cy="2844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5384"/>
                </a:lnSpc>
              </a:pPr>
              <a:r>
                <a:rPr lang="en-US" sz="3846" b="1">
                  <a:solidFill>
                    <a:srgbClr val="F8D38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590993" y="3585270"/>
            <a:ext cx="4702277" cy="1080000"/>
            <a:chOff x="0" y="0"/>
            <a:chExt cx="1632342" cy="48277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32342" cy="482774"/>
            </a:xfrm>
            <a:custGeom>
              <a:avLst/>
              <a:gdLst/>
              <a:ahLst/>
              <a:cxnLst/>
              <a:rect l="l" t="t" r="r" b="b"/>
              <a:pathLst>
                <a:path w="1632342" h="482774">
                  <a:moveTo>
                    <a:pt x="35124" y="0"/>
                  </a:moveTo>
                  <a:lnTo>
                    <a:pt x="1597218" y="0"/>
                  </a:lnTo>
                  <a:cubicBezTo>
                    <a:pt x="1616617" y="0"/>
                    <a:pt x="1632342" y="15725"/>
                    <a:pt x="1632342" y="35124"/>
                  </a:cubicBezTo>
                  <a:lnTo>
                    <a:pt x="1632342" y="447650"/>
                  </a:lnTo>
                  <a:cubicBezTo>
                    <a:pt x="1632342" y="456966"/>
                    <a:pt x="1628641" y="465899"/>
                    <a:pt x="1622055" y="472486"/>
                  </a:cubicBezTo>
                  <a:cubicBezTo>
                    <a:pt x="1615468" y="479073"/>
                    <a:pt x="1606534" y="482774"/>
                    <a:pt x="1597218" y="482774"/>
                  </a:cubicBezTo>
                  <a:lnTo>
                    <a:pt x="35124" y="482774"/>
                  </a:lnTo>
                  <a:cubicBezTo>
                    <a:pt x="15725" y="482774"/>
                    <a:pt x="0" y="467048"/>
                    <a:pt x="0" y="447650"/>
                  </a:cubicBezTo>
                  <a:lnTo>
                    <a:pt x="0" y="35124"/>
                  </a:lnTo>
                  <a:cubicBezTo>
                    <a:pt x="0" y="25808"/>
                    <a:pt x="3701" y="16874"/>
                    <a:pt x="10287" y="10287"/>
                  </a:cubicBezTo>
                  <a:cubicBezTo>
                    <a:pt x="16874" y="3701"/>
                    <a:pt x="25808" y="0"/>
                    <a:pt x="35124" y="0"/>
                  </a:cubicBezTo>
                  <a:close/>
                </a:path>
              </a:pathLst>
            </a:custGeom>
            <a:solidFill>
              <a:srgbClr val="F8F8F8"/>
            </a:solidFill>
            <a:ln w="104775" cap="rnd">
              <a:solidFill>
                <a:srgbClr val="FF8379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632342" cy="52087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181650" y="3716432"/>
            <a:ext cx="818685" cy="817676"/>
            <a:chOff x="0" y="-57150"/>
            <a:chExt cx="323431" cy="323032"/>
          </a:xfrm>
        </p:grpSpPr>
        <p:sp>
          <p:nvSpPr>
            <p:cNvPr id="33" name="Freeform 33"/>
            <p:cNvSpPr/>
            <p:nvPr/>
          </p:nvSpPr>
          <p:spPr>
            <a:xfrm>
              <a:off x="0" y="-57150"/>
              <a:ext cx="323431" cy="323032"/>
            </a:xfrm>
            <a:custGeom>
              <a:avLst/>
              <a:gdLst/>
              <a:ahLst/>
              <a:cxnLst/>
              <a:rect l="l" t="t" r="r" b="b"/>
              <a:pathLst>
                <a:path w="323431" h="323032">
                  <a:moveTo>
                    <a:pt x="0" y="0"/>
                  </a:moveTo>
                  <a:lnTo>
                    <a:pt x="323431" y="0"/>
                  </a:lnTo>
                  <a:lnTo>
                    <a:pt x="323431" y="323032"/>
                  </a:lnTo>
                  <a:lnTo>
                    <a:pt x="0" y="323032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7856"/>
              <a:ext cx="323431" cy="2844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5384"/>
                </a:lnSpc>
              </a:pPr>
              <a:r>
                <a:rPr lang="en-US" sz="3846" b="1">
                  <a:solidFill>
                    <a:srgbClr val="FF837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687217" y="2428799"/>
            <a:ext cx="2979688" cy="274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11"/>
              </a:lnSpc>
              <a:spcBef>
                <a:spcPct val="0"/>
              </a:spcBef>
            </a:pPr>
            <a:r>
              <a:rPr lang="en-US" sz="2400" b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Dataset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351390" y="365117"/>
            <a:ext cx="7529958" cy="57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6"/>
              </a:lnSpc>
              <a:spcBef>
                <a:spcPct val="0"/>
              </a:spcBef>
            </a:pPr>
            <a:r>
              <a:rPr lang="en-US" sz="3600" b="1" spc="205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Introduzione</a:t>
            </a:r>
            <a:endParaRPr lang="en-US" sz="3368" b="1" spc="205">
              <a:solidFill>
                <a:srgbClr val="343432"/>
              </a:solidFill>
              <a:latin typeface="Palatino Linotype" panose="02040502050505030304" pitchFamily="18" charset="0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2705011" y="1029865"/>
            <a:ext cx="7038773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it-IT" sz="160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Questo progetto mira a sviluppare un sistema di intelligenza artificiale per rilevare automaticamente l'uso corretto dei DPI in tempo reale.</a:t>
            </a:r>
            <a:endParaRPr lang="en-US" sz="1600">
              <a:solidFill>
                <a:srgbClr val="3434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TextBox 40">
            <a:extLst>
              <a:ext uri="{FF2B5EF4-FFF2-40B4-BE49-F238E27FC236}">
                <a16:creationId xmlns:a16="http://schemas.microsoft.com/office/drawing/2014/main" id="{1A4DE0C5-BCC6-8B02-9567-A144D9D48EA6}"/>
              </a:ext>
            </a:extLst>
          </p:cNvPr>
          <p:cNvSpPr txBox="1"/>
          <p:nvPr/>
        </p:nvSpPr>
        <p:spPr>
          <a:xfrm>
            <a:off x="7055024" y="2315819"/>
            <a:ext cx="390115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b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YOLO vs </a:t>
            </a:r>
            <a:r>
              <a:rPr lang="en-US" sz="2400" b="1" err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altri</a:t>
            </a:r>
            <a:r>
              <a:rPr lang="en-US" sz="2400" b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 </a:t>
            </a:r>
            <a:r>
              <a:rPr lang="en-US" sz="2400" b="1" err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algoritmi</a:t>
            </a:r>
            <a:endParaRPr lang="en-US" sz="2400" b="1">
              <a:solidFill>
                <a:srgbClr val="333231"/>
              </a:solidFill>
              <a:latin typeface="Palatino Linotype" panose="02040502050505030304" pitchFamily="18" charset="0"/>
              <a:sym typeface="Montserrat Classic Bold"/>
            </a:endParaRPr>
          </a:p>
        </p:txBody>
      </p:sp>
      <p:sp>
        <p:nvSpPr>
          <p:cNvPr id="61" name="TextBox 40">
            <a:extLst>
              <a:ext uri="{FF2B5EF4-FFF2-40B4-BE49-F238E27FC236}">
                <a16:creationId xmlns:a16="http://schemas.microsoft.com/office/drawing/2014/main" id="{A5DBF15D-720F-7750-A996-3B0F6CCF8C75}"/>
              </a:ext>
            </a:extLst>
          </p:cNvPr>
          <p:cNvSpPr txBox="1"/>
          <p:nvPr/>
        </p:nvSpPr>
        <p:spPr>
          <a:xfrm>
            <a:off x="1687217" y="4094015"/>
            <a:ext cx="3641198" cy="274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11"/>
              </a:lnSpc>
              <a:spcBef>
                <a:spcPct val="0"/>
              </a:spcBef>
            </a:pPr>
            <a:r>
              <a:rPr lang="en-US" sz="2400" b="1" err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Analisi</a:t>
            </a:r>
            <a:r>
              <a:rPr lang="en-US" sz="2400" b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 </a:t>
            </a:r>
            <a:r>
              <a:rPr lang="en-US" sz="2400" b="1" err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versioni</a:t>
            </a:r>
            <a:r>
              <a:rPr lang="en-US" sz="2400" b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 YOLO</a:t>
            </a:r>
          </a:p>
        </p:txBody>
      </p:sp>
      <p:sp>
        <p:nvSpPr>
          <p:cNvPr id="62" name="TextBox 40">
            <a:extLst>
              <a:ext uri="{FF2B5EF4-FFF2-40B4-BE49-F238E27FC236}">
                <a16:creationId xmlns:a16="http://schemas.microsoft.com/office/drawing/2014/main" id="{93EC98CE-8387-BF7D-3108-960BC4BBD609}"/>
              </a:ext>
            </a:extLst>
          </p:cNvPr>
          <p:cNvSpPr txBox="1"/>
          <p:nvPr/>
        </p:nvSpPr>
        <p:spPr>
          <a:xfrm>
            <a:off x="7055024" y="3998989"/>
            <a:ext cx="3641198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b="1" err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Applicazioni</a:t>
            </a:r>
            <a:r>
              <a:rPr lang="en-US" sz="2400" b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 Hardware</a:t>
            </a:r>
          </a:p>
        </p:txBody>
      </p:sp>
      <p:pic>
        <p:nvPicPr>
          <p:cNvPr id="66" name="Immagine 65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44BED006-E837-70F0-AB25-BD3CD15E4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499" y="2140485"/>
            <a:ext cx="720000" cy="720000"/>
          </a:xfrm>
          <a:prstGeom prst="rect">
            <a:avLst/>
          </a:prstGeom>
        </p:spPr>
      </p:pic>
      <p:pic>
        <p:nvPicPr>
          <p:cNvPr id="68" name="Immagine 6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23DDAB00-B567-DE27-909A-E2F1EC341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2577" y="2140485"/>
            <a:ext cx="720000" cy="720000"/>
          </a:xfrm>
          <a:prstGeom prst="rect">
            <a:avLst/>
          </a:prstGeom>
        </p:spPr>
      </p:pic>
      <p:pic>
        <p:nvPicPr>
          <p:cNvPr id="70" name="Immagine 6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BDA1C21E-A491-A4FF-1E27-21CBD3E48A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9499" y="3765270"/>
            <a:ext cx="720000" cy="720000"/>
          </a:xfrm>
          <a:prstGeom prst="rect">
            <a:avLst/>
          </a:prstGeom>
        </p:spPr>
      </p:pic>
      <p:pic>
        <p:nvPicPr>
          <p:cNvPr id="72" name="Immagine 71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FA8D198D-1AD3-4DD6-63AF-E64C3103E8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2577" y="3765270"/>
            <a:ext cx="720000" cy="720000"/>
          </a:xfrm>
          <a:prstGeom prst="rect">
            <a:avLst/>
          </a:prstGeom>
        </p:spPr>
      </p:pic>
      <p:pic>
        <p:nvPicPr>
          <p:cNvPr id="74" name="Immagine 7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1424D747-B573-A501-06A6-70375903AB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8850" y="831850"/>
            <a:ext cx="0" cy="0"/>
          </a:xfrm>
          <a:prstGeom prst="rect">
            <a:avLst/>
          </a:prstGeom>
        </p:spPr>
      </p:pic>
      <p:pic>
        <p:nvPicPr>
          <p:cNvPr id="76" name="Immagine 75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47353774-8E77-A469-5529-88F8F1BEC5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7600" y="1140600"/>
            <a:ext cx="0" cy="0"/>
          </a:xfrm>
          <a:prstGeom prst="rect">
            <a:avLst/>
          </a:prstGeom>
        </p:spPr>
      </p:pic>
      <p:grpSp>
        <p:nvGrpSpPr>
          <p:cNvPr id="6" name="Gruppo 5">
            <a:extLst>
              <a:ext uri="{FF2B5EF4-FFF2-40B4-BE49-F238E27FC236}">
                <a16:creationId xmlns:a16="http://schemas.microsoft.com/office/drawing/2014/main" id="{B9D8365E-C3CA-43EC-57B2-0CCD43CC1EC2}"/>
              </a:ext>
            </a:extLst>
          </p:cNvPr>
          <p:cNvGrpSpPr/>
          <p:nvPr/>
        </p:nvGrpSpPr>
        <p:grpSpPr>
          <a:xfrm>
            <a:off x="3529449" y="5201158"/>
            <a:ext cx="5133103" cy="1638182"/>
            <a:chOff x="3412320" y="5201158"/>
            <a:chExt cx="5133103" cy="1638182"/>
          </a:xfrm>
        </p:grpSpPr>
        <p:sp>
          <p:nvSpPr>
            <p:cNvPr id="44" name="Freeform 19">
              <a:extLst>
                <a:ext uri="{FF2B5EF4-FFF2-40B4-BE49-F238E27FC236}">
                  <a16:creationId xmlns:a16="http://schemas.microsoft.com/office/drawing/2014/main" id="{CB3C71EF-15BA-E302-DC19-2A730A624852}"/>
                </a:ext>
              </a:extLst>
            </p:cNvPr>
            <p:cNvSpPr/>
            <p:nvPr/>
          </p:nvSpPr>
          <p:spPr>
            <a:xfrm rot="-10800000">
              <a:off x="3914240" y="6500006"/>
              <a:ext cx="4560089" cy="339334"/>
            </a:xfrm>
            <a:custGeom>
              <a:avLst/>
              <a:gdLst/>
              <a:ahLst/>
              <a:cxnLst/>
              <a:rect l="l" t="t" r="r" b="b"/>
              <a:pathLst>
                <a:path w="6840134" h="509001">
                  <a:moveTo>
                    <a:pt x="0" y="0"/>
                  </a:moveTo>
                  <a:lnTo>
                    <a:pt x="6840134" y="0"/>
                  </a:lnTo>
                  <a:lnTo>
                    <a:pt x="6840134" y="509001"/>
                  </a:lnTo>
                  <a:lnTo>
                    <a:pt x="0" y="509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2000"/>
              </a:blip>
              <a:stretch>
                <a:fillRect b="-286352"/>
              </a:stretch>
            </a:blipFill>
          </p:spPr>
          <p:txBody>
            <a:bodyPr/>
            <a:lstStyle/>
            <a:p>
              <a:endParaRPr lang="it-IT"/>
            </a:p>
          </p:txBody>
        </p:sp>
        <p:grpSp>
          <p:nvGrpSpPr>
            <p:cNvPr id="45" name="Group 20">
              <a:extLst>
                <a:ext uri="{FF2B5EF4-FFF2-40B4-BE49-F238E27FC236}">
                  <a16:creationId xmlns:a16="http://schemas.microsoft.com/office/drawing/2014/main" id="{74173BF1-AA80-18A0-8698-EDA61CB802E2}"/>
                </a:ext>
              </a:extLst>
            </p:cNvPr>
            <p:cNvGrpSpPr/>
            <p:nvPr/>
          </p:nvGrpSpPr>
          <p:grpSpPr>
            <a:xfrm>
              <a:off x="3843146" y="5201158"/>
              <a:ext cx="4702277" cy="1080000"/>
              <a:chOff x="0" y="0"/>
              <a:chExt cx="1632342" cy="482774"/>
            </a:xfrm>
          </p:grpSpPr>
          <p:sp>
            <p:nvSpPr>
              <p:cNvPr id="46" name="Freeform 21">
                <a:extLst>
                  <a:ext uri="{FF2B5EF4-FFF2-40B4-BE49-F238E27FC236}">
                    <a16:creationId xmlns:a16="http://schemas.microsoft.com/office/drawing/2014/main" id="{2EFC6BC5-EFAB-A1DD-9F7D-03BA7A8FEB1F}"/>
                  </a:ext>
                </a:extLst>
              </p:cNvPr>
              <p:cNvSpPr/>
              <p:nvPr/>
            </p:nvSpPr>
            <p:spPr>
              <a:xfrm>
                <a:off x="0" y="0"/>
                <a:ext cx="1632342" cy="482774"/>
              </a:xfrm>
              <a:custGeom>
                <a:avLst/>
                <a:gdLst/>
                <a:ahLst/>
                <a:cxnLst/>
                <a:rect l="l" t="t" r="r" b="b"/>
                <a:pathLst>
                  <a:path w="1632342" h="482774">
                    <a:moveTo>
                      <a:pt x="35124" y="0"/>
                    </a:moveTo>
                    <a:lnTo>
                      <a:pt x="1597218" y="0"/>
                    </a:lnTo>
                    <a:cubicBezTo>
                      <a:pt x="1616617" y="0"/>
                      <a:pt x="1632342" y="15725"/>
                      <a:pt x="1632342" y="35124"/>
                    </a:cubicBezTo>
                    <a:lnTo>
                      <a:pt x="1632342" y="447650"/>
                    </a:lnTo>
                    <a:cubicBezTo>
                      <a:pt x="1632342" y="456966"/>
                      <a:pt x="1628641" y="465899"/>
                      <a:pt x="1622055" y="472486"/>
                    </a:cubicBezTo>
                    <a:cubicBezTo>
                      <a:pt x="1615468" y="479073"/>
                      <a:pt x="1606534" y="482774"/>
                      <a:pt x="1597218" y="482774"/>
                    </a:cubicBezTo>
                    <a:lnTo>
                      <a:pt x="35124" y="482774"/>
                    </a:lnTo>
                    <a:cubicBezTo>
                      <a:pt x="15725" y="482774"/>
                      <a:pt x="0" y="467048"/>
                      <a:pt x="0" y="447650"/>
                    </a:cubicBezTo>
                    <a:lnTo>
                      <a:pt x="0" y="35124"/>
                    </a:lnTo>
                    <a:cubicBezTo>
                      <a:pt x="0" y="25808"/>
                      <a:pt x="3701" y="16874"/>
                      <a:pt x="10287" y="10287"/>
                    </a:cubicBezTo>
                    <a:cubicBezTo>
                      <a:pt x="16874" y="3701"/>
                      <a:pt x="25808" y="0"/>
                      <a:pt x="35124" y="0"/>
                    </a:cubicBezTo>
                    <a:close/>
                  </a:path>
                </a:pathLst>
              </a:custGeom>
              <a:solidFill>
                <a:srgbClr val="F8F8F8"/>
              </a:solidFill>
              <a:ln w="104775" cap="rnd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7" name="TextBox 22">
                <a:extLst>
                  <a:ext uri="{FF2B5EF4-FFF2-40B4-BE49-F238E27FC236}">
                    <a16:creationId xmlns:a16="http://schemas.microsoft.com/office/drawing/2014/main" id="{243EF5AC-4C15-AFA5-0739-9DC56470939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632342" cy="520874"/>
              </a:xfrm>
              <a:prstGeom prst="rect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837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grpSp>
          <p:nvGrpSpPr>
            <p:cNvPr id="48" name="Group 23">
              <a:extLst>
                <a:ext uri="{FF2B5EF4-FFF2-40B4-BE49-F238E27FC236}">
                  <a16:creationId xmlns:a16="http://schemas.microsoft.com/office/drawing/2014/main" id="{D506C1C3-2226-7ED1-E062-F672285D7B66}"/>
                </a:ext>
              </a:extLst>
            </p:cNvPr>
            <p:cNvGrpSpPr/>
            <p:nvPr/>
          </p:nvGrpSpPr>
          <p:grpSpPr>
            <a:xfrm>
              <a:off x="3412320" y="5332321"/>
              <a:ext cx="883708" cy="817675"/>
              <a:chOff x="-8487" y="-67466"/>
              <a:chExt cx="349119" cy="323032"/>
            </a:xfrm>
          </p:grpSpPr>
          <p:sp>
            <p:nvSpPr>
              <p:cNvPr id="49" name="Freeform 24">
                <a:extLst>
                  <a:ext uri="{FF2B5EF4-FFF2-40B4-BE49-F238E27FC236}">
                    <a16:creationId xmlns:a16="http://schemas.microsoft.com/office/drawing/2014/main" id="{87C9C663-6E1C-B5B5-6E24-51DE4C441117}"/>
                  </a:ext>
                </a:extLst>
              </p:cNvPr>
              <p:cNvSpPr/>
              <p:nvPr/>
            </p:nvSpPr>
            <p:spPr>
              <a:xfrm>
                <a:off x="-8487" y="-67466"/>
                <a:ext cx="323431" cy="323032"/>
              </a:xfrm>
              <a:custGeom>
                <a:avLst/>
                <a:gdLst/>
                <a:ahLst/>
                <a:cxnLst/>
                <a:rect l="l" t="t" r="r" b="b"/>
                <a:pathLst>
                  <a:path w="323431" h="323032">
                    <a:moveTo>
                      <a:pt x="0" y="0"/>
                    </a:moveTo>
                    <a:lnTo>
                      <a:pt x="323431" y="0"/>
                    </a:lnTo>
                    <a:lnTo>
                      <a:pt x="323431" y="323032"/>
                    </a:lnTo>
                    <a:lnTo>
                      <a:pt x="0" y="323032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0" name="TextBox 25">
                <a:extLst>
                  <a:ext uri="{FF2B5EF4-FFF2-40B4-BE49-F238E27FC236}">
                    <a16:creationId xmlns:a16="http://schemas.microsoft.com/office/drawing/2014/main" id="{74499E99-E4D9-39EE-AD7D-9102D2294D4A}"/>
                  </a:ext>
                </a:extLst>
              </p:cNvPr>
              <p:cNvSpPr txBox="1"/>
              <p:nvPr/>
            </p:nvSpPr>
            <p:spPr>
              <a:xfrm>
                <a:off x="17201" y="-64662"/>
                <a:ext cx="323431" cy="284444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5384"/>
                  </a:lnSpc>
                </a:pPr>
                <a:r>
                  <a:rPr lang="en-US" sz="3846" b="1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05</a:t>
                </a:r>
              </a:p>
            </p:txBody>
          </p:sp>
        </p:grpSp>
        <p:sp>
          <p:nvSpPr>
            <p:cNvPr id="63" name="TextBox 40">
              <a:extLst>
                <a:ext uri="{FF2B5EF4-FFF2-40B4-BE49-F238E27FC236}">
                  <a16:creationId xmlns:a16="http://schemas.microsoft.com/office/drawing/2014/main" id="{F4A350D4-73B6-1364-45A6-687D18531811}"/>
                </a:ext>
              </a:extLst>
            </p:cNvPr>
            <p:cNvSpPr txBox="1"/>
            <p:nvPr/>
          </p:nvSpPr>
          <p:spPr>
            <a:xfrm>
              <a:off x="4361051" y="5550734"/>
              <a:ext cx="3641198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400" b="1" err="1">
                  <a:solidFill>
                    <a:srgbClr val="333231"/>
                  </a:solidFill>
                  <a:latin typeface="Palatino Linotype" panose="02040502050505030304" pitchFamily="18" charset="0"/>
                  <a:sym typeface="Montserrat Classic Bold"/>
                </a:rPr>
                <a:t>Conclusioni</a:t>
              </a:r>
              <a:endParaRPr lang="en-US" sz="2400" b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endParaRPr>
            </a:p>
          </p:txBody>
        </p:sp>
        <p:pic>
          <p:nvPicPr>
            <p:cNvPr id="78" name="Immagine 77" descr="Immagine che contiene nero, oscurità&#10;&#10;Descrizione generata automaticamente">
              <a:extLst>
                <a:ext uri="{FF2B5EF4-FFF2-40B4-BE49-F238E27FC236}">
                  <a16:creationId xmlns:a16="http://schemas.microsoft.com/office/drawing/2014/main" id="{B1B11D94-7AF0-CCED-2CFF-D443BA83E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683333" y="5381158"/>
              <a:ext cx="72000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4888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119616" y="2211141"/>
            <a:ext cx="760365" cy="1561946"/>
          </a:xfrm>
          <a:custGeom>
            <a:avLst/>
            <a:gdLst/>
            <a:ahLst/>
            <a:cxnLst/>
            <a:rect l="l" t="t" r="r" b="b"/>
            <a:pathLst>
              <a:path w="1140547" h="2342919">
                <a:moveTo>
                  <a:pt x="0" y="0"/>
                </a:moveTo>
                <a:lnTo>
                  <a:pt x="1140547" y="0"/>
                </a:lnTo>
                <a:lnTo>
                  <a:pt x="1140547" y="2342919"/>
                </a:lnTo>
                <a:lnTo>
                  <a:pt x="0" y="23429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-5400000">
            <a:off x="789070" y="2682949"/>
            <a:ext cx="1378694" cy="1378694"/>
          </a:xfrm>
          <a:custGeom>
            <a:avLst/>
            <a:gdLst/>
            <a:ahLst/>
            <a:cxnLst/>
            <a:rect l="l" t="t" r="r" b="b"/>
            <a:pathLst>
              <a:path w="2068041" h="2068041">
                <a:moveTo>
                  <a:pt x="0" y="0"/>
                </a:moveTo>
                <a:lnTo>
                  <a:pt x="2068041" y="0"/>
                </a:lnTo>
                <a:lnTo>
                  <a:pt x="2068041" y="2068041"/>
                </a:lnTo>
                <a:lnTo>
                  <a:pt x="0" y="2068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4" name="AutoShape 4"/>
          <p:cNvSpPr/>
          <p:nvPr/>
        </p:nvSpPr>
        <p:spPr>
          <a:xfrm>
            <a:off x="1499797" y="4061643"/>
            <a:ext cx="0" cy="350291"/>
          </a:xfrm>
          <a:prstGeom prst="line">
            <a:avLst/>
          </a:prstGeom>
          <a:ln w="57150" cap="rnd">
            <a:solidFill>
              <a:srgbClr val="9397D8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 rot="-5400000" flipH="1" flipV="1">
            <a:off x="2662354" y="2971506"/>
            <a:ext cx="760365" cy="1561946"/>
          </a:xfrm>
          <a:custGeom>
            <a:avLst/>
            <a:gdLst/>
            <a:ahLst/>
            <a:cxnLst/>
            <a:rect l="l" t="t" r="r" b="b"/>
            <a:pathLst>
              <a:path w="1140547" h="2342919">
                <a:moveTo>
                  <a:pt x="1140547" y="2342919"/>
                </a:moveTo>
                <a:lnTo>
                  <a:pt x="0" y="2342919"/>
                </a:lnTo>
                <a:lnTo>
                  <a:pt x="0" y="0"/>
                </a:lnTo>
                <a:lnTo>
                  <a:pt x="1140547" y="0"/>
                </a:lnTo>
                <a:lnTo>
                  <a:pt x="1140547" y="234291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542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 rot="-5400000">
            <a:off x="2353189" y="2682949"/>
            <a:ext cx="1378694" cy="1378694"/>
          </a:xfrm>
          <a:custGeom>
            <a:avLst/>
            <a:gdLst/>
            <a:ahLst/>
            <a:cxnLst/>
            <a:rect l="l" t="t" r="r" b="b"/>
            <a:pathLst>
              <a:path w="2068041" h="2068041">
                <a:moveTo>
                  <a:pt x="0" y="0"/>
                </a:moveTo>
                <a:lnTo>
                  <a:pt x="2068041" y="0"/>
                </a:lnTo>
                <a:lnTo>
                  <a:pt x="2068041" y="2068041"/>
                </a:lnTo>
                <a:lnTo>
                  <a:pt x="0" y="2068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7" name="AutoShape 7"/>
          <p:cNvSpPr/>
          <p:nvPr/>
        </p:nvSpPr>
        <p:spPr>
          <a:xfrm flipH="1" flipV="1">
            <a:off x="3019566" y="2332526"/>
            <a:ext cx="2409" cy="350283"/>
          </a:xfrm>
          <a:prstGeom prst="line">
            <a:avLst/>
          </a:prstGeom>
          <a:ln w="57150" cap="rnd">
            <a:solidFill>
              <a:srgbClr val="62B0D9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 rot="-5400000">
            <a:off x="4202098" y="2211207"/>
            <a:ext cx="760365" cy="1561946"/>
          </a:xfrm>
          <a:custGeom>
            <a:avLst/>
            <a:gdLst/>
            <a:ahLst/>
            <a:cxnLst/>
            <a:rect l="l" t="t" r="r" b="b"/>
            <a:pathLst>
              <a:path w="1140547" h="2342919">
                <a:moveTo>
                  <a:pt x="0" y="0"/>
                </a:moveTo>
                <a:lnTo>
                  <a:pt x="1140547" y="0"/>
                </a:lnTo>
                <a:lnTo>
                  <a:pt x="1140547" y="2342919"/>
                </a:lnTo>
                <a:lnTo>
                  <a:pt x="0" y="23429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 rot="-5400000">
            <a:off x="3871552" y="2683015"/>
            <a:ext cx="1378694" cy="1378694"/>
          </a:xfrm>
          <a:custGeom>
            <a:avLst/>
            <a:gdLst/>
            <a:ahLst/>
            <a:cxnLst/>
            <a:rect l="l" t="t" r="r" b="b"/>
            <a:pathLst>
              <a:path w="2068041" h="2068041">
                <a:moveTo>
                  <a:pt x="0" y="0"/>
                </a:moveTo>
                <a:lnTo>
                  <a:pt x="2068041" y="0"/>
                </a:lnTo>
                <a:lnTo>
                  <a:pt x="2068041" y="2068041"/>
                </a:lnTo>
                <a:lnTo>
                  <a:pt x="0" y="2068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0" name="AutoShape 10"/>
          <p:cNvSpPr/>
          <p:nvPr/>
        </p:nvSpPr>
        <p:spPr>
          <a:xfrm>
            <a:off x="4582279" y="4061709"/>
            <a:ext cx="0" cy="350291"/>
          </a:xfrm>
          <a:prstGeom prst="line">
            <a:avLst/>
          </a:prstGeom>
          <a:ln w="57150" cap="rnd">
            <a:solidFill>
              <a:srgbClr val="8ED7E8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>
          <a:xfrm rot="-5400000" flipH="1" flipV="1">
            <a:off x="5744836" y="2971572"/>
            <a:ext cx="760365" cy="1561946"/>
          </a:xfrm>
          <a:custGeom>
            <a:avLst/>
            <a:gdLst/>
            <a:ahLst/>
            <a:cxnLst/>
            <a:rect l="l" t="t" r="r" b="b"/>
            <a:pathLst>
              <a:path w="1140547" h="2342919">
                <a:moveTo>
                  <a:pt x="1140547" y="2342919"/>
                </a:moveTo>
                <a:lnTo>
                  <a:pt x="0" y="2342919"/>
                </a:lnTo>
                <a:lnTo>
                  <a:pt x="0" y="0"/>
                </a:lnTo>
                <a:lnTo>
                  <a:pt x="1140547" y="0"/>
                </a:lnTo>
                <a:lnTo>
                  <a:pt x="1140547" y="2342919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2" name="Freeform 12"/>
          <p:cNvSpPr/>
          <p:nvPr/>
        </p:nvSpPr>
        <p:spPr>
          <a:xfrm rot="-5400000">
            <a:off x="5435671" y="2683015"/>
            <a:ext cx="1378694" cy="1378694"/>
          </a:xfrm>
          <a:custGeom>
            <a:avLst/>
            <a:gdLst/>
            <a:ahLst/>
            <a:cxnLst/>
            <a:rect l="l" t="t" r="r" b="b"/>
            <a:pathLst>
              <a:path w="2068041" h="2068041">
                <a:moveTo>
                  <a:pt x="0" y="0"/>
                </a:moveTo>
                <a:lnTo>
                  <a:pt x="2068041" y="0"/>
                </a:lnTo>
                <a:lnTo>
                  <a:pt x="2068041" y="2068041"/>
                </a:lnTo>
                <a:lnTo>
                  <a:pt x="0" y="2068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3" name="AutoShape 13"/>
          <p:cNvSpPr/>
          <p:nvPr/>
        </p:nvSpPr>
        <p:spPr>
          <a:xfrm flipH="1" flipV="1">
            <a:off x="6102048" y="2332592"/>
            <a:ext cx="2409" cy="350283"/>
          </a:xfrm>
          <a:prstGeom prst="line">
            <a:avLst/>
          </a:prstGeom>
          <a:ln w="57150" cap="rnd">
            <a:solidFill>
              <a:srgbClr val="91DFB1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14" name="Freeform 14"/>
          <p:cNvSpPr/>
          <p:nvPr/>
        </p:nvSpPr>
        <p:spPr>
          <a:xfrm rot="-5400000">
            <a:off x="7287120" y="2211207"/>
            <a:ext cx="760365" cy="1561946"/>
          </a:xfrm>
          <a:custGeom>
            <a:avLst/>
            <a:gdLst/>
            <a:ahLst/>
            <a:cxnLst/>
            <a:rect l="l" t="t" r="r" b="b"/>
            <a:pathLst>
              <a:path w="1140547" h="2342919">
                <a:moveTo>
                  <a:pt x="0" y="0"/>
                </a:moveTo>
                <a:lnTo>
                  <a:pt x="1140547" y="0"/>
                </a:lnTo>
                <a:lnTo>
                  <a:pt x="1140547" y="2342919"/>
                </a:lnTo>
                <a:lnTo>
                  <a:pt x="0" y="2342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 rot="-5400000">
            <a:off x="6956574" y="2683015"/>
            <a:ext cx="1378694" cy="1378694"/>
          </a:xfrm>
          <a:custGeom>
            <a:avLst/>
            <a:gdLst/>
            <a:ahLst/>
            <a:cxnLst/>
            <a:rect l="l" t="t" r="r" b="b"/>
            <a:pathLst>
              <a:path w="2068041" h="2068041">
                <a:moveTo>
                  <a:pt x="0" y="0"/>
                </a:moveTo>
                <a:lnTo>
                  <a:pt x="2068041" y="0"/>
                </a:lnTo>
                <a:lnTo>
                  <a:pt x="2068041" y="2068041"/>
                </a:lnTo>
                <a:lnTo>
                  <a:pt x="0" y="2068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6" name="AutoShape 16"/>
          <p:cNvSpPr/>
          <p:nvPr/>
        </p:nvSpPr>
        <p:spPr>
          <a:xfrm>
            <a:off x="7667303" y="4061709"/>
            <a:ext cx="0" cy="350291"/>
          </a:xfrm>
          <a:prstGeom prst="line">
            <a:avLst/>
          </a:prstGeom>
          <a:ln w="57150" cap="rnd">
            <a:solidFill>
              <a:srgbClr val="F8D389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17" name="Freeform 17"/>
          <p:cNvSpPr/>
          <p:nvPr/>
        </p:nvSpPr>
        <p:spPr>
          <a:xfrm rot="-5400000" flipH="1" flipV="1">
            <a:off x="8825840" y="2971506"/>
            <a:ext cx="760365" cy="1561946"/>
          </a:xfrm>
          <a:custGeom>
            <a:avLst/>
            <a:gdLst/>
            <a:ahLst/>
            <a:cxnLst/>
            <a:rect l="l" t="t" r="r" b="b"/>
            <a:pathLst>
              <a:path w="1140547" h="2342919">
                <a:moveTo>
                  <a:pt x="1140547" y="2342919"/>
                </a:moveTo>
                <a:lnTo>
                  <a:pt x="0" y="2342919"/>
                </a:lnTo>
                <a:lnTo>
                  <a:pt x="0" y="0"/>
                </a:lnTo>
                <a:lnTo>
                  <a:pt x="1140547" y="0"/>
                </a:lnTo>
                <a:lnTo>
                  <a:pt x="1140547" y="2342919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8" name="Freeform 18"/>
          <p:cNvSpPr/>
          <p:nvPr/>
        </p:nvSpPr>
        <p:spPr>
          <a:xfrm rot="-5400000">
            <a:off x="8516675" y="2682949"/>
            <a:ext cx="1378694" cy="1378694"/>
          </a:xfrm>
          <a:custGeom>
            <a:avLst/>
            <a:gdLst/>
            <a:ahLst/>
            <a:cxnLst/>
            <a:rect l="l" t="t" r="r" b="b"/>
            <a:pathLst>
              <a:path w="2068041" h="2068041">
                <a:moveTo>
                  <a:pt x="0" y="0"/>
                </a:moveTo>
                <a:lnTo>
                  <a:pt x="2068041" y="0"/>
                </a:lnTo>
                <a:lnTo>
                  <a:pt x="2068041" y="2068041"/>
                </a:lnTo>
                <a:lnTo>
                  <a:pt x="0" y="2068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9" name="AutoShape 19"/>
          <p:cNvSpPr/>
          <p:nvPr/>
        </p:nvSpPr>
        <p:spPr>
          <a:xfrm flipH="1" flipV="1">
            <a:off x="9183052" y="2332526"/>
            <a:ext cx="2409" cy="350283"/>
          </a:xfrm>
          <a:prstGeom prst="line">
            <a:avLst/>
          </a:prstGeom>
          <a:ln w="57150" cap="rnd">
            <a:solidFill>
              <a:srgbClr val="F8B27C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21" name="Freeform 21"/>
          <p:cNvSpPr/>
          <p:nvPr/>
        </p:nvSpPr>
        <p:spPr>
          <a:xfrm rot="-5400000">
            <a:off x="10369562" y="2211207"/>
            <a:ext cx="760365" cy="1561946"/>
          </a:xfrm>
          <a:custGeom>
            <a:avLst/>
            <a:gdLst/>
            <a:ahLst/>
            <a:cxnLst/>
            <a:rect l="l" t="t" r="r" b="b"/>
            <a:pathLst>
              <a:path w="1140547" h="2342919">
                <a:moveTo>
                  <a:pt x="0" y="0"/>
                </a:moveTo>
                <a:lnTo>
                  <a:pt x="1140547" y="0"/>
                </a:lnTo>
                <a:lnTo>
                  <a:pt x="1140547" y="2342919"/>
                </a:lnTo>
                <a:lnTo>
                  <a:pt x="0" y="2342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10542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22" name="Freeform 22"/>
          <p:cNvSpPr/>
          <p:nvPr/>
        </p:nvSpPr>
        <p:spPr>
          <a:xfrm rot="-5400000">
            <a:off x="10039016" y="2683015"/>
            <a:ext cx="1378694" cy="1378694"/>
          </a:xfrm>
          <a:custGeom>
            <a:avLst/>
            <a:gdLst/>
            <a:ahLst/>
            <a:cxnLst/>
            <a:rect l="l" t="t" r="r" b="b"/>
            <a:pathLst>
              <a:path w="2068041" h="2068041">
                <a:moveTo>
                  <a:pt x="0" y="0"/>
                </a:moveTo>
                <a:lnTo>
                  <a:pt x="2068041" y="0"/>
                </a:lnTo>
                <a:lnTo>
                  <a:pt x="2068041" y="2068041"/>
                </a:lnTo>
                <a:lnTo>
                  <a:pt x="0" y="20680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23" name="AutoShape 23"/>
          <p:cNvSpPr/>
          <p:nvPr/>
        </p:nvSpPr>
        <p:spPr>
          <a:xfrm>
            <a:off x="10749744" y="4061709"/>
            <a:ext cx="0" cy="350291"/>
          </a:xfrm>
          <a:prstGeom prst="line">
            <a:avLst/>
          </a:prstGeom>
          <a:ln w="57150" cap="rnd">
            <a:solidFill>
              <a:srgbClr val="FF8379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Box 30"/>
          <p:cNvSpPr txBox="1"/>
          <p:nvPr/>
        </p:nvSpPr>
        <p:spPr>
          <a:xfrm>
            <a:off x="2310970" y="-46084"/>
            <a:ext cx="7529958" cy="566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6"/>
              </a:lnSpc>
            </a:pPr>
            <a:r>
              <a:rPr lang="en-US" sz="3368" b="1" spc="205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Dataset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8428" y="4609176"/>
            <a:ext cx="1542738" cy="209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  <a:spcBef>
                <a:spcPct val="0"/>
              </a:spcBef>
            </a:pPr>
            <a:r>
              <a:rPr lang="en-US" sz="1366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COCO Dataset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248197" y="994765"/>
            <a:ext cx="1542738" cy="209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  <a:spcBef>
                <a:spcPct val="0"/>
              </a:spcBef>
            </a:pPr>
            <a:r>
              <a:rPr lang="en-US" sz="1366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PPE Dataset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727056" y="4609176"/>
            <a:ext cx="1766013" cy="210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  <a:spcBef>
                <a:spcPct val="0"/>
              </a:spcBef>
            </a:pPr>
            <a:r>
              <a:rPr lang="en-US" sz="1366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Custom Dataset(CHV</a:t>
            </a:r>
            <a:r>
              <a:rPr lang="en-US" sz="1366">
                <a:solidFill>
                  <a:srgbClr val="343432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304580" y="577402"/>
            <a:ext cx="1542738" cy="427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  <a:spcBef>
                <a:spcPct val="0"/>
              </a:spcBef>
            </a:pPr>
            <a:r>
              <a:rPr lang="en-US" sz="1366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Construction Safety Dataset (CHVG</a:t>
            </a:r>
            <a:r>
              <a:rPr lang="en-US" sz="1366">
                <a:solidFill>
                  <a:srgbClr val="343432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)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82311" y="4609175"/>
            <a:ext cx="1542738" cy="209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  <a:spcBef>
                <a:spcPct val="0"/>
              </a:spcBef>
            </a:pPr>
            <a:r>
              <a:rPr lang="en-US" sz="1366">
                <a:solidFill>
                  <a:srgbClr val="343432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CPPE Dataset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11682" y="1018299"/>
            <a:ext cx="1542738" cy="209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  <a:spcBef>
                <a:spcPct val="0"/>
              </a:spcBef>
            </a:pPr>
            <a:r>
              <a:rPr lang="en-US" sz="1366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KSE-PPE Dataset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987980" y="4609175"/>
            <a:ext cx="1542738" cy="209737"/>
          </a:xfrm>
          <a:prstGeom prst="rect">
            <a:avLst/>
          </a:prstGeom>
          <a:solidFill>
            <a:srgbClr val="F4F2F0"/>
          </a:solidFill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  <a:spcBef>
                <a:spcPct val="0"/>
              </a:spcBef>
            </a:pPr>
            <a:r>
              <a:rPr lang="en-US" sz="1366">
                <a:solidFill>
                  <a:srgbClr val="343432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CPPE-5 </a:t>
            </a:r>
            <a:r>
              <a:rPr lang="en-US" sz="1366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Dataset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08501" y="4822506"/>
            <a:ext cx="1772326" cy="1233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5"/>
              </a:lnSpc>
              <a:spcBef>
                <a:spcPct val="0"/>
              </a:spcBef>
            </a:pP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Dataset standard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riferimento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per il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rilevamento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degli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oggetti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e la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segmentazione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. Nel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contesto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del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rilevamento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dei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DPI, include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oggetti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come "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caschi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" e "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vestiti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sicurezza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"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674734" y="4838587"/>
            <a:ext cx="1772326" cy="92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5"/>
              </a:lnSpc>
              <a:spcBef>
                <a:spcPct val="0"/>
              </a:spcBef>
            </a:pP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Progettato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per il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rilevamento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e la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classificazione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caschi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protezione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e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giubbotti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riflettenti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utilizzati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nei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cantieri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costruzione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.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82060" y="4838587"/>
            <a:ext cx="1772326" cy="925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45"/>
              </a:lnSpc>
              <a:spcBef>
                <a:spcPct val="0"/>
              </a:spcBef>
            </a:pP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Contiene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annotazioni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che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sfruttano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informazioni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posa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per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rilevare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l'uso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corretto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o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scorretto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DPI, con focus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su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caschi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e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giubbotti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”.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858578" y="4838587"/>
            <a:ext cx="1772326" cy="1233607"/>
          </a:xfrm>
          <a:prstGeom prst="rect">
            <a:avLst/>
          </a:prstGeom>
          <a:solidFill>
            <a:srgbClr val="F4F2F0"/>
          </a:solidFill>
          <a:effectLst>
            <a:softEdge rad="63500"/>
          </a:effectLst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45"/>
              </a:lnSpc>
              <a:spcBef>
                <a:spcPct val="0"/>
              </a:spcBef>
            </a:pP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Contiene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5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classi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specifiche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DPI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utilizzati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in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ambienti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medici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, come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mascherine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”,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tute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protettive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”,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visiere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”,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occhiali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protettivi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 e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guanti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759054" y="1209585"/>
            <a:ext cx="2499789" cy="92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5"/>
              </a:lnSpc>
              <a:spcBef>
                <a:spcPct val="0"/>
              </a:spcBef>
            </a:pP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Raccolta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dedicata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immagini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provenienti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da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cantieri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reali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.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Comprende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classi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specifiche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come "casco", "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giubbotto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", "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occhiali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protettivi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", "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guanti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" e "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scarpe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sicurezza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".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826054" y="1068709"/>
            <a:ext cx="2499789" cy="1079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5"/>
              </a:lnSpc>
              <a:spcBef>
                <a:spcPct val="0"/>
              </a:spcBef>
            </a:pP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Contiene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immagini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acquisite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da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telecamere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in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siti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costruzione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, con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annotazioni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specifiche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sui DPI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indossati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dai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lavoratori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. Le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classi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principali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includono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"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caschi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" (di 4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colori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distinti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), "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giubotti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riflettenti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" e "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occhiali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sicurezza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"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33157" y="1229509"/>
            <a:ext cx="2499789" cy="92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5"/>
              </a:lnSpc>
              <a:spcBef>
                <a:spcPct val="0"/>
              </a:spcBef>
            </a:pP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Raccolta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immagini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cantieri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e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ambienti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industriali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, con focus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su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lavoratori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che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indossano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dispositivi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protezione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individuale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(DPI),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tra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cui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caschi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”, “gilet”, “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guanti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 e “coni di </a:t>
            </a:r>
            <a:r>
              <a:rPr lang="en-US" sz="12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sicurezza</a:t>
            </a:r>
            <a:r>
              <a:rPr lang="en-US" sz="12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” </a:t>
            </a:r>
          </a:p>
        </p:txBody>
      </p:sp>
      <p:pic>
        <p:nvPicPr>
          <p:cNvPr id="46" name="Immagine 45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86D12F30-7B17-1B80-E658-BFEDE1B2AF5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4664" y="2985742"/>
            <a:ext cx="720000" cy="720000"/>
          </a:xfrm>
          <a:prstGeom prst="rect">
            <a:avLst/>
          </a:prstGeom>
        </p:spPr>
      </p:pic>
      <p:pic>
        <p:nvPicPr>
          <p:cNvPr id="48" name="Immagine 4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3F64A24C-BC31-B067-0593-A5EF9461E21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74629" y="3012156"/>
            <a:ext cx="720000" cy="720000"/>
          </a:xfrm>
          <a:prstGeom prst="rect">
            <a:avLst/>
          </a:prstGeom>
        </p:spPr>
      </p:pic>
      <p:pic>
        <p:nvPicPr>
          <p:cNvPr id="50" name="Immagine 4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ED1E6C56-0A6A-782C-2E3F-981E81A1BF3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49489" y="3012156"/>
            <a:ext cx="720000" cy="720000"/>
          </a:xfrm>
          <a:prstGeom prst="rect">
            <a:avLst/>
          </a:prstGeom>
        </p:spPr>
      </p:pic>
      <p:pic>
        <p:nvPicPr>
          <p:cNvPr id="52" name="Immagine 51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0AEF6B1F-17C7-1F6F-FC7E-4D71019B6EE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29089" y="3012014"/>
            <a:ext cx="720000" cy="720000"/>
          </a:xfrm>
          <a:prstGeom prst="rect">
            <a:avLst/>
          </a:prstGeom>
        </p:spPr>
      </p:pic>
      <p:pic>
        <p:nvPicPr>
          <p:cNvPr id="54" name="Immagine 53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BA3E2141-E8D3-B9AE-8680-6CCB2F8ED24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99236" y="3068631"/>
            <a:ext cx="720000" cy="720000"/>
          </a:xfrm>
          <a:prstGeom prst="rect">
            <a:avLst/>
          </a:prstGeom>
        </p:spPr>
      </p:pic>
      <p:pic>
        <p:nvPicPr>
          <p:cNvPr id="56" name="Immagine 55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B9389491-CDBD-AFD0-B691-E17F208C9E3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384741" y="3012156"/>
            <a:ext cx="720000" cy="720000"/>
          </a:xfrm>
          <a:prstGeom prst="rect">
            <a:avLst/>
          </a:prstGeom>
        </p:spPr>
      </p:pic>
      <p:pic>
        <p:nvPicPr>
          <p:cNvPr id="58" name="Immagine 57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EAE137DB-B21E-0ED3-7A59-16C4B873366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74674" y="3032479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00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6">
            <a:extLst>
              <a:ext uri="{FF2B5EF4-FFF2-40B4-BE49-F238E27FC236}">
                <a16:creationId xmlns:a16="http://schemas.microsoft.com/office/drawing/2014/main" id="{5DF42093-84E2-674D-BE14-7F1BA797EF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651" y="277286"/>
            <a:ext cx="10077556" cy="582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16"/>
              </a:lnSpc>
            </a:pPr>
            <a:r>
              <a:rPr lang="en-US" sz="3800" b="1" spc="205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YOLO vs </a:t>
            </a:r>
            <a:r>
              <a:rPr lang="en-US" sz="3800" b="1" spc="205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altri</a:t>
            </a:r>
            <a:r>
              <a:rPr lang="en-US" sz="3800" b="1" spc="205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3800" b="1" spc="205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algoritmi</a:t>
            </a:r>
            <a:endParaRPr lang="en-US" sz="3800" b="1" spc="205">
              <a:solidFill>
                <a:srgbClr val="343432"/>
              </a:solidFill>
              <a:latin typeface="Palatino Linotype" panose="02040502050505030304" pitchFamily="18" charset="0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4FAD036-64BA-7AF5-76B0-EB21E7F1F0F7}"/>
              </a:ext>
            </a:extLst>
          </p:cNvPr>
          <p:cNvSpPr txBox="1"/>
          <p:nvPr/>
        </p:nvSpPr>
        <p:spPr>
          <a:xfrm>
            <a:off x="5134639" y="2387146"/>
            <a:ext cx="65147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>
                <a:latin typeface="Palatino Linotype" panose="02040502050505030304" pitchFamily="18" charset="0"/>
              </a:rPr>
              <a:t>In un ambiente di prova identico: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latin typeface="Palatino Linotype" panose="02040502050505030304" pitchFamily="18" charset="0"/>
              </a:rPr>
              <a:t>SSD ha le prestazioni peggiori e richiede un elevato numero di dati per l’addestramento.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latin typeface="Palatino Linotype" panose="02040502050505030304" pitchFamily="18" charset="0"/>
              </a:rPr>
              <a:t> </a:t>
            </a:r>
            <a:r>
              <a:rPr lang="it-IT" sz="1600" err="1">
                <a:latin typeface="Palatino Linotype" panose="02040502050505030304" pitchFamily="18" charset="0"/>
              </a:rPr>
              <a:t>Faster</a:t>
            </a:r>
            <a:r>
              <a:rPr lang="it-IT" sz="1600">
                <a:latin typeface="Palatino Linotype" panose="02040502050505030304" pitchFamily="18" charset="0"/>
              </a:rPr>
              <a:t>-RCNN più preciso dell’SSD, ma significativamente più lento di YOLO.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latin typeface="Palatino Linotype" panose="02040502050505030304" pitchFamily="18" charset="0"/>
              </a:rPr>
              <a:t>YOLOv3 risulta essere il più efficiente e dunque il migliore di tutti.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23F9E86-BF41-B2AD-946B-2547C8F1B452}"/>
              </a:ext>
            </a:extLst>
          </p:cNvPr>
          <p:cNvSpPr txBox="1"/>
          <p:nvPr/>
        </p:nvSpPr>
        <p:spPr>
          <a:xfrm>
            <a:off x="542651" y="859625"/>
            <a:ext cx="111066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0">
                <a:effectLst/>
                <a:latin typeface="Palatino Linotype" panose="02040502050505030304" pitchFamily="18" charset="0"/>
              </a:rPr>
              <a:t>In questa analisi comparativa, utilizzando il set di dati Microsoft COCO (Common Object in </a:t>
            </a:r>
            <a:r>
              <a:rPr lang="it-IT" sz="1600" b="0" err="1">
                <a:effectLst/>
                <a:latin typeface="Palatino Linotype" panose="02040502050505030304" pitchFamily="18" charset="0"/>
              </a:rPr>
              <a:t>Context</a:t>
            </a:r>
            <a:r>
              <a:rPr lang="it-IT" sz="1600" b="0">
                <a:effectLst/>
                <a:latin typeface="Palatino Linotype" panose="02040502050505030304" pitchFamily="18" charset="0"/>
              </a:rPr>
              <a:t>), vengono valutate le prestazioni di tre algoritmi e vengono analizzati i loro punti di forza e i loro limiti in base a parametri quali </a:t>
            </a:r>
            <a:r>
              <a:rPr lang="it-IT" sz="1600">
                <a:latin typeface="Palatino Linotype" panose="02040502050505030304" pitchFamily="18" charset="0"/>
              </a:rPr>
              <a:t>accuratezza, precisione e punteggio F1.</a:t>
            </a:r>
            <a:endParaRPr lang="it-IT" sz="1400" i="1">
              <a:latin typeface="Palatino Linotype" panose="02040502050505030304" pitchFamily="18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BFA700F-9B41-2BD9-3F61-CDBC4E21A8F8}"/>
              </a:ext>
            </a:extLst>
          </p:cNvPr>
          <p:cNvSpPr txBox="1"/>
          <p:nvPr/>
        </p:nvSpPr>
        <p:spPr>
          <a:xfrm>
            <a:off x="542651" y="1737839"/>
            <a:ext cx="111066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err="1">
                <a:latin typeface="Palatino Linotype" panose="02040502050505030304" pitchFamily="18" charset="0"/>
              </a:rPr>
              <a:t>Faster</a:t>
            </a:r>
            <a:r>
              <a:rPr lang="it-IT" sz="1600">
                <a:latin typeface="Palatino Linotype" panose="02040502050505030304" pitchFamily="18" charset="0"/>
              </a:rPr>
              <a:t> R-CNN e SSD, hanno una bassa accuratezza a causa di un elevato numero di classificazioni errate (aree viola nei grafici Precisione-Recall), quasi inesistenti nei grafici di YOLO.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9775378-0A33-69DA-8743-46205513E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1150903" y="3668994"/>
            <a:ext cx="4125045" cy="1561349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FC21CA7D-0BE0-20F7-9674-BB70EFEC4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175808" y="3694452"/>
            <a:ext cx="4074133" cy="1561345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484A941-FDBD-9418-A679-2B81B0452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99725" y="3720807"/>
            <a:ext cx="4125045" cy="1457723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C1AF6BF-6C7E-0A9C-E662-1D8B2A64AA61}"/>
              </a:ext>
            </a:extLst>
          </p:cNvPr>
          <p:cNvSpPr txBox="1"/>
          <p:nvPr/>
        </p:nvSpPr>
        <p:spPr>
          <a:xfrm>
            <a:off x="627190" y="6538399"/>
            <a:ext cx="5642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>
                <a:latin typeface="Palatino Linotype" panose="02040502050505030304" pitchFamily="18" charset="0"/>
              </a:rPr>
              <a:t>SSD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3EC28CE-CB8E-A67F-130D-598B9751BA0E}"/>
              </a:ext>
            </a:extLst>
          </p:cNvPr>
          <p:cNvSpPr txBox="1"/>
          <p:nvPr/>
        </p:nvSpPr>
        <p:spPr>
          <a:xfrm>
            <a:off x="1824612" y="6522897"/>
            <a:ext cx="1475271" cy="345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err="1">
                <a:latin typeface="Palatino Linotype" panose="02040502050505030304" pitchFamily="18" charset="0"/>
              </a:rPr>
              <a:t>Faster</a:t>
            </a:r>
            <a:r>
              <a:rPr lang="it-IT" sz="1600">
                <a:latin typeface="Palatino Linotype" panose="02040502050505030304" pitchFamily="18" charset="0"/>
              </a:rPr>
              <a:t> R-CNN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4363CCB-9173-936D-8FD7-843A042CA894}"/>
              </a:ext>
            </a:extLst>
          </p:cNvPr>
          <p:cNvSpPr txBox="1"/>
          <p:nvPr/>
        </p:nvSpPr>
        <p:spPr>
          <a:xfrm>
            <a:off x="3701599" y="6538399"/>
            <a:ext cx="1022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>
                <a:latin typeface="Palatino Linotype" panose="02040502050505030304" pitchFamily="18" charset="0"/>
              </a:rPr>
              <a:t>YOLOv3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3C455FA-6F74-948A-5239-219AF775A72E}"/>
              </a:ext>
            </a:extLst>
          </p:cNvPr>
          <p:cNvSpPr txBox="1"/>
          <p:nvPr/>
        </p:nvSpPr>
        <p:spPr>
          <a:xfrm>
            <a:off x="5134639" y="4610969"/>
            <a:ext cx="4325721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it-IT" sz="1400">
                <a:effectLst/>
                <a:latin typeface="WarnockPro"/>
              </a:rPr>
              <a:t>Legenda colori aree: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1400">
                <a:effectLst/>
                <a:latin typeface="WarnockPro"/>
              </a:rPr>
              <a:t>Arancione: curva di precisione-richiamo senza errori</a:t>
            </a:r>
            <a:endParaRPr lang="it-IT" sz="1400">
              <a:latin typeface="WarnockPro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1400">
                <a:effectLst/>
                <a:latin typeface="WarnockPro"/>
              </a:rPr>
              <a:t>Viola: oggetti rilevati erroneamente</a:t>
            </a:r>
            <a:endParaRPr lang="it-IT" sz="1400">
              <a:latin typeface="WarnockPro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1400">
                <a:latin typeface="WarnockPro"/>
              </a:rPr>
              <a:t>B</a:t>
            </a:r>
            <a:r>
              <a:rPr lang="it-IT" sz="1400">
                <a:effectLst/>
                <a:latin typeface="WarnockPro"/>
              </a:rPr>
              <a:t>lu: errori di localizzazione (</a:t>
            </a:r>
            <a:r>
              <a:rPr lang="it-IT" sz="1400" err="1">
                <a:effectLst/>
                <a:latin typeface="WarnockPro"/>
              </a:rPr>
              <a:t>Loc</a:t>
            </a:r>
            <a:r>
              <a:rPr lang="it-IT" sz="1400">
                <a:effectLst/>
                <a:latin typeface="WarnockPro"/>
              </a:rPr>
              <a:t>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1400">
                <a:latin typeface="WarnockPro"/>
              </a:rPr>
              <a:t>B</a:t>
            </a:r>
            <a:r>
              <a:rPr lang="it-IT" sz="1400">
                <a:effectLst/>
                <a:latin typeface="WarnockPro"/>
              </a:rPr>
              <a:t>ianco: valore di </a:t>
            </a:r>
            <a:r>
              <a:rPr lang="it-IT" sz="1400" err="1">
                <a:effectLst/>
                <a:latin typeface="WarnockPro"/>
              </a:rPr>
              <a:t>IoU</a:t>
            </a:r>
            <a:r>
              <a:rPr lang="it-IT" sz="1400">
                <a:effectLst/>
                <a:latin typeface="WarnockPro"/>
              </a:rPr>
              <a:t> superiore a 0,75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1400">
                <a:latin typeface="WarnockPro"/>
              </a:rPr>
              <a:t>G</a:t>
            </a:r>
            <a:r>
              <a:rPr lang="it-IT" sz="1400">
                <a:effectLst/>
                <a:latin typeface="WarnockPro"/>
              </a:rPr>
              <a:t>rigio un valore di </a:t>
            </a:r>
            <a:r>
              <a:rPr lang="it-IT" sz="1400" err="1">
                <a:effectLst/>
                <a:latin typeface="WarnockPro"/>
              </a:rPr>
              <a:t>IoU</a:t>
            </a:r>
            <a:r>
              <a:rPr lang="it-IT" sz="1400">
                <a:effectLst/>
                <a:latin typeface="WarnockPro"/>
              </a:rPr>
              <a:t> superiore a 0,5. </a:t>
            </a:r>
            <a:endParaRPr lang="it-IT" sz="140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09B308E-7827-3EDD-60EC-75EE1DB7DB8E}"/>
              </a:ext>
            </a:extLst>
          </p:cNvPr>
          <p:cNvSpPr txBox="1"/>
          <p:nvPr/>
        </p:nvSpPr>
        <p:spPr>
          <a:xfrm>
            <a:off x="5134639" y="5998375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i="1">
                <a:latin typeface="Palatino Linotype" panose="02040502050505030304" pitchFamily="18" charset="0"/>
              </a:rPr>
              <a:t>Fonte: Comparative </a:t>
            </a:r>
            <a:r>
              <a:rPr lang="it-IT" sz="1400" i="1" err="1">
                <a:latin typeface="Palatino Linotype" panose="02040502050505030304" pitchFamily="18" charset="0"/>
              </a:rPr>
              <a:t>analysis</a:t>
            </a:r>
            <a:r>
              <a:rPr lang="it-IT" sz="1400" i="1">
                <a:latin typeface="Palatino Linotype" panose="02040502050505030304" pitchFamily="18" charset="0"/>
              </a:rPr>
              <a:t> of deep learning image </a:t>
            </a:r>
            <a:r>
              <a:rPr lang="it-IT" sz="1400" i="1" err="1">
                <a:latin typeface="Palatino Linotype" panose="02040502050505030304" pitchFamily="18" charset="0"/>
              </a:rPr>
              <a:t>detection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  <a:r>
              <a:rPr lang="it-IT" sz="1400" i="1" err="1">
                <a:latin typeface="Palatino Linotype" panose="02040502050505030304" pitchFamily="18" charset="0"/>
              </a:rPr>
              <a:t>algorithms</a:t>
            </a:r>
            <a:endParaRPr lang="it-IT" sz="1400" i="1">
              <a:latin typeface="Palatino Linotype" panose="02040502050505030304" pitchFamily="18" charset="0"/>
            </a:endParaRPr>
          </a:p>
          <a:p>
            <a:r>
              <a:rPr lang="it-IT" sz="1400" i="1">
                <a:latin typeface="Palatino Linotype" panose="02040502050505030304" pitchFamily="18" charset="0"/>
              </a:rPr>
              <a:t>Il grafico è la rilevazione su oggetti di piccole dimensioni, per i quali si evidenziavano maggiormente le differenze.</a:t>
            </a:r>
            <a:endParaRPr lang="it-IT" sz="1400"/>
          </a:p>
        </p:txBody>
      </p:sp>
    </p:spTree>
    <p:extLst>
      <p:ext uri="{BB962C8B-B14F-4D97-AF65-F5344CB8AC3E}">
        <p14:creationId xmlns:p14="http://schemas.microsoft.com/office/powerpoint/2010/main" val="1278337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EF064C9D-7C68-D53C-5E1F-13A523388CEC}"/>
              </a:ext>
            </a:extLst>
          </p:cNvPr>
          <p:cNvCxnSpPr/>
          <p:nvPr/>
        </p:nvCxnSpPr>
        <p:spPr>
          <a:xfrm>
            <a:off x="-101334" y="4518376"/>
            <a:ext cx="1239466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Freeform 5"/>
          <p:cNvSpPr/>
          <p:nvPr/>
        </p:nvSpPr>
        <p:spPr>
          <a:xfrm rot="-1105828">
            <a:off x="-1942422" y="-2025272"/>
            <a:ext cx="7308911" cy="4050543"/>
          </a:xfrm>
          <a:custGeom>
            <a:avLst/>
            <a:gdLst/>
            <a:ahLst/>
            <a:cxnLst/>
            <a:rect l="l" t="t" r="r" b="b"/>
            <a:pathLst>
              <a:path w="10963366" h="6075814">
                <a:moveTo>
                  <a:pt x="0" y="0"/>
                </a:moveTo>
                <a:lnTo>
                  <a:pt x="10963366" y="0"/>
                </a:lnTo>
                <a:lnTo>
                  <a:pt x="10963366" y="6075814"/>
                </a:lnTo>
                <a:lnTo>
                  <a:pt x="0" y="6075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39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 rot="5255613">
            <a:off x="248877" y="5361817"/>
            <a:ext cx="1117634" cy="1339213"/>
          </a:xfrm>
          <a:custGeom>
            <a:avLst/>
            <a:gdLst/>
            <a:ahLst/>
            <a:cxnLst/>
            <a:rect l="l" t="t" r="r" b="b"/>
            <a:pathLst>
              <a:path w="1676451" h="2008819">
                <a:moveTo>
                  <a:pt x="0" y="0"/>
                </a:moveTo>
                <a:lnTo>
                  <a:pt x="1676450" y="0"/>
                </a:lnTo>
                <a:lnTo>
                  <a:pt x="1676450" y="2008819"/>
                </a:lnTo>
                <a:lnTo>
                  <a:pt x="0" y="20088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 rot="8387198">
            <a:off x="9176409" y="5217125"/>
            <a:ext cx="4577684" cy="2443339"/>
          </a:xfrm>
          <a:custGeom>
            <a:avLst/>
            <a:gdLst/>
            <a:ahLst/>
            <a:cxnLst/>
            <a:rect l="l" t="t" r="r" b="b"/>
            <a:pathLst>
              <a:path w="6866526" h="3665008">
                <a:moveTo>
                  <a:pt x="0" y="0"/>
                </a:moveTo>
                <a:lnTo>
                  <a:pt x="6866525" y="0"/>
                </a:lnTo>
                <a:lnTo>
                  <a:pt x="6866525" y="3665008"/>
                </a:lnTo>
                <a:lnTo>
                  <a:pt x="0" y="36650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36">
            <a:extLst>
              <a:ext uri="{FF2B5EF4-FFF2-40B4-BE49-F238E27FC236}">
                <a16:creationId xmlns:a16="http://schemas.microsoft.com/office/drawing/2014/main" id="{1F8F407E-443B-BF30-D8D4-680D7C73AE3B}"/>
              </a:ext>
            </a:extLst>
          </p:cNvPr>
          <p:cNvSpPr txBox="1">
            <a:spLocks/>
          </p:cNvSpPr>
          <p:nvPr/>
        </p:nvSpPr>
        <p:spPr>
          <a:xfrm>
            <a:off x="542651" y="277286"/>
            <a:ext cx="10077556" cy="582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4716"/>
              </a:lnSpc>
            </a:pPr>
            <a:r>
              <a:rPr lang="en-US" sz="3800" b="1" spc="205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YOLO vs </a:t>
            </a:r>
            <a:r>
              <a:rPr lang="en-US" sz="3800" b="1" spc="205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altri</a:t>
            </a:r>
            <a:r>
              <a:rPr lang="en-US" sz="3800" b="1" spc="205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3800" b="1" spc="205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algoritmi</a:t>
            </a:r>
            <a:endParaRPr lang="en-US" sz="3800" b="1" spc="205">
              <a:solidFill>
                <a:srgbClr val="343432"/>
              </a:solidFill>
              <a:latin typeface="Palatino Linotype" panose="02040502050505030304" pitchFamily="18" charset="0"/>
              <a:ea typeface="Montserrat Classic Bold"/>
              <a:cs typeface="Montserrat Classic Bold"/>
              <a:sym typeface="Montserrat Classic Bold"/>
            </a:endParaRPr>
          </a:p>
        </p:txBody>
      </p:sp>
      <p:pic>
        <p:nvPicPr>
          <p:cNvPr id="9" name="Immagine 8" descr="Immagine che contiene testo, schermata, linea, Diagramma&#10;&#10;Descrizione generata automaticamente">
            <a:extLst>
              <a:ext uri="{FF2B5EF4-FFF2-40B4-BE49-F238E27FC236}">
                <a16:creationId xmlns:a16="http://schemas.microsoft.com/office/drawing/2014/main" id="{5E02CFA6-56E5-B1A6-D0CE-56CFBDF031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14" y="968008"/>
            <a:ext cx="3533823" cy="2218559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7600D95-64CE-BFC7-5430-F678CF0A2030}"/>
              </a:ext>
            </a:extLst>
          </p:cNvPr>
          <p:cNvSpPr txBox="1"/>
          <p:nvPr/>
        </p:nvSpPr>
        <p:spPr>
          <a:xfrm>
            <a:off x="115214" y="3687379"/>
            <a:ext cx="35338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600"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Già YOLO v4 aumenta notevolmente in termini di precisione media(AP) rispetto a YOLOv3.</a:t>
            </a:r>
            <a:endParaRPr lang="it-IT" sz="16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FEE73A5-CB8A-B102-C06B-86F26E587760}"/>
              </a:ext>
            </a:extLst>
          </p:cNvPr>
          <p:cNvSpPr txBox="1"/>
          <p:nvPr/>
        </p:nvSpPr>
        <p:spPr>
          <a:xfrm>
            <a:off x="115214" y="3188170"/>
            <a:ext cx="3533823" cy="52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i="1">
                <a:latin typeface="Palatino Linotype" panose="02040502050505030304" pitchFamily="18" charset="0"/>
              </a:rPr>
              <a:t>Fonte: Comparative </a:t>
            </a:r>
            <a:r>
              <a:rPr lang="it-IT" sz="1400" i="1" err="1">
                <a:latin typeface="Palatino Linotype" panose="02040502050505030304" pitchFamily="18" charset="0"/>
              </a:rPr>
              <a:t>analysis</a:t>
            </a:r>
            <a:r>
              <a:rPr lang="it-IT" sz="1400" i="1">
                <a:latin typeface="Palatino Linotype" panose="02040502050505030304" pitchFamily="18" charset="0"/>
              </a:rPr>
              <a:t> of deep learning image </a:t>
            </a:r>
            <a:r>
              <a:rPr lang="it-IT" sz="1400" i="1" err="1">
                <a:latin typeface="Palatino Linotype" panose="02040502050505030304" pitchFamily="18" charset="0"/>
              </a:rPr>
              <a:t>detection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  <a:r>
              <a:rPr lang="it-IT" sz="1400" i="1" err="1">
                <a:latin typeface="Palatino Linotype" panose="02040502050505030304" pitchFamily="18" charset="0"/>
              </a:rPr>
              <a:t>algorithms</a:t>
            </a:r>
            <a:endParaRPr lang="it-IT" sz="1400"/>
          </a:p>
        </p:txBody>
      </p:sp>
      <p:pic>
        <p:nvPicPr>
          <p:cNvPr id="13" name="Immagine 12" descr="Immagine che contiene testo, schermata, linea, numero&#10;&#10;Descrizione generata automaticamente">
            <a:extLst>
              <a:ext uri="{FF2B5EF4-FFF2-40B4-BE49-F238E27FC236}">
                <a16:creationId xmlns:a16="http://schemas.microsoft.com/office/drawing/2014/main" id="{9EE65168-78B9-7DC1-B2C7-2AD5677A478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2674"/>
          <a:stretch/>
        </p:blipFill>
        <p:spPr bwMode="auto">
          <a:xfrm>
            <a:off x="4663440" y="1429341"/>
            <a:ext cx="7413346" cy="99147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EA0DA7B-2924-9816-1846-67CBF7BA4586}"/>
              </a:ext>
            </a:extLst>
          </p:cNvPr>
          <p:cNvSpPr txBox="1"/>
          <p:nvPr/>
        </p:nvSpPr>
        <p:spPr>
          <a:xfrm>
            <a:off x="4663440" y="2441977"/>
            <a:ext cx="7157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i="1">
                <a:latin typeface="Palatino Linotype" panose="02040502050505030304" pitchFamily="18" charset="0"/>
              </a:rPr>
              <a:t>Fonte: Pose </a:t>
            </a:r>
            <a:r>
              <a:rPr lang="it-IT" sz="1400" i="1" err="1">
                <a:latin typeface="Palatino Linotype" panose="02040502050505030304" pitchFamily="18" charset="0"/>
              </a:rPr>
              <a:t>guided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  <a:r>
              <a:rPr lang="it-IT" sz="1400" i="1" err="1">
                <a:latin typeface="Palatino Linotype" panose="02040502050505030304" pitchFamily="18" charset="0"/>
              </a:rPr>
              <a:t>anchoring</a:t>
            </a:r>
            <a:r>
              <a:rPr lang="it-IT" sz="1400" i="1">
                <a:latin typeface="Palatino Linotype" panose="02040502050505030304" pitchFamily="18" charset="0"/>
              </a:rPr>
              <a:t> for </a:t>
            </a:r>
            <a:r>
              <a:rPr lang="it-IT" sz="1400" i="1" err="1">
                <a:latin typeface="Palatino Linotype" panose="02040502050505030304" pitchFamily="18" charset="0"/>
              </a:rPr>
              <a:t>detecting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  <a:r>
              <a:rPr lang="it-IT" sz="1400" i="1" err="1">
                <a:latin typeface="Palatino Linotype" panose="02040502050505030304" pitchFamily="18" charset="0"/>
              </a:rPr>
              <a:t>proper</a:t>
            </a:r>
            <a:r>
              <a:rPr lang="it-IT" sz="1400" i="1">
                <a:latin typeface="Palatino Linotype" panose="02040502050505030304" pitchFamily="18" charset="0"/>
              </a:rPr>
              <a:t> use of personal </a:t>
            </a:r>
            <a:r>
              <a:rPr lang="it-IT" sz="1400" i="1" err="1">
                <a:latin typeface="Palatino Linotype" panose="02040502050505030304" pitchFamily="18" charset="0"/>
              </a:rPr>
              <a:t>protective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  <a:r>
              <a:rPr lang="it-IT" sz="1400" i="1" err="1">
                <a:latin typeface="Palatino Linotype" panose="02040502050505030304" pitchFamily="18" charset="0"/>
              </a:rPr>
              <a:t>equipment</a:t>
            </a:r>
            <a:r>
              <a:rPr lang="it-IT" sz="1400" i="1">
                <a:latin typeface="Palatino Linotype" panose="02040502050505030304" pitchFamily="18" charset="0"/>
              </a:rPr>
              <a:t>”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2A78FBB-F735-E063-DAF6-7772B15FF43A}"/>
              </a:ext>
            </a:extLst>
          </p:cNvPr>
          <p:cNvSpPr txBox="1"/>
          <p:nvPr/>
        </p:nvSpPr>
        <p:spPr>
          <a:xfrm>
            <a:off x="4663440" y="2829887"/>
            <a:ext cx="7413346" cy="1569660"/>
          </a:xfrm>
          <a:prstGeom prst="rect">
            <a:avLst/>
          </a:prstGeom>
          <a:solidFill>
            <a:srgbClr val="F4F2F0"/>
          </a:solidFill>
          <a:effectLst>
            <a:softEdge rad="127000"/>
          </a:effectLst>
        </p:spPr>
        <p:txBody>
          <a:bodyPr wrap="square">
            <a:spAutoFit/>
          </a:bodyPr>
          <a:lstStyle/>
          <a:p>
            <a:pPr algn="just"/>
            <a:r>
              <a:rPr lang="it-IT" sz="1600">
                <a:latin typeface="Palatino Linotype" panose="02040502050505030304" pitchFamily="18" charset="0"/>
                <a:ea typeface="Times New Roman" panose="02020603050405020304" pitchFamily="18" charset="0"/>
              </a:rPr>
              <a:t>Anche in questa analisi effettuata sul dataset CPPE, YOLOv3 appare superiore a tutti gli altri algoritmi di </a:t>
            </a:r>
            <a:r>
              <a:rPr lang="it-IT" sz="1600" err="1">
                <a:latin typeface="Palatino Linotype" panose="02040502050505030304" pitchFamily="18" charset="0"/>
              </a:rPr>
              <a:t>object</a:t>
            </a:r>
            <a:r>
              <a:rPr lang="it-IT" sz="1600">
                <a:latin typeface="Palatino Linotype" panose="02040502050505030304" pitchFamily="18" charset="0"/>
              </a:rPr>
              <a:t> </a:t>
            </a:r>
            <a:r>
              <a:rPr lang="it-IT" sz="1600" err="1">
                <a:latin typeface="Palatino Linotype" panose="02040502050505030304" pitchFamily="18" charset="0"/>
              </a:rPr>
              <a:t>detection</a:t>
            </a:r>
            <a:r>
              <a:rPr lang="it-IT" sz="1600">
                <a:latin typeface="Palatino Linotype" panose="02040502050505030304" pitchFamily="18" charset="0"/>
              </a:rPr>
              <a:t> considerati, con esclusione del metodo proposto.  Quest’ultimo addestra due classificatori poco profondi basati su CNN per riconoscere elmetti o giubbotti all'interno delle regioni di attenzione delle parti ritagliate. Tuttavia anche se i due metodi mostrano prestazioni simili, stiamo ancora parlando di YOLOv3.</a:t>
            </a:r>
          </a:p>
        </p:txBody>
      </p:sp>
      <p:sp>
        <p:nvSpPr>
          <p:cNvPr id="17" name="Freccia destra con strisce 16">
            <a:extLst>
              <a:ext uri="{FF2B5EF4-FFF2-40B4-BE49-F238E27FC236}">
                <a16:creationId xmlns:a16="http://schemas.microsoft.com/office/drawing/2014/main" id="{FB8E32D2-7889-EB5E-56CB-B92DF4163EF3}"/>
              </a:ext>
            </a:extLst>
          </p:cNvPr>
          <p:cNvSpPr/>
          <p:nvPr/>
        </p:nvSpPr>
        <p:spPr>
          <a:xfrm>
            <a:off x="3769377" y="1785312"/>
            <a:ext cx="773723" cy="365760"/>
          </a:xfrm>
          <a:prstGeom prst="stripedRightArrow">
            <a:avLst/>
          </a:prstGeom>
          <a:solidFill>
            <a:srgbClr val="C3E0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D7661E6-C33C-ABA8-2305-F4FE36A6315E}"/>
              </a:ext>
            </a:extLst>
          </p:cNvPr>
          <p:cNvSpPr txBox="1"/>
          <p:nvPr/>
        </p:nvSpPr>
        <p:spPr>
          <a:xfrm>
            <a:off x="6411522" y="4645372"/>
            <a:ext cx="420868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600">
                <a:latin typeface="Palatino Linotype" panose="02040502050505030304" pitchFamily="18" charset="0"/>
              </a:rPr>
              <a:t>Infine confronto con modelli avanzati come </a:t>
            </a:r>
            <a:r>
              <a:rPr lang="it-IT" sz="1600" err="1">
                <a:latin typeface="Palatino Linotype" panose="02040502050505030304" pitchFamily="18" charset="0"/>
              </a:rPr>
              <a:t>EfficientDet</a:t>
            </a:r>
            <a:r>
              <a:rPr lang="it-IT" sz="1600">
                <a:latin typeface="Palatino Linotype" panose="02040502050505030304" pitchFamily="18" charset="0"/>
              </a:rPr>
              <a:t>, Mask R-CNN e RT-DETR sul dataset COCO, mostra che YOLOv11 eccelle in velocità e versatilità, mantenendo una precisione competitiva.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6B40AAAD-F2B2-CC9C-508E-6E72F9A90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668" y="46282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pic>
        <p:nvPicPr>
          <p:cNvPr id="1025" name="Immagine 25" descr="Immagine che contiene testo, Carattere, schermata, ricevuta&#10;&#10;Descrizione generata automaticamente">
            <a:extLst>
              <a:ext uri="{FF2B5EF4-FFF2-40B4-BE49-F238E27FC236}">
                <a16:creationId xmlns:a16="http://schemas.microsoft.com/office/drawing/2014/main" id="{0014D6A2-290F-4F17-9E3D-20ECEBF67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r:link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21"/>
          <a:stretch>
            <a:fillRect/>
          </a:stretch>
        </p:blipFill>
        <p:spPr bwMode="auto">
          <a:xfrm>
            <a:off x="202668" y="4628260"/>
            <a:ext cx="6121400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606DDB1A-9EFE-C624-2379-2E1D2F72EA4C}"/>
              </a:ext>
            </a:extLst>
          </p:cNvPr>
          <p:cNvSpPr txBox="1"/>
          <p:nvPr/>
        </p:nvSpPr>
        <p:spPr>
          <a:xfrm>
            <a:off x="6411522" y="6031423"/>
            <a:ext cx="349847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i="1">
                <a:latin typeface="Palatino Linotype" panose="02040502050505030304" pitchFamily="18" charset="0"/>
              </a:rPr>
              <a:t>Fonte: </a:t>
            </a:r>
            <a:r>
              <a:rPr lang="it-IT" sz="1400" i="1" err="1">
                <a:latin typeface="Palatino Linotype" panose="02040502050505030304" pitchFamily="18" charset="0"/>
              </a:rPr>
              <a:t>Research</a:t>
            </a:r>
            <a:r>
              <a:rPr lang="it-IT" sz="1400" i="1">
                <a:latin typeface="Palatino Linotype" panose="02040502050505030304" pitchFamily="18" charset="0"/>
              </a:rPr>
              <a:t> and Application of YOLOv11-Based Object </a:t>
            </a:r>
            <a:r>
              <a:rPr lang="it-IT" sz="1400" i="1" err="1">
                <a:latin typeface="Palatino Linotype" panose="02040502050505030304" pitchFamily="18" charset="0"/>
              </a:rPr>
              <a:t>Segmentation</a:t>
            </a:r>
            <a:r>
              <a:rPr lang="it-IT" sz="1400" i="1">
                <a:latin typeface="Palatino Linotype" panose="02040502050505030304" pitchFamily="18" charset="0"/>
              </a:rPr>
              <a:t> in </a:t>
            </a:r>
            <a:r>
              <a:rPr lang="it-IT" sz="1400" i="1" err="1">
                <a:latin typeface="Palatino Linotype" panose="02040502050505030304" pitchFamily="18" charset="0"/>
              </a:rPr>
              <a:t>Intelligent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  <a:r>
              <a:rPr lang="it-IT" sz="1400" i="1" err="1">
                <a:latin typeface="Palatino Linotype" panose="02040502050505030304" pitchFamily="18" charset="0"/>
              </a:rPr>
              <a:t>Recognition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  <a:r>
              <a:rPr lang="it-IT" sz="1400" i="1" err="1">
                <a:latin typeface="Palatino Linotype" panose="02040502050505030304" pitchFamily="18" charset="0"/>
              </a:rPr>
              <a:t>at</a:t>
            </a:r>
            <a:r>
              <a:rPr lang="it-IT" sz="1400" i="1">
                <a:latin typeface="Palatino Linotype" panose="02040502050505030304" pitchFamily="18" charset="0"/>
              </a:rPr>
              <a:t> Construction </a:t>
            </a:r>
            <a:r>
              <a:rPr lang="it-IT" sz="1400" i="1" err="1">
                <a:latin typeface="Palatino Linotype" panose="02040502050505030304" pitchFamily="18" charset="0"/>
              </a:rPr>
              <a:t>Sites</a:t>
            </a:r>
            <a:endParaRPr lang="it-IT" sz="1400" i="1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 rot="942759">
            <a:off x="-936435" y="-757281"/>
            <a:ext cx="3244469" cy="3074134"/>
          </a:xfrm>
          <a:custGeom>
            <a:avLst/>
            <a:gdLst/>
            <a:ahLst/>
            <a:cxnLst/>
            <a:rect l="l" t="t" r="r" b="b"/>
            <a:pathLst>
              <a:path w="4866703" h="4611201">
                <a:moveTo>
                  <a:pt x="0" y="0"/>
                </a:moveTo>
                <a:lnTo>
                  <a:pt x="4866704" y="0"/>
                </a:lnTo>
                <a:lnTo>
                  <a:pt x="4866704" y="4611201"/>
                </a:lnTo>
                <a:lnTo>
                  <a:pt x="0" y="4611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6" name="Freeform 26"/>
          <p:cNvSpPr/>
          <p:nvPr/>
        </p:nvSpPr>
        <p:spPr>
          <a:xfrm rot="-7218399">
            <a:off x="9402581" y="-683302"/>
            <a:ext cx="3593143" cy="3404503"/>
          </a:xfrm>
          <a:custGeom>
            <a:avLst/>
            <a:gdLst/>
            <a:ahLst/>
            <a:cxnLst/>
            <a:rect l="l" t="t" r="r" b="b"/>
            <a:pathLst>
              <a:path w="5389714" h="5106754">
                <a:moveTo>
                  <a:pt x="0" y="0"/>
                </a:moveTo>
                <a:lnTo>
                  <a:pt x="5389714" y="0"/>
                </a:lnTo>
                <a:lnTo>
                  <a:pt x="5389714" y="5106754"/>
                </a:lnTo>
                <a:lnTo>
                  <a:pt x="0" y="510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7" name="Freeform 27"/>
          <p:cNvSpPr/>
          <p:nvPr/>
        </p:nvSpPr>
        <p:spPr>
          <a:xfrm rot="5255613">
            <a:off x="346569" y="5231756"/>
            <a:ext cx="1117634" cy="1339213"/>
          </a:xfrm>
          <a:custGeom>
            <a:avLst/>
            <a:gdLst/>
            <a:ahLst/>
            <a:cxnLst/>
            <a:rect l="l" t="t" r="r" b="b"/>
            <a:pathLst>
              <a:path w="1676451" h="2008819">
                <a:moveTo>
                  <a:pt x="0" y="0"/>
                </a:moveTo>
                <a:lnTo>
                  <a:pt x="1676451" y="0"/>
                </a:lnTo>
                <a:lnTo>
                  <a:pt x="1676451" y="2008819"/>
                </a:lnTo>
                <a:lnTo>
                  <a:pt x="0" y="20088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8" name="Freeform 28"/>
          <p:cNvSpPr/>
          <p:nvPr/>
        </p:nvSpPr>
        <p:spPr>
          <a:xfrm rot="-618190">
            <a:off x="10813870" y="5429637"/>
            <a:ext cx="1117634" cy="1339213"/>
          </a:xfrm>
          <a:custGeom>
            <a:avLst/>
            <a:gdLst/>
            <a:ahLst/>
            <a:cxnLst/>
            <a:rect l="l" t="t" r="r" b="b"/>
            <a:pathLst>
              <a:path w="1676451" h="2008819">
                <a:moveTo>
                  <a:pt x="0" y="0"/>
                </a:moveTo>
                <a:lnTo>
                  <a:pt x="1676451" y="0"/>
                </a:lnTo>
                <a:lnTo>
                  <a:pt x="1676451" y="2008819"/>
                </a:lnTo>
                <a:lnTo>
                  <a:pt x="0" y="20088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9" name="TextBox 36">
            <a:extLst>
              <a:ext uri="{FF2B5EF4-FFF2-40B4-BE49-F238E27FC236}">
                <a16:creationId xmlns:a16="http://schemas.microsoft.com/office/drawing/2014/main" id="{7C2CE6CE-AD54-78F9-113E-06BE06BB03D1}"/>
              </a:ext>
            </a:extLst>
          </p:cNvPr>
          <p:cNvSpPr txBox="1">
            <a:spLocks/>
          </p:cNvSpPr>
          <p:nvPr/>
        </p:nvSpPr>
        <p:spPr>
          <a:xfrm>
            <a:off x="1057222" y="98822"/>
            <a:ext cx="10077556" cy="581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4716"/>
              </a:lnSpc>
            </a:pPr>
            <a:r>
              <a:rPr lang="en-US" sz="3800" b="1" spc="205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Analisi</a:t>
            </a:r>
            <a:r>
              <a:rPr lang="en-US" sz="3800" b="1" spc="205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3800" b="1" spc="205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versioni</a:t>
            </a:r>
            <a:r>
              <a:rPr lang="en-US" sz="3800" b="1" spc="205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 YOLO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9A028817-D981-5089-FEAC-D57D52D81E37}"/>
              </a:ext>
            </a:extLst>
          </p:cNvPr>
          <p:cNvSpPr txBox="1"/>
          <p:nvPr/>
        </p:nvSpPr>
        <p:spPr>
          <a:xfrm>
            <a:off x="935354" y="713391"/>
            <a:ext cx="10321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latin typeface="Palatino Linotype" panose="02040502050505030304" pitchFamily="18" charset="0"/>
              </a:rPr>
              <a:t>Sono stati analizzati diversi studi in cui vengono messe a confronto le ultime versioni del modello YOLO per scegliere il modello più adatto al task in esame.</a:t>
            </a:r>
          </a:p>
        </p:txBody>
      </p:sp>
      <p:pic>
        <p:nvPicPr>
          <p:cNvPr id="31" name="Immagine 30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850E5762-DF81-F3BA-CB05-9FBE61CAB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177" y="1668060"/>
            <a:ext cx="6120130" cy="1147445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1AEDBB02-EAB5-4E1D-9F7B-A791DE011160}"/>
              </a:ext>
            </a:extLst>
          </p:cNvPr>
          <p:cNvSpPr txBox="1"/>
          <p:nvPr/>
        </p:nvSpPr>
        <p:spPr>
          <a:xfrm>
            <a:off x="6575032" y="1976952"/>
            <a:ext cx="47524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i="1">
                <a:latin typeface="Palatino Linotype" panose="02040502050505030304" pitchFamily="18" charset="0"/>
              </a:rPr>
              <a:t>Fonte: " YOLO-</a:t>
            </a:r>
            <a:r>
              <a:rPr lang="it-IT" sz="1400" i="1" err="1">
                <a:latin typeface="Palatino Linotype" panose="02040502050505030304" pitchFamily="18" charset="0"/>
              </a:rPr>
              <a:t>Based</a:t>
            </a:r>
            <a:r>
              <a:rPr lang="it-IT" sz="1400" i="1">
                <a:latin typeface="Palatino Linotype" panose="02040502050505030304" pitchFamily="18" charset="0"/>
              </a:rPr>
              <a:t> Personal </a:t>
            </a:r>
            <a:r>
              <a:rPr lang="it-IT" sz="1400" i="1" err="1">
                <a:latin typeface="Palatino Linotype" panose="02040502050505030304" pitchFamily="18" charset="0"/>
              </a:rPr>
              <a:t>Protective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  <a:r>
              <a:rPr lang="it-IT" sz="1400" i="1" err="1">
                <a:latin typeface="Palatino Linotype" panose="02040502050505030304" pitchFamily="18" charset="0"/>
              </a:rPr>
              <a:t>Equipment</a:t>
            </a:r>
            <a:r>
              <a:rPr lang="it-IT" sz="1400" i="1">
                <a:latin typeface="Palatino Linotype" panose="02040502050505030304" pitchFamily="18" charset="0"/>
              </a:rPr>
              <a:t> Monitoring System for </a:t>
            </a:r>
            <a:r>
              <a:rPr lang="it-IT" sz="1400" i="1" err="1">
                <a:latin typeface="Palatino Linotype" panose="02040502050505030304" pitchFamily="18" charset="0"/>
              </a:rPr>
              <a:t>Workplace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  <a:r>
              <a:rPr lang="it-IT" sz="1400" i="1" err="1">
                <a:latin typeface="Palatino Linotype" panose="02040502050505030304" pitchFamily="18" charset="0"/>
              </a:rPr>
              <a:t>Safety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32BF7664-C880-E20A-5E59-65CD8F0BDB8F}"/>
              </a:ext>
            </a:extLst>
          </p:cNvPr>
          <p:cNvSpPr txBox="1"/>
          <p:nvPr/>
        </p:nvSpPr>
        <p:spPr>
          <a:xfrm>
            <a:off x="429177" y="2806584"/>
            <a:ext cx="113336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600">
                <a:latin typeface="Palatino Linotype" panose="02040502050505030304" pitchFamily="18" charset="0"/>
              </a:rPr>
              <a:t>Sul dataset appositamente creato per il riconoscimento dei DPI, modello YOLO-NAS, nonostante abbia mediamente delle prestazioni superiori, ha richiesto dei tempi di addestramento molto superiori. Il modello YOLOv9 tra quelli presentati in questo articolo sembra essere il miglior compromesso tra prestazioni e tempi di addestramento.</a:t>
            </a:r>
          </a:p>
        </p:txBody>
      </p:sp>
      <p:pic>
        <p:nvPicPr>
          <p:cNvPr id="36" name="Immagine 35">
            <a:extLst>
              <a:ext uri="{FF2B5EF4-FFF2-40B4-BE49-F238E27FC236}">
                <a16:creationId xmlns:a16="http://schemas.microsoft.com/office/drawing/2014/main" id="{1BCE6C48-6338-B621-B669-04CFAA9955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082" y="3738003"/>
            <a:ext cx="11439835" cy="1413659"/>
          </a:xfrm>
          <a:prstGeom prst="rect">
            <a:avLst/>
          </a:prstGeom>
        </p:spPr>
      </p:pic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5ABB666E-09A8-D111-1C11-7F3D3DFCA912}"/>
              </a:ext>
            </a:extLst>
          </p:cNvPr>
          <p:cNvSpPr txBox="1"/>
          <p:nvPr/>
        </p:nvSpPr>
        <p:spPr>
          <a:xfrm>
            <a:off x="376082" y="5160524"/>
            <a:ext cx="11439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i="1">
                <a:latin typeface="Palatino Linotype" panose="02040502050505030304" pitchFamily="18" charset="0"/>
              </a:rPr>
              <a:t>Fonte: Comparative performance of YOLOv8, YOLOv9, YOLOv10, YOLOv11 and </a:t>
            </a:r>
            <a:r>
              <a:rPr lang="it-IT" sz="1400" i="1" err="1">
                <a:latin typeface="Palatino Linotype" panose="02040502050505030304" pitchFamily="18" charset="0"/>
              </a:rPr>
              <a:t>Faster</a:t>
            </a:r>
            <a:r>
              <a:rPr lang="it-IT" sz="1400" i="1">
                <a:latin typeface="Palatino Linotype" panose="02040502050505030304" pitchFamily="18" charset="0"/>
              </a:rPr>
              <a:t> R-CNN models for </a:t>
            </a:r>
            <a:r>
              <a:rPr lang="it-IT" sz="1400" i="1" err="1">
                <a:latin typeface="Palatino Linotype" panose="02040502050505030304" pitchFamily="18" charset="0"/>
              </a:rPr>
              <a:t>detection</a:t>
            </a:r>
            <a:r>
              <a:rPr lang="it-IT" sz="1400" i="1">
                <a:latin typeface="Palatino Linotype" panose="02040502050505030304" pitchFamily="18" charset="0"/>
              </a:rPr>
              <a:t> of multiple </a:t>
            </a:r>
            <a:r>
              <a:rPr lang="it-IT" sz="1400" i="1" err="1">
                <a:latin typeface="Palatino Linotype" panose="02040502050505030304" pitchFamily="18" charset="0"/>
              </a:rPr>
              <a:t>weed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  <a:r>
              <a:rPr lang="it-IT" sz="1400" i="1" err="1">
                <a:latin typeface="Palatino Linotype" panose="02040502050505030304" pitchFamily="18" charset="0"/>
              </a:rPr>
              <a:t>species</a:t>
            </a:r>
            <a:r>
              <a:rPr lang="it-IT" sz="1400" i="1">
                <a:latin typeface="Palatino Linotype" panose="02040502050505030304" pitchFamily="18" charset="0"/>
              </a:rPr>
              <a:t> 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DC0E1678-759E-8EA1-B5CB-736CCC5190A4}"/>
              </a:ext>
            </a:extLst>
          </p:cNvPr>
          <p:cNvSpPr txBox="1"/>
          <p:nvPr/>
        </p:nvSpPr>
        <p:spPr>
          <a:xfrm>
            <a:off x="376082" y="5562553"/>
            <a:ext cx="100742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600">
                <a:latin typeface="Palatino Linotype" panose="02040502050505030304" pitchFamily="18" charset="0"/>
              </a:rPr>
              <a:t>Su un dataset appositamente creato per localizzare le piante infestanti, i risultati di YOLOv8, YOLOv9 e YOLOv11 sono piuttosto simili, l’unica sostanziale differenza si ha nei tempi di inferenza che sono nettamente minori per YOLOv11.</a:t>
            </a:r>
          </a:p>
        </p:txBody>
      </p:sp>
      <p:cxnSp>
        <p:nvCxnSpPr>
          <p:cNvPr id="44" name="Connettore 1 43">
            <a:extLst>
              <a:ext uri="{FF2B5EF4-FFF2-40B4-BE49-F238E27FC236}">
                <a16:creationId xmlns:a16="http://schemas.microsoft.com/office/drawing/2014/main" id="{95EC5E2E-E9CD-673E-4BD8-8E3B402371F6}"/>
              </a:ext>
            </a:extLst>
          </p:cNvPr>
          <p:cNvCxnSpPr/>
          <p:nvPr/>
        </p:nvCxnSpPr>
        <p:spPr>
          <a:xfrm>
            <a:off x="-101334" y="3649271"/>
            <a:ext cx="1239466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A6D9D416-08B3-6C0A-D6B7-68482F07A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222" y="268920"/>
            <a:ext cx="10077556" cy="830997"/>
          </a:xfrm>
        </p:spPr>
        <p:txBody>
          <a:bodyPr/>
          <a:lstStyle/>
          <a:p>
            <a:pPr algn="ctr"/>
            <a:r>
              <a:rPr lang="en-US" sz="3600" b="1" spc="205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Analisi</a:t>
            </a:r>
            <a:r>
              <a:rPr lang="en-US" sz="3600" b="1" spc="205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 </a:t>
            </a:r>
            <a:r>
              <a:rPr lang="en-US" sz="3600" b="1" spc="205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versioni</a:t>
            </a:r>
            <a:r>
              <a:rPr lang="en-US" sz="3600" b="1" spc="205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 YOLO</a:t>
            </a:r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FD0B243-F3EE-BFC7-A4C1-6E26BA532990}"/>
              </a:ext>
            </a:extLst>
          </p:cNvPr>
          <p:cNvSpPr txBox="1"/>
          <p:nvPr/>
        </p:nvSpPr>
        <p:spPr>
          <a:xfrm>
            <a:off x="3060896" y="1192733"/>
            <a:ext cx="6070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>
                <a:latin typeface="Palatino Linotype" panose="02040502050505030304" pitchFamily="18" charset="0"/>
              </a:rPr>
              <a:t>Vediamo ora il confronto tra diverse versioni di YOLO (YOLOv5, YOLOv8, YOLOv9, YOLOv10 e YOLOv8) </a:t>
            </a:r>
            <a:r>
              <a:rPr lang="it-IT" sz="160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 la rilevazione delle malattie delle foglie di fagiolo in ambienti naturali</a:t>
            </a:r>
            <a:r>
              <a:rPr lang="it-IT" sz="1600"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t-IT" sz="1600">
              <a:latin typeface="Palatino Linotype" panose="02040502050505030304" pitchFamily="18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3C8996C7-9F04-F7DF-E50D-4456C253F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pic>
        <p:nvPicPr>
          <p:cNvPr id="3073" name="Immagine 22" descr="Immagine che contiene testo, menu, numero, documento&#10;&#10;Descrizione generata automaticamente">
            <a:extLst>
              <a:ext uri="{FF2B5EF4-FFF2-40B4-BE49-F238E27FC236}">
                <a16:creationId xmlns:a16="http://schemas.microsoft.com/office/drawing/2014/main" id="{3A44DC81-4922-86D3-1460-967122F6CA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72" b="1087"/>
          <a:stretch>
            <a:fillRect/>
          </a:stretch>
        </p:blipFill>
        <p:spPr bwMode="auto">
          <a:xfrm>
            <a:off x="525718" y="2598002"/>
            <a:ext cx="5212436" cy="3856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4">
            <a:extLst>
              <a:ext uri="{FF2B5EF4-FFF2-40B4-BE49-F238E27FC236}">
                <a16:creationId xmlns:a16="http://schemas.microsoft.com/office/drawing/2014/main" id="{82C76CA8-6254-A2B3-03E6-18F126CBB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183" y="109991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72E1D07-2189-24B3-5D7A-BDC47CC984D7}"/>
              </a:ext>
            </a:extLst>
          </p:cNvPr>
          <p:cNvSpPr txBox="1"/>
          <p:nvPr/>
        </p:nvSpPr>
        <p:spPr>
          <a:xfrm>
            <a:off x="6096000" y="5716316"/>
            <a:ext cx="29312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i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Fonte: Comparative Analysis of YOLO Models for Bean </a:t>
            </a:r>
            <a:r>
              <a:rPr lang="it-IT" sz="1400" i="1" err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Leaf</a:t>
            </a:r>
            <a:r>
              <a:rPr lang="it-IT" sz="1400" i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400" i="1" err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Disease</a:t>
            </a:r>
            <a:r>
              <a:rPr lang="it-IT" sz="1400" i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400" i="1" err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lang="it-IT" sz="1400" i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Natural </a:t>
            </a:r>
            <a:r>
              <a:rPr lang="it-IT" sz="1400" i="1" err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Environments</a:t>
            </a:r>
            <a:r>
              <a:rPr lang="it-IT" sz="1400" i="1">
                <a:effectLst/>
                <a:latin typeface="Palatino Linotype" panose="02040502050505030304" pitchFamily="18" charset="0"/>
              </a:rPr>
              <a:t> </a:t>
            </a:r>
            <a:endParaRPr lang="it-IT" sz="1400" i="1">
              <a:latin typeface="Palatino Linotype" panose="02040502050505030304" pitchFamily="18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7850B257-1709-915F-2A5C-025C26B4460F}"/>
              </a:ext>
            </a:extLst>
          </p:cNvPr>
          <p:cNvSpPr txBox="1"/>
          <p:nvPr/>
        </p:nvSpPr>
        <p:spPr>
          <a:xfrm>
            <a:off x="6096001" y="2598002"/>
            <a:ext cx="557028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>
                <a:latin typeface="Palatino Linotype" panose="02040502050505030304" pitchFamily="18" charset="0"/>
                <a:cs typeface="Times New Roman" panose="02020603050405020304" pitchFamily="18" charset="0"/>
              </a:rPr>
              <a:t>Sebbene YOLOv9e si sia distinto come il modello più robusto per il rilevamento delle infestazioni, anche YOLOv10 e YOLOv11 hanno dimostrato un potenziale significativo. Tuttavia, YOLOv11 si distingue per la rapidità di inferenza che lo rende molto più adatto per le applicazioni real-time.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it-IT" sz="1600">
                <a:latin typeface="Palatino Linotype" panose="02040502050505030304" pitchFamily="18" charset="0"/>
                <a:cs typeface="Times New Roman" panose="02020603050405020304" pitchFamily="18" charset="0"/>
              </a:rPr>
              <a:t>In particolare, tra le varie versioni di YOLOv11, YOLOv11x risulta il modello più veloce. È progettato per applicazioni real-time e </a:t>
            </a:r>
            <a:r>
              <a:rPr lang="it-IT" sz="1600" err="1">
                <a:latin typeface="Palatino Linotype" panose="02040502050505030304" pitchFamily="18" charset="0"/>
                <a:cs typeface="Times New Roman" panose="02020603050405020304" pitchFamily="18" charset="0"/>
              </a:rPr>
              <a:t>edge</a:t>
            </a:r>
            <a:r>
              <a:rPr lang="it-IT" sz="1600">
                <a:latin typeface="Palatino Linotype" panose="02040502050505030304" pitchFamily="18" charset="0"/>
                <a:cs typeface="Times New Roman" panose="02020603050405020304" pitchFamily="18" charset="0"/>
              </a:rPr>
              <a:t>, grazie alla sua ottimizzazione per velocità e precisione su dataset complessi. </a:t>
            </a:r>
          </a:p>
        </p:txBody>
      </p:sp>
    </p:spTree>
    <p:extLst>
      <p:ext uri="{BB962C8B-B14F-4D97-AF65-F5344CB8AC3E}">
        <p14:creationId xmlns:p14="http://schemas.microsoft.com/office/powerpoint/2010/main" val="1448866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092955" y="334722"/>
            <a:ext cx="5347790" cy="1390997"/>
            <a:chOff x="0" y="0"/>
            <a:chExt cx="9504788" cy="20779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504787" cy="2077999"/>
            </a:xfrm>
            <a:custGeom>
              <a:avLst/>
              <a:gdLst/>
              <a:ahLst/>
              <a:cxnLst/>
              <a:rect l="l" t="t" r="r" b="b"/>
              <a:pathLst>
                <a:path w="9504787" h="2077999">
                  <a:moveTo>
                    <a:pt x="39464" y="0"/>
                  </a:moveTo>
                  <a:lnTo>
                    <a:pt x="9465324" y="0"/>
                  </a:lnTo>
                  <a:cubicBezTo>
                    <a:pt x="9475790" y="0"/>
                    <a:pt x="9485828" y="4158"/>
                    <a:pt x="9493228" y="11559"/>
                  </a:cubicBezTo>
                  <a:cubicBezTo>
                    <a:pt x="9500629" y="18960"/>
                    <a:pt x="9504787" y="28997"/>
                    <a:pt x="9504787" y="39464"/>
                  </a:cubicBezTo>
                  <a:lnTo>
                    <a:pt x="9504787" y="2038535"/>
                  </a:lnTo>
                  <a:cubicBezTo>
                    <a:pt x="9504787" y="2049002"/>
                    <a:pt x="9500629" y="2059039"/>
                    <a:pt x="9493228" y="2066440"/>
                  </a:cubicBezTo>
                  <a:cubicBezTo>
                    <a:pt x="9485828" y="2073841"/>
                    <a:pt x="9475790" y="2077999"/>
                    <a:pt x="9465324" y="2077999"/>
                  </a:cubicBezTo>
                  <a:lnTo>
                    <a:pt x="39464" y="2077999"/>
                  </a:lnTo>
                  <a:cubicBezTo>
                    <a:pt x="28997" y="2077999"/>
                    <a:pt x="18960" y="2073841"/>
                    <a:pt x="11559" y="2066440"/>
                  </a:cubicBezTo>
                  <a:cubicBezTo>
                    <a:pt x="4158" y="2059039"/>
                    <a:pt x="0" y="2049002"/>
                    <a:pt x="0" y="2038535"/>
                  </a:cubicBezTo>
                  <a:lnTo>
                    <a:pt x="0" y="39464"/>
                  </a:lnTo>
                  <a:cubicBezTo>
                    <a:pt x="0" y="28997"/>
                    <a:pt x="4158" y="18960"/>
                    <a:pt x="11559" y="11559"/>
                  </a:cubicBezTo>
                  <a:cubicBezTo>
                    <a:pt x="18960" y="4158"/>
                    <a:pt x="28997" y="0"/>
                    <a:pt x="39464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9397D8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504788" cy="211609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>
                <a:latin typeface="Palatino Linotype" panose="02040502050505030304" pitchFamily="18" charset="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6244951" y="309218"/>
            <a:ext cx="843744" cy="1043621"/>
          </a:xfrm>
          <a:custGeom>
            <a:avLst/>
            <a:gdLst/>
            <a:ahLst/>
            <a:cxnLst/>
            <a:rect l="l" t="t" r="r" b="b"/>
            <a:pathLst>
              <a:path w="1107226" h="1029720">
                <a:moveTo>
                  <a:pt x="0" y="0"/>
                </a:moveTo>
                <a:lnTo>
                  <a:pt x="1107226" y="0"/>
                </a:lnTo>
                <a:lnTo>
                  <a:pt x="1107226" y="1029720"/>
                </a:lnTo>
                <a:lnTo>
                  <a:pt x="0" y="1029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2145051" y="1316022"/>
            <a:ext cx="3841304" cy="3971797"/>
          </a:xfrm>
          <a:custGeom>
            <a:avLst/>
            <a:gdLst/>
            <a:ahLst/>
            <a:cxnLst/>
            <a:rect l="l" t="t" r="r" b="b"/>
            <a:pathLst>
              <a:path w="6250515" h="6247911">
                <a:moveTo>
                  <a:pt x="0" y="0"/>
                </a:moveTo>
                <a:lnTo>
                  <a:pt x="6250515" y="0"/>
                </a:lnTo>
                <a:lnTo>
                  <a:pt x="6250515" y="6247910"/>
                </a:lnTo>
                <a:lnTo>
                  <a:pt x="0" y="6247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8" name="Group 8"/>
          <p:cNvGrpSpPr/>
          <p:nvPr/>
        </p:nvGrpSpPr>
        <p:grpSpPr>
          <a:xfrm>
            <a:off x="2558323" y="1765523"/>
            <a:ext cx="3018241" cy="312676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133350" cap="sq">
              <a:solidFill>
                <a:srgbClr val="63B1DB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>
                <a:latin typeface="Palatino Linotype" panose="02040502050505030304" pitchFamily="18" charset="0"/>
              </a:endParaRPr>
            </a:p>
          </p:txBody>
        </p:sp>
      </p:grpSp>
      <p:sp>
        <p:nvSpPr>
          <p:cNvPr id="11" name="AutoShape 11"/>
          <p:cNvSpPr/>
          <p:nvPr/>
        </p:nvSpPr>
        <p:spPr>
          <a:xfrm flipV="1">
            <a:off x="5583070" y="965248"/>
            <a:ext cx="500844" cy="2463751"/>
          </a:xfrm>
          <a:prstGeom prst="line">
            <a:avLst/>
          </a:prstGeom>
          <a:ln w="66675" cap="rnd">
            <a:solidFill>
              <a:srgbClr val="333231"/>
            </a:solidFill>
            <a:prstDash val="sysDot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  <p:sp>
        <p:nvSpPr>
          <p:cNvPr id="12" name="Freeform 12"/>
          <p:cNvSpPr/>
          <p:nvPr/>
        </p:nvSpPr>
        <p:spPr>
          <a:xfrm rot="10800000">
            <a:off x="7433964" y="2621823"/>
            <a:ext cx="4560092" cy="697556"/>
          </a:xfrm>
          <a:custGeom>
            <a:avLst/>
            <a:gdLst/>
            <a:ahLst/>
            <a:cxnLst/>
            <a:rect l="l" t="t" r="r" b="b"/>
            <a:pathLst>
              <a:path w="5984107" h="688265">
                <a:moveTo>
                  <a:pt x="0" y="0"/>
                </a:moveTo>
                <a:lnTo>
                  <a:pt x="5984107" y="0"/>
                </a:lnTo>
                <a:lnTo>
                  <a:pt x="5984107" y="688266"/>
                </a:lnTo>
                <a:lnTo>
                  <a:pt x="0" y="6882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2000"/>
            </a:blip>
            <a:stretch>
              <a:fillRect b="-149966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3" name="Group 13"/>
          <p:cNvGrpSpPr/>
          <p:nvPr/>
        </p:nvGrpSpPr>
        <p:grpSpPr>
          <a:xfrm>
            <a:off x="6715628" y="1937909"/>
            <a:ext cx="5347789" cy="1390997"/>
            <a:chOff x="0" y="0"/>
            <a:chExt cx="9504788" cy="207799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504787" cy="2077999"/>
            </a:xfrm>
            <a:custGeom>
              <a:avLst/>
              <a:gdLst/>
              <a:ahLst/>
              <a:cxnLst/>
              <a:rect l="l" t="t" r="r" b="b"/>
              <a:pathLst>
                <a:path w="9504787" h="2077999">
                  <a:moveTo>
                    <a:pt x="39464" y="0"/>
                  </a:moveTo>
                  <a:lnTo>
                    <a:pt x="9465324" y="0"/>
                  </a:lnTo>
                  <a:cubicBezTo>
                    <a:pt x="9475790" y="0"/>
                    <a:pt x="9485828" y="4158"/>
                    <a:pt x="9493228" y="11559"/>
                  </a:cubicBezTo>
                  <a:cubicBezTo>
                    <a:pt x="9500629" y="18960"/>
                    <a:pt x="9504787" y="28997"/>
                    <a:pt x="9504787" y="39464"/>
                  </a:cubicBezTo>
                  <a:lnTo>
                    <a:pt x="9504787" y="2038535"/>
                  </a:lnTo>
                  <a:cubicBezTo>
                    <a:pt x="9504787" y="2049002"/>
                    <a:pt x="9500629" y="2059039"/>
                    <a:pt x="9493228" y="2066440"/>
                  </a:cubicBezTo>
                  <a:cubicBezTo>
                    <a:pt x="9485828" y="2073841"/>
                    <a:pt x="9475790" y="2077999"/>
                    <a:pt x="9465324" y="2077999"/>
                  </a:cubicBezTo>
                  <a:lnTo>
                    <a:pt x="39464" y="2077999"/>
                  </a:lnTo>
                  <a:cubicBezTo>
                    <a:pt x="28997" y="2077999"/>
                    <a:pt x="18960" y="2073841"/>
                    <a:pt x="11559" y="2066440"/>
                  </a:cubicBezTo>
                  <a:cubicBezTo>
                    <a:pt x="4158" y="2059039"/>
                    <a:pt x="0" y="2049002"/>
                    <a:pt x="0" y="2038535"/>
                  </a:cubicBezTo>
                  <a:lnTo>
                    <a:pt x="0" y="39464"/>
                  </a:lnTo>
                  <a:cubicBezTo>
                    <a:pt x="0" y="28997"/>
                    <a:pt x="4158" y="18960"/>
                    <a:pt x="11559" y="11559"/>
                  </a:cubicBezTo>
                  <a:cubicBezTo>
                    <a:pt x="18960" y="4158"/>
                    <a:pt x="28997" y="0"/>
                    <a:pt x="39464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91DFB1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9504788" cy="211609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600">
                <a:latin typeface="Palatino Linotype" panose="02040502050505030304" pitchFamily="18" charset="0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6949346" y="1913950"/>
            <a:ext cx="843744" cy="1043621"/>
          </a:xfrm>
          <a:custGeom>
            <a:avLst/>
            <a:gdLst/>
            <a:ahLst/>
            <a:cxnLst/>
            <a:rect l="l" t="t" r="r" b="b"/>
            <a:pathLst>
              <a:path w="1107226" h="1029720">
                <a:moveTo>
                  <a:pt x="0" y="0"/>
                </a:moveTo>
                <a:lnTo>
                  <a:pt x="1107226" y="0"/>
                </a:lnTo>
                <a:lnTo>
                  <a:pt x="1107226" y="1029720"/>
                </a:lnTo>
                <a:lnTo>
                  <a:pt x="0" y="10297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grpSp>
        <p:nvGrpSpPr>
          <p:cNvPr id="18" name="Group 18"/>
          <p:cNvGrpSpPr/>
          <p:nvPr/>
        </p:nvGrpSpPr>
        <p:grpSpPr>
          <a:xfrm>
            <a:off x="6715628" y="3556061"/>
            <a:ext cx="5347789" cy="1390997"/>
            <a:chOff x="0" y="0"/>
            <a:chExt cx="9504788" cy="207799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504787" cy="2077999"/>
            </a:xfrm>
            <a:custGeom>
              <a:avLst/>
              <a:gdLst/>
              <a:ahLst/>
              <a:cxnLst/>
              <a:rect l="l" t="t" r="r" b="b"/>
              <a:pathLst>
                <a:path w="9504787" h="2077999">
                  <a:moveTo>
                    <a:pt x="39464" y="0"/>
                  </a:moveTo>
                  <a:lnTo>
                    <a:pt x="9465324" y="0"/>
                  </a:lnTo>
                  <a:cubicBezTo>
                    <a:pt x="9475790" y="0"/>
                    <a:pt x="9485828" y="4158"/>
                    <a:pt x="9493228" y="11559"/>
                  </a:cubicBezTo>
                  <a:cubicBezTo>
                    <a:pt x="9500629" y="18960"/>
                    <a:pt x="9504787" y="28997"/>
                    <a:pt x="9504787" y="39464"/>
                  </a:cubicBezTo>
                  <a:lnTo>
                    <a:pt x="9504787" y="2038535"/>
                  </a:lnTo>
                  <a:cubicBezTo>
                    <a:pt x="9504787" y="2049002"/>
                    <a:pt x="9500629" y="2059039"/>
                    <a:pt x="9493228" y="2066440"/>
                  </a:cubicBezTo>
                  <a:cubicBezTo>
                    <a:pt x="9485828" y="2073841"/>
                    <a:pt x="9475790" y="2077999"/>
                    <a:pt x="9465324" y="2077999"/>
                  </a:cubicBezTo>
                  <a:lnTo>
                    <a:pt x="39464" y="2077999"/>
                  </a:lnTo>
                  <a:cubicBezTo>
                    <a:pt x="28997" y="2077999"/>
                    <a:pt x="18960" y="2073841"/>
                    <a:pt x="11559" y="2066440"/>
                  </a:cubicBezTo>
                  <a:cubicBezTo>
                    <a:pt x="4158" y="2059039"/>
                    <a:pt x="0" y="2049002"/>
                    <a:pt x="0" y="2038535"/>
                  </a:cubicBezTo>
                  <a:lnTo>
                    <a:pt x="0" y="39464"/>
                  </a:lnTo>
                  <a:cubicBezTo>
                    <a:pt x="0" y="28997"/>
                    <a:pt x="4158" y="18960"/>
                    <a:pt x="11559" y="11559"/>
                  </a:cubicBezTo>
                  <a:cubicBezTo>
                    <a:pt x="18960" y="4158"/>
                    <a:pt x="28997" y="0"/>
                    <a:pt x="39464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F8D389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504788" cy="211609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600">
                <a:latin typeface="Palatino Linotype" panose="02040502050505030304" pitchFamily="18" charset="0"/>
              </a:endParaRPr>
            </a:p>
          </p:txBody>
        </p:sp>
      </p:grpSp>
      <p:sp>
        <p:nvSpPr>
          <p:cNvPr id="21" name="Freeform 21"/>
          <p:cNvSpPr/>
          <p:nvPr/>
        </p:nvSpPr>
        <p:spPr>
          <a:xfrm>
            <a:off x="6926442" y="3547480"/>
            <a:ext cx="843744" cy="1043621"/>
          </a:xfrm>
          <a:custGeom>
            <a:avLst/>
            <a:gdLst/>
            <a:ahLst/>
            <a:cxnLst/>
            <a:rect l="l" t="t" r="r" b="b"/>
            <a:pathLst>
              <a:path w="1107226" h="1029720">
                <a:moveTo>
                  <a:pt x="0" y="0"/>
                </a:moveTo>
                <a:lnTo>
                  <a:pt x="1107225" y="0"/>
                </a:lnTo>
                <a:lnTo>
                  <a:pt x="1107225" y="1029720"/>
                </a:lnTo>
                <a:lnTo>
                  <a:pt x="0" y="10297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grpSp>
        <p:nvGrpSpPr>
          <p:cNvPr id="23" name="Group 23"/>
          <p:cNvGrpSpPr/>
          <p:nvPr/>
        </p:nvGrpSpPr>
        <p:grpSpPr>
          <a:xfrm>
            <a:off x="6092955" y="5157785"/>
            <a:ext cx="5347789" cy="1390997"/>
            <a:chOff x="0" y="0"/>
            <a:chExt cx="9504788" cy="207799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504787" cy="2077999"/>
            </a:xfrm>
            <a:custGeom>
              <a:avLst/>
              <a:gdLst/>
              <a:ahLst/>
              <a:cxnLst/>
              <a:rect l="l" t="t" r="r" b="b"/>
              <a:pathLst>
                <a:path w="9504787" h="2077999">
                  <a:moveTo>
                    <a:pt x="39464" y="0"/>
                  </a:moveTo>
                  <a:lnTo>
                    <a:pt x="9465324" y="0"/>
                  </a:lnTo>
                  <a:cubicBezTo>
                    <a:pt x="9475790" y="0"/>
                    <a:pt x="9485828" y="4158"/>
                    <a:pt x="9493228" y="11559"/>
                  </a:cubicBezTo>
                  <a:cubicBezTo>
                    <a:pt x="9500629" y="18960"/>
                    <a:pt x="9504787" y="28997"/>
                    <a:pt x="9504787" y="39464"/>
                  </a:cubicBezTo>
                  <a:lnTo>
                    <a:pt x="9504787" y="2038535"/>
                  </a:lnTo>
                  <a:cubicBezTo>
                    <a:pt x="9504787" y="2049002"/>
                    <a:pt x="9500629" y="2059039"/>
                    <a:pt x="9493228" y="2066440"/>
                  </a:cubicBezTo>
                  <a:cubicBezTo>
                    <a:pt x="9485828" y="2073841"/>
                    <a:pt x="9475790" y="2077999"/>
                    <a:pt x="9465324" y="2077999"/>
                  </a:cubicBezTo>
                  <a:lnTo>
                    <a:pt x="39464" y="2077999"/>
                  </a:lnTo>
                  <a:cubicBezTo>
                    <a:pt x="28997" y="2077999"/>
                    <a:pt x="18960" y="2073841"/>
                    <a:pt x="11559" y="2066440"/>
                  </a:cubicBezTo>
                  <a:cubicBezTo>
                    <a:pt x="4158" y="2059039"/>
                    <a:pt x="0" y="2049002"/>
                    <a:pt x="0" y="2038535"/>
                  </a:cubicBezTo>
                  <a:lnTo>
                    <a:pt x="0" y="39464"/>
                  </a:lnTo>
                  <a:cubicBezTo>
                    <a:pt x="0" y="28997"/>
                    <a:pt x="4158" y="18960"/>
                    <a:pt x="11559" y="11559"/>
                  </a:cubicBezTo>
                  <a:cubicBezTo>
                    <a:pt x="18960" y="4158"/>
                    <a:pt x="28997" y="0"/>
                    <a:pt x="39464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F8B27C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9504788" cy="211609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200">
                <a:latin typeface="Palatino Linotype" panose="02040502050505030304" pitchFamily="18" charset="0"/>
              </a:endParaRPr>
            </a:p>
          </p:txBody>
        </p:sp>
      </p:grpSp>
      <p:sp>
        <p:nvSpPr>
          <p:cNvPr id="26" name="Freeform 26"/>
          <p:cNvSpPr/>
          <p:nvPr/>
        </p:nvSpPr>
        <p:spPr>
          <a:xfrm>
            <a:off x="6229967" y="5134410"/>
            <a:ext cx="843744" cy="1043621"/>
          </a:xfrm>
          <a:custGeom>
            <a:avLst/>
            <a:gdLst/>
            <a:ahLst/>
            <a:cxnLst/>
            <a:rect l="l" t="t" r="r" b="b"/>
            <a:pathLst>
              <a:path w="1107226" h="1029720">
                <a:moveTo>
                  <a:pt x="0" y="0"/>
                </a:moveTo>
                <a:lnTo>
                  <a:pt x="1107226" y="0"/>
                </a:lnTo>
                <a:lnTo>
                  <a:pt x="1107226" y="1029720"/>
                </a:lnTo>
                <a:lnTo>
                  <a:pt x="0" y="10297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Box 33"/>
          <p:cNvSpPr txBox="1"/>
          <p:nvPr/>
        </p:nvSpPr>
        <p:spPr>
          <a:xfrm>
            <a:off x="7173804" y="854459"/>
            <a:ext cx="3567787" cy="704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È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ideale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per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applicazioni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che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richiedono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alte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prestazioni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, ma ha un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costo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elevato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e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consuma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molta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energia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73804" y="556350"/>
            <a:ext cx="2793721" cy="264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it-IT" b="1"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NVIDIA</a:t>
            </a:r>
            <a:r>
              <a:rPr lang="it-IT" sz="1800" b="1"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 </a:t>
            </a:r>
            <a:r>
              <a:rPr lang="it-IT" sz="1800" b="1" err="1"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Jetson</a:t>
            </a:r>
            <a:r>
              <a:rPr lang="it-IT" sz="1800" b="1"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 Xavier NX </a:t>
            </a:r>
            <a:endParaRPr lang="en-US" sz="1600" b="1">
              <a:solidFill>
                <a:srgbClr val="343432"/>
              </a:solidFill>
              <a:latin typeface="Palatino Linotype" panose="02040502050505030304" pitchFamily="18" charset="0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558323" y="2914107"/>
            <a:ext cx="3018241" cy="939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200" b="1" err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Applicazioni</a:t>
            </a:r>
            <a:r>
              <a:rPr lang="en-US" sz="3200" b="1">
                <a:solidFill>
                  <a:srgbClr val="333231"/>
                </a:solidFill>
                <a:latin typeface="Palatino Linotype" panose="02040502050505030304" pitchFamily="18" charset="0"/>
                <a:sym typeface="Montserrat Classic Bold"/>
              </a:rPr>
              <a:t> Hardware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887338" y="2456571"/>
            <a:ext cx="3814332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soluzione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più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economica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con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prestazioni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comunque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buone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,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però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adatto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per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essere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utilizzato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in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ambiti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meno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esigenti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 Classic"/>
                <a:cs typeface="Montserrat Classic"/>
                <a:sym typeface="Montserrat Classic"/>
              </a:rPr>
              <a:t>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887337" y="2171730"/>
            <a:ext cx="2422853" cy="275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it-IT" b="1">
                <a:latin typeface="Palatino Linotype" panose="02040502050505030304" pitchFamily="18" charset="0"/>
              </a:rPr>
              <a:t>NVIDIA </a:t>
            </a:r>
            <a:r>
              <a:rPr lang="it-IT" b="1" err="1">
                <a:latin typeface="Palatino Linotype" panose="02040502050505030304" pitchFamily="18" charset="0"/>
                <a:cs typeface="Times New Roman" panose="02020603050405020304" pitchFamily="18" charset="0"/>
              </a:rPr>
              <a:t>Jetson</a:t>
            </a:r>
            <a:r>
              <a:rPr lang="it-IT" b="1">
                <a:latin typeface="Palatino Linotype" panose="02040502050505030304" pitchFamily="18" charset="0"/>
              </a:rPr>
              <a:t> Nano </a:t>
            </a:r>
            <a:endParaRPr lang="en-US" b="1">
              <a:latin typeface="Palatino Linotype" panose="02040502050505030304" pitchFamily="18" charset="0"/>
              <a:sym typeface="Montserrat Classic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7887337" y="4088504"/>
            <a:ext cx="3567787" cy="704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Sono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it-IT" sz="1600">
                <a:solidFill>
                  <a:srgbClr val="343432"/>
                </a:solidFill>
                <a:latin typeface="Palatino Linotype" panose="02040502050505030304" pitchFamily="18" charset="0"/>
              </a:rPr>
              <a:t>ideali per scenari in cui il risparmio energetico è critico e offrono latenze significativamente inferiori</a:t>
            </a:r>
            <a:endParaRPr lang="en-US" sz="1600">
              <a:solidFill>
                <a:srgbClr val="343432"/>
              </a:solidFill>
              <a:latin typeface="Palatino Linotype" panose="02040502050505030304" pitchFamily="18" charset="0"/>
              <a:sym typeface="Montserrat Classic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903083" y="3787492"/>
            <a:ext cx="2972877" cy="264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it-IT" b="1">
                <a:latin typeface="Palatino Linotype" panose="02040502050505030304" pitchFamily="18" charset="0"/>
                <a:cs typeface="Times New Roman" panose="02020603050405020304" pitchFamily="18" charset="0"/>
              </a:rPr>
              <a:t>FPGA su </a:t>
            </a:r>
            <a:r>
              <a:rPr lang="it-IT" b="1" err="1">
                <a:latin typeface="Palatino Linotype" panose="02040502050505030304" pitchFamily="18" charset="0"/>
                <a:cs typeface="Times New Roman" panose="02020603050405020304" pitchFamily="18" charset="0"/>
              </a:rPr>
              <a:t>Xilinx</a:t>
            </a:r>
            <a:r>
              <a:rPr lang="it-IT" b="1">
                <a:latin typeface="Palatino Linotype" panose="02040502050505030304" pitchFamily="18" charset="0"/>
                <a:cs typeface="Times New Roman" panose="02020603050405020304" pitchFamily="18" charset="0"/>
              </a:rPr>
              <a:t> </a:t>
            </a:r>
            <a:r>
              <a:rPr lang="it-IT" b="1" err="1">
                <a:latin typeface="Palatino Linotype" panose="02040502050505030304" pitchFamily="18" charset="0"/>
                <a:cs typeface="Times New Roman" panose="02020603050405020304" pitchFamily="18" charset="0"/>
              </a:rPr>
              <a:t>Kria</a:t>
            </a:r>
            <a:r>
              <a:rPr lang="it-IT" b="1">
                <a:latin typeface="Palatino Linotype" panose="02040502050505030304" pitchFamily="18" charset="0"/>
                <a:cs typeface="Times New Roman" panose="02020603050405020304" pitchFamily="18" charset="0"/>
              </a:rPr>
              <a:t> KV260</a:t>
            </a:r>
            <a:endParaRPr lang="en-US" b="1">
              <a:latin typeface="Palatino Linotype" panose="02040502050505030304" pitchFamily="18" charset="0"/>
              <a:cs typeface="Times New Roman" panose="02020603050405020304" pitchFamily="18" charset="0"/>
              <a:sym typeface="Montserrat Classic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7173804" y="5659782"/>
            <a:ext cx="3567787" cy="7043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È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it-IT" sz="1600">
                <a:solidFill>
                  <a:srgbClr val="343432"/>
                </a:solidFill>
                <a:latin typeface="Palatino Linotype" panose="02040502050505030304" pitchFamily="18" charset="0"/>
              </a:rPr>
              <a:t>un'opzione economica per task di rilevamento di DPI in applicazioni di piccola scala. </a:t>
            </a:r>
            <a:endParaRPr lang="en-US" sz="1600">
              <a:solidFill>
                <a:srgbClr val="343432"/>
              </a:solidFill>
              <a:latin typeface="Palatino Linotype" panose="02040502050505030304" pitchFamily="18" charset="0"/>
              <a:sym typeface="Montserrat Classic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7188939" y="5343068"/>
            <a:ext cx="2482291" cy="264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it-IT" sz="1800" b="1" err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Raspberry</a:t>
            </a:r>
            <a:r>
              <a:rPr lang="it-IT" sz="1800" b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Pi con NCS2</a:t>
            </a:r>
            <a:endParaRPr lang="en-US" sz="1600" b="1">
              <a:solidFill>
                <a:srgbClr val="343432"/>
              </a:solidFill>
              <a:latin typeface="Palatino Linotype" panose="02040502050505030304" pitchFamily="18" charset="0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51" name="AutoShape 51"/>
          <p:cNvSpPr/>
          <p:nvPr/>
        </p:nvSpPr>
        <p:spPr>
          <a:xfrm>
            <a:off x="5576563" y="3429000"/>
            <a:ext cx="1139063" cy="909237"/>
          </a:xfrm>
          <a:prstGeom prst="line">
            <a:avLst/>
          </a:prstGeom>
          <a:ln w="66675" cap="rnd">
            <a:solidFill>
              <a:srgbClr val="333231"/>
            </a:solidFill>
            <a:prstDash val="sysDot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  <p:sp>
        <p:nvSpPr>
          <p:cNvPr id="52" name="AutoShape 52"/>
          <p:cNvSpPr/>
          <p:nvPr/>
        </p:nvSpPr>
        <p:spPr>
          <a:xfrm flipV="1">
            <a:off x="5565629" y="2621822"/>
            <a:ext cx="1139063" cy="807177"/>
          </a:xfrm>
          <a:prstGeom prst="line">
            <a:avLst/>
          </a:prstGeom>
          <a:ln w="66675" cap="rnd">
            <a:solidFill>
              <a:srgbClr val="333231"/>
            </a:solidFill>
            <a:prstDash val="sysDot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magine 21" descr="Immagine che contiene testo, ricevuta, numero, Carattere&#10;&#10;Descrizione generata automaticamente">
            <a:extLst>
              <a:ext uri="{FF2B5EF4-FFF2-40B4-BE49-F238E27FC236}">
                <a16:creationId xmlns:a16="http://schemas.microsoft.com/office/drawing/2014/main" id="{46E0BF76-9561-1EC9-F978-F807B61E0779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2474" b="42392"/>
          <a:stretch/>
        </p:blipFill>
        <p:spPr>
          <a:xfrm>
            <a:off x="181216" y="142260"/>
            <a:ext cx="5658258" cy="1460779"/>
          </a:xfrm>
          <a:prstGeom prst="rect">
            <a:avLst/>
          </a:prstGeom>
        </p:spPr>
      </p:pic>
      <p:sp>
        <p:nvSpPr>
          <p:cNvPr id="28" name="Rectangle 4">
            <a:extLst>
              <a:ext uri="{FF2B5EF4-FFF2-40B4-BE49-F238E27FC236}">
                <a16:creationId xmlns:a16="http://schemas.microsoft.com/office/drawing/2014/main" id="{3036F251-D448-A7A6-925F-548FE4B9E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001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pic>
        <p:nvPicPr>
          <p:cNvPr id="1027" name="Immagine 16" descr="Immagine che contiene testo, Carattere, numero, ricevuta&#10;&#10;Descrizione generata automaticamente">
            <a:extLst>
              <a:ext uri="{FF2B5EF4-FFF2-40B4-BE49-F238E27FC236}">
                <a16:creationId xmlns:a16="http://schemas.microsoft.com/office/drawing/2014/main" id="{F2680CF2-AA70-9DC2-0379-2918DA6FB3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r:link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" t="16927" r="1267" b="5695"/>
          <a:stretch>
            <a:fillRect/>
          </a:stretch>
        </p:blipFill>
        <p:spPr bwMode="auto">
          <a:xfrm>
            <a:off x="-1" y="5314595"/>
            <a:ext cx="6010829" cy="1541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3E0550E-01F4-0E1B-83BB-61C833DDF47C}"/>
              </a:ext>
            </a:extLst>
          </p:cNvPr>
          <p:cNvSpPr txBox="1"/>
          <p:nvPr/>
        </p:nvSpPr>
        <p:spPr>
          <a:xfrm>
            <a:off x="180538" y="4764599"/>
            <a:ext cx="29159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i="1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Fonte: FPGA-</a:t>
            </a:r>
            <a:r>
              <a:rPr lang="it-IT" sz="1400" i="1" err="1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Based</a:t>
            </a:r>
            <a:r>
              <a:rPr lang="it-IT" sz="1400" i="1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 Real-Time Object </a:t>
            </a:r>
            <a:r>
              <a:rPr lang="it-IT" sz="1400" i="1" err="1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Detection</a:t>
            </a:r>
            <a:r>
              <a:rPr lang="it-IT" sz="1400" i="1">
                <a:effectLst/>
                <a:latin typeface="Palatino Linotype" panose="02040502050505030304" pitchFamily="18" charset="0"/>
              </a:rPr>
              <a:t> </a:t>
            </a:r>
            <a:endParaRPr lang="it-IT" sz="1400" i="1">
              <a:latin typeface="Palatino Linotype" panose="02040502050505030304" pitchFamily="18" charset="0"/>
            </a:endParaRP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6440B073-E980-6850-029A-1D2F38605EE9}"/>
              </a:ext>
            </a:extLst>
          </p:cNvPr>
          <p:cNvSpPr txBox="1"/>
          <p:nvPr/>
        </p:nvSpPr>
        <p:spPr>
          <a:xfrm>
            <a:off x="180538" y="1643522"/>
            <a:ext cx="29159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i="1">
                <a:solidFill>
                  <a:srgbClr val="000000"/>
                </a:solidFill>
                <a:latin typeface="Palatino Linotype" panose="02040502050505030304" pitchFamily="18" charset="0"/>
              </a:rPr>
              <a:t>Fonte: Benchmark Analysis of YOLO Performance on Edge Devices </a:t>
            </a:r>
          </a:p>
        </p:txBody>
      </p:sp>
      <p:sp>
        <p:nvSpPr>
          <p:cNvPr id="50" name="AutoShape 50"/>
          <p:cNvSpPr/>
          <p:nvPr/>
        </p:nvSpPr>
        <p:spPr>
          <a:xfrm>
            <a:off x="5585605" y="3429001"/>
            <a:ext cx="500844" cy="2483998"/>
          </a:xfrm>
          <a:prstGeom prst="line">
            <a:avLst/>
          </a:prstGeom>
          <a:ln w="66675" cap="rnd">
            <a:solidFill>
              <a:srgbClr val="333231"/>
            </a:solidFill>
            <a:prstDash val="sysDot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3307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2347632" y="985065"/>
            <a:ext cx="7496731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31"/>
              </a:lnSpc>
              <a:spcBef>
                <a:spcPct val="0"/>
              </a:spcBef>
            </a:pP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A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seguito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delle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analisi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fatte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si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sono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 prese le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seguenti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decisioni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 per il task </a:t>
            </a:r>
            <a:r>
              <a:rPr lang="en-US" sz="1600" err="1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specifico</a:t>
            </a:r>
            <a:r>
              <a:rPr lang="en-US" sz="1600">
                <a:solidFill>
                  <a:srgbClr val="343432"/>
                </a:solidFill>
                <a:latin typeface="Palatino Linotype" panose="02040502050505030304" pitchFamily="18" charset="0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id="8" name="Group 8"/>
          <p:cNvGrpSpPr/>
          <p:nvPr/>
        </p:nvGrpSpPr>
        <p:grpSpPr>
          <a:xfrm rot="10800000">
            <a:off x="4476000" y="2265185"/>
            <a:ext cx="3240000" cy="2812695"/>
            <a:chOff x="0" y="0"/>
            <a:chExt cx="2041606" cy="24485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41606" cy="2448541"/>
            </a:xfrm>
            <a:custGeom>
              <a:avLst/>
              <a:gdLst/>
              <a:ahLst/>
              <a:cxnLst/>
              <a:rect l="l" t="t" r="r" b="b"/>
              <a:pathLst>
                <a:path w="2041606" h="2448541">
                  <a:moveTo>
                    <a:pt x="79191" y="0"/>
                  </a:moveTo>
                  <a:lnTo>
                    <a:pt x="1962415" y="0"/>
                  </a:lnTo>
                  <a:cubicBezTo>
                    <a:pt x="2006151" y="0"/>
                    <a:pt x="2041606" y="35455"/>
                    <a:pt x="2041606" y="79191"/>
                  </a:cubicBezTo>
                  <a:lnTo>
                    <a:pt x="2041606" y="2369350"/>
                  </a:lnTo>
                  <a:cubicBezTo>
                    <a:pt x="2041606" y="2390353"/>
                    <a:pt x="2033263" y="2410495"/>
                    <a:pt x="2018411" y="2425347"/>
                  </a:cubicBezTo>
                  <a:cubicBezTo>
                    <a:pt x="2003560" y="2440198"/>
                    <a:pt x="1983418" y="2448541"/>
                    <a:pt x="1962415" y="2448541"/>
                  </a:cubicBezTo>
                  <a:lnTo>
                    <a:pt x="79191" y="2448541"/>
                  </a:lnTo>
                  <a:cubicBezTo>
                    <a:pt x="58188" y="2448541"/>
                    <a:pt x="38046" y="2440198"/>
                    <a:pt x="23195" y="2425347"/>
                  </a:cubicBezTo>
                  <a:cubicBezTo>
                    <a:pt x="8343" y="2410495"/>
                    <a:pt x="0" y="2390353"/>
                    <a:pt x="0" y="2369350"/>
                  </a:cubicBezTo>
                  <a:lnTo>
                    <a:pt x="0" y="79191"/>
                  </a:lnTo>
                  <a:cubicBezTo>
                    <a:pt x="0" y="58188"/>
                    <a:pt x="8343" y="38046"/>
                    <a:pt x="23195" y="23195"/>
                  </a:cubicBezTo>
                  <a:cubicBezTo>
                    <a:pt x="38046" y="8343"/>
                    <a:pt x="58188" y="0"/>
                    <a:pt x="79191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63B1DB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41606" cy="24866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600">
                <a:latin typeface="Palatino Linotype" panose="02040502050505030304" pitchFamily="18" charset="0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4984522" y="2265185"/>
            <a:ext cx="2222952" cy="1036715"/>
          </a:xfrm>
          <a:custGeom>
            <a:avLst/>
            <a:gdLst/>
            <a:ahLst/>
            <a:cxnLst/>
            <a:rect l="l" t="t" r="r" b="b"/>
            <a:pathLst>
              <a:path w="2146380" h="1000429">
                <a:moveTo>
                  <a:pt x="0" y="0"/>
                </a:moveTo>
                <a:lnTo>
                  <a:pt x="2146380" y="0"/>
                </a:lnTo>
                <a:lnTo>
                  <a:pt x="2146380" y="1000430"/>
                </a:lnTo>
                <a:lnTo>
                  <a:pt x="0" y="100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14545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Box 12"/>
          <p:cNvSpPr txBox="1"/>
          <p:nvPr/>
        </p:nvSpPr>
        <p:spPr>
          <a:xfrm>
            <a:off x="4678006" y="3623067"/>
            <a:ext cx="2835983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600">
                <a:latin typeface="Palatino Linotype" panose="02040502050505030304" pitchFamily="18" charset="0"/>
                <a:cs typeface="Times New Roman" panose="02020603050405020304" pitchFamily="18" charset="0"/>
                <a:sym typeface="Montserrat Classic"/>
              </a:rPr>
              <a:t>In </a:t>
            </a:r>
            <a:r>
              <a:rPr lang="en-US" sz="1600" err="1">
                <a:latin typeface="Palatino Linotype" panose="02040502050505030304" pitchFamily="18" charset="0"/>
                <a:cs typeface="Times New Roman" panose="02020603050405020304" pitchFamily="18" charset="0"/>
                <a:sym typeface="Montserrat Classic"/>
              </a:rPr>
              <a:t>particolare</a:t>
            </a:r>
            <a:r>
              <a:rPr lang="en-US" sz="1600">
                <a:latin typeface="Palatino Linotype" panose="02040502050505030304" pitchFamily="18" charset="0"/>
                <a:cs typeface="Times New Roman" panose="02020603050405020304" pitchFamily="18" charset="0"/>
                <a:sym typeface="Montserrat Classic"/>
              </a:rPr>
              <a:t>, </a:t>
            </a:r>
            <a:r>
              <a:rPr lang="it-IT" sz="1600">
                <a:latin typeface="Palatino Linotype" panose="02040502050505030304" pitchFamily="18" charset="0"/>
                <a:cs typeface="Times New Roman" panose="02020603050405020304" pitchFamily="18" charset="0"/>
              </a:rPr>
              <a:t>ha una maggiore precisione e una combinazione ottimale di velocità e consumo di risorse computazionali. </a:t>
            </a:r>
            <a:endParaRPr lang="en-US" sz="1600">
              <a:latin typeface="Palatino Linotype" panose="02040502050505030304" pitchFamily="18" charset="0"/>
              <a:cs typeface="Times New Roman" panose="02020603050405020304" pitchFamily="18" charset="0"/>
              <a:sym typeface="Montserrat Classic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984522" y="3328551"/>
            <a:ext cx="2174220" cy="212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9"/>
              </a:lnSpc>
              <a:spcBef>
                <a:spcPct val="0"/>
              </a:spcBef>
            </a:pPr>
            <a:r>
              <a:rPr lang="en-US" sz="2000" b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YOLOv11x</a:t>
            </a:r>
          </a:p>
        </p:txBody>
      </p:sp>
      <p:grpSp>
        <p:nvGrpSpPr>
          <p:cNvPr id="15" name="Group 15"/>
          <p:cNvGrpSpPr/>
          <p:nvPr/>
        </p:nvGrpSpPr>
        <p:grpSpPr>
          <a:xfrm rot="10800000">
            <a:off x="8501226" y="2292431"/>
            <a:ext cx="3240000" cy="3946264"/>
            <a:chOff x="0" y="-38100"/>
            <a:chExt cx="2041606" cy="248664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41606" cy="2447658"/>
            </a:xfrm>
            <a:custGeom>
              <a:avLst/>
              <a:gdLst/>
              <a:ahLst/>
              <a:cxnLst/>
              <a:rect l="l" t="t" r="r" b="b"/>
              <a:pathLst>
                <a:path w="2041606" h="2448541">
                  <a:moveTo>
                    <a:pt x="79191" y="0"/>
                  </a:moveTo>
                  <a:lnTo>
                    <a:pt x="1962415" y="0"/>
                  </a:lnTo>
                  <a:cubicBezTo>
                    <a:pt x="2006151" y="0"/>
                    <a:pt x="2041606" y="35455"/>
                    <a:pt x="2041606" y="79191"/>
                  </a:cubicBezTo>
                  <a:lnTo>
                    <a:pt x="2041606" y="2369350"/>
                  </a:lnTo>
                  <a:cubicBezTo>
                    <a:pt x="2041606" y="2390353"/>
                    <a:pt x="2033263" y="2410495"/>
                    <a:pt x="2018411" y="2425347"/>
                  </a:cubicBezTo>
                  <a:cubicBezTo>
                    <a:pt x="2003560" y="2440198"/>
                    <a:pt x="1983418" y="2448541"/>
                    <a:pt x="1962415" y="2448541"/>
                  </a:cubicBezTo>
                  <a:lnTo>
                    <a:pt x="79191" y="2448541"/>
                  </a:lnTo>
                  <a:cubicBezTo>
                    <a:pt x="58188" y="2448541"/>
                    <a:pt x="38046" y="2440198"/>
                    <a:pt x="23195" y="2425347"/>
                  </a:cubicBezTo>
                  <a:cubicBezTo>
                    <a:pt x="8343" y="2410495"/>
                    <a:pt x="0" y="2390353"/>
                    <a:pt x="0" y="2369350"/>
                  </a:cubicBezTo>
                  <a:lnTo>
                    <a:pt x="0" y="79191"/>
                  </a:lnTo>
                  <a:cubicBezTo>
                    <a:pt x="0" y="58188"/>
                    <a:pt x="8343" y="38046"/>
                    <a:pt x="23195" y="23195"/>
                  </a:cubicBezTo>
                  <a:cubicBezTo>
                    <a:pt x="38046" y="8343"/>
                    <a:pt x="58188" y="0"/>
                    <a:pt x="79191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8ED7E8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041606" cy="24866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600">
                <a:latin typeface="Palatino Linotype" panose="02040502050505030304" pitchFamily="18" charset="0"/>
              </a:endParaRPr>
            </a:p>
          </p:txBody>
        </p:sp>
      </p:grpSp>
      <p:sp>
        <p:nvSpPr>
          <p:cNvPr id="18" name="Freeform 18"/>
          <p:cNvSpPr>
            <a:spLocks noChangeAspect="1"/>
          </p:cNvSpPr>
          <p:nvPr/>
        </p:nvSpPr>
        <p:spPr>
          <a:xfrm>
            <a:off x="9009750" y="2292431"/>
            <a:ext cx="2223450" cy="1036120"/>
          </a:xfrm>
          <a:custGeom>
            <a:avLst/>
            <a:gdLst/>
            <a:ahLst/>
            <a:cxnLst/>
            <a:rect l="l" t="t" r="r" b="b"/>
            <a:pathLst>
              <a:path w="2146380" h="1000429">
                <a:moveTo>
                  <a:pt x="0" y="0"/>
                </a:moveTo>
                <a:lnTo>
                  <a:pt x="2146380" y="0"/>
                </a:lnTo>
                <a:lnTo>
                  <a:pt x="2146380" y="1000430"/>
                </a:lnTo>
                <a:lnTo>
                  <a:pt x="0" y="10004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14545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Box 19"/>
          <p:cNvSpPr txBox="1"/>
          <p:nvPr/>
        </p:nvSpPr>
        <p:spPr>
          <a:xfrm>
            <a:off x="8703234" y="3628564"/>
            <a:ext cx="2835983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err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Jetson</a:t>
            </a:r>
            <a:r>
              <a:rPr lang="it-IT" sz="160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Xavier NX è preferibile per il suo ecosistema maturo, facilità di sviluppo e prestazioni bilanciate.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FPGA è una scelta eccellente per ambienti con limiti energetici estremi o requisiti di personalizzazione elevati</a:t>
            </a:r>
            <a:r>
              <a:rPr lang="it-IT" sz="1600"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>
              <a:solidFill>
                <a:srgbClr val="343432"/>
              </a:solidFill>
              <a:latin typeface="Palatino Linotype" panose="02040502050505030304" pitchFamily="18" charset="0"/>
              <a:ea typeface="Montserrat Classic"/>
              <a:cs typeface="Montserrat Classic"/>
              <a:sym typeface="Montserrat Classic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680047" y="3328551"/>
            <a:ext cx="2835983" cy="212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9"/>
              </a:lnSpc>
              <a:spcBef>
                <a:spcPct val="0"/>
              </a:spcBef>
            </a:pPr>
            <a:r>
              <a:rPr lang="en-US" sz="2000" b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Hardware</a:t>
            </a:r>
          </a:p>
        </p:txBody>
      </p:sp>
      <p:grpSp>
        <p:nvGrpSpPr>
          <p:cNvPr id="2" name="Group 2"/>
          <p:cNvGrpSpPr/>
          <p:nvPr/>
        </p:nvGrpSpPr>
        <p:grpSpPr>
          <a:xfrm rot="10800000">
            <a:off x="450771" y="2257456"/>
            <a:ext cx="3240001" cy="2864190"/>
            <a:chOff x="0" y="-38100"/>
            <a:chExt cx="2296807" cy="2792708"/>
          </a:xfrm>
        </p:grpSpPr>
        <p:sp>
          <p:nvSpPr>
            <p:cNvPr id="3" name="Freeform 3"/>
            <p:cNvSpPr>
              <a:spLocks noChangeAspect="1"/>
            </p:cNvSpPr>
            <p:nvPr/>
          </p:nvSpPr>
          <p:spPr>
            <a:xfrm>
              <a:off x="1" y="0"/>
              <a:ext cx="2296806" cy="2754608"/>
            </a:xfrm>
            <a:custGeom>
              <a:avLst/>
              <a:gdLst/>
              <a:ahLst/>
              <a:cxnLst/>
              <a:rect l="l" t="t" r="r" b="b"/>
              <a:pathLst>
                <a:path w="2041606" h="2448541">
                  <a:moveTo>
                    <a:pt x="79191" y="0"/>
                  </a:moveTo>
                  <a:lnTo>
                    <a:pt x="1962415" y="0"/>
                  </a:lnTo>
                  <a:cubicBezTo>
                    <a:pt x="2006151" y="0"/>
                    <a:pt x="2041606" y="35455"/>
                    <a:pt x="2041606" y="79191"/>
                  </a:cubicBezTo>
                  <a:lnTo>
                    <a:pt x="2041606" y="2369350"/>
                  </a:lnTo>
                  <a:cubicBezTo>
                    <a:pt x="2041606" y="2390353"/>
                    <a:pt x="2033263" y="2410495"/>
                    <a:pt x="2018411" y="2425347"/>
                  </a:cubicBezTo>
                  <a:cubicBezTo>
                    <a:pt x="2003560" y="2440198"/>
                    <a:pt x="1983418" y="2448541"/>
                    <a:pt x="1962415" y="2448541"/>
                  </a:cubicBezTo>
                  <a:lnTo>
                    <a:pt x="79191" y="2448541"/>
                  </a:lnTo>
                  <a:cubicBezTo>
                    <a:pt x="58188" y="2448541"/>
                    <a:pt x="38046" y="2440198"/>
                    <a:pt x="23195" y="2425347"/>
                  </a:cubicBezTo>
                  <a:cubicBezTo>
                    <a:pt x="8343" y="2410495"/>
                    <a:pt x="0" y="2390353"/>
                    <a:pt x="0" y="2369350"/>
                  </a:cubicBezTo>
                  <a:lnTo>
                    <a:pt x="0" y="79191"/>
                  </a:lnTo>
                  <a:cubicBezTo>
                    <a:pt x="0" y="58188"/>
                    <a:pt x="8343" y="38046"/>
                    <a:pt x="23195" y="23195"/>
                  </a:cubicBezTo>
                  <a:cubicBezTo>
                    <a:pt x="38046" y="8343"/>
                    <a:pt x="58188" y="0"/>
                    <a:pt x="79191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9397D8"/>
              </a:solidFill>
              <a:prstDash val="solid"/>
              <a:rou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41606" cy="24866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  <a:spcBef>
                  <a:spcPct val="0"/>
                </a:spcBef>
              </a:pPr>
              <a:endParaRPr sz="1600">
                <a:latin typeface="Palatino Linotype" panose="02040502050505030304" pitchFamily="18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082792" y="2301585"/>
            <a:ext cx="1975958" cy="920995"/>
          </a:xfrm>
          <a:custGeom>
            <a:avLst/>
            <a:gdLst/>
            <a:ahLst/>
            <a:cxnLst/>
            <a:rect l="l" t="t" r="r" b="b"/>
            <a:pathLst>
              <a:path w="2146380" h="1000429">
                <a:moveTo>
                  <a:pt x="0" y="0"/>
                </a:moveTo>
                <a:lnTo>
                  <a:pt x="2146380" y="0"/>
                </a:lnTo>
                <a:lnTo>
                  <a:pt x="2146380" y="1000430"/>
                </a:lnTo>
                <a:lnTo>
                  <a:pt x="0" y="10004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14545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Box 40"/>
          <p:cNvSpPr txBox="1"/>
          <p:nvPr/>
        </p:nvSpPr>
        <p:spPr>
          <a:xfrm>
            <a:off x="751708" y="3628564"/>
            <a:ext cx="2520874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it-IT" sz="1600"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it-IT" sz="160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merge come la versione più adatta per applicazioni </a:t>
            </a:r>
            <a:r>
              <a:rPr lang="it-IT" sz="1600" err="1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lang="it-IT" sz="1600"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real-time grazie all’equilibrio tra velocità e precisione </a:t>
            </a:r>
            <a:endParaRPr lang="en-US" sz="1600">
              <a:solidFill>
                <a:srgbClr val="343432"/>
              </a:solidFill>
              <a:latin typeface="Palatino Linotype" panose="02040502050505030304" pitchFamily="18" charset="0"/>
              <a:ea typeface="Montserrat Classic"/>
              <a:cs typeface="Montserrat Classic"/>
              <a:sym typeface="Montserrat Classic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045825" y="3300515"/>
            <a:ext cx="1932640" cy="212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9"/>
              </a:lnSpc>
              <a:spcBef>
                <a:spcPct val="0"/>
              </a:spcBef>
            </a:pPr>
            <a:r>
              <a:rPr lang="en-US" sz="2000" b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YOLOv11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331019" y="224187"/>
            <a:ext cx="7529958" cy="566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6"/>
              </a:lnSpc>
              <a:spcBef>
                <a:spcPct val="0"/>
              </a:spcBef>
            </a:pPr>
            <a:r>
              <a:rPr lang="en-US" sz="3368" b="1" spc="205" err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Conclusioni</a:t>
            </a:r>
            <a:endParaRPr lang="en-US" sz="3368" b="1" spc="205">
              <a:solidFill>
                <a:srgbClr val="343432"/>
              </a:solidFill>
              <a:latin typeface="Palatino Linotype" panose="02040502050505030304" pitchFamily="18" charset="0"/>
              <a:ea typeface="Montserrat Classic Bold"/>
              <a:cs typeface="Montserrat Classic Bold"/>
              <a:sym typeface="Montserrat Classic Bold"/>
            </a:endParaRPr>
          </a:p>
        </p:txBody>
      </p:sp>
      <p:pic>
        <p:nvPicPr>
          <p:cNvPr id="23" name="Immagine 22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497D4B00-BFF2-C13C-EC0D-08CBFF1157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5997" y="2289610"/>
            <a:ext cx="720000" cy="720000"/>
          </a:xfrm>
          <a:prstGeom prst="rect">
            <a:avLst/>
          </a:prstGeom>
        </p:spPr>
      </p:pic>
      <p:pic>
        <p:nvPicPr>
          <p:cNvPr id="25" name="Immagine 24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26C8C5EA-38D9-E626-3244-B225EC1448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771" y="2289610"/>
            <a:ext cx="720000" cy="720000"/>
          </a:xfrm>
          <a:prstGeom prst="rect">
            <a:avLst/>
          </a:prstGeom>
        </p:spPr>
      </p:pic>
      <p:pic>
        <p:nvPicPr>
          <p:cNvPr id="27" name="Immagine 26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095C95A8-E9EC-FB1C-982B-AA3DC5E086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8038" y="2406810"/>
            <a:ext cx="720000" cy="720000"/>
          </a:xfrm>
          <a:prstGeom prst="rect">
            <a:avLst/>
          </a:prstGeom>
        </p:spPr>
      </p:pic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4C121071-5E04-A1A4-47DD-909F6F80F970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95998" y="1228721"/>
            <a:ext cx="3998978" cy="919400"/>
          </a:xfrm>
          <a:prstGeom prst="straightConnector1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F504BB6F-F4EA-29C6-0F57-77ADA71FFA5D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2097019" y="1228721"/>
            <a:ext cx="3998979" cy="932626"/>
          </a:xfrm>
          <a:prstGeom prst="straightConnector1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9" name="Mostrina 48">
            <a:extLst>
              <a:ext uri="{FF2B5EF4-FFF2-40B4-BE49-F238E27FC236}">
                <a16:creationId xmlns:a16="http://schemas.microsoft.com/office/drawing/2014/main" id="{872E18F8-4584-FFC3-552B-3E83CE5932A8}"/>
              </a:ext>
            </a:extLst>
          </p:cNvPr>
          <p:cNvSpPr/>
          <p:nvPr/>
        </p:nvSpPr>
        <p:spPr>
          <a:xfrm>
            <a:off x="3869592" y="3513074"/>
            <a:ext cx="464664" cy="546862"/>
          </a:xfrm>
          <a:prstGeom prst="chevron">
            <a:avLst/>
          </a:prstGeom>
          <a:solidFill>
            <a:srgbClr val="EDD4E2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4C67779D-8C1A-10E9-E078-4215DC10C71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95998" y="1228721"/>
            <a:ext cx="0" cy="919400"/>
          </a:xfrm>
          <a:prstGeom prst="straightConnector1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6" name="Freccia curva 55">
            <a:extLst>
              <a:ext uri="{FF2B5EF4-FFF2-40B4-BE49-F238E27FC236}">
                <a16:creationId xmlns:a16="http://schemas.microsoft.com/office/drawing/2014/main" id="{AD672D4C-DA14-534D-2543-7651F9EC6BFA}"/>
              </a:ext>
            </a:extLst>
          </p:cNvPr>
          <p:cNvSpPr/>
          <p:nvPr/>
        </p:nvSpPr>
        <p:spPr>
          <a:xfrm rot="16200000" flipH="1">
            <a:off x="7290208" y="4492174"/>
            <a:ext cx="447561" cy="1953059"/>
          </a:xfrm>
          <a:prstGeom prst="bentArrow">
            <a:avLst>
              <a:gd name="adj1" fmla="val 8750"/>
              <a:gd name="adj2" fmla="val 15070"/>
              <a:gd name="adj3" fmla="val 21389"/>
              <a:gd name="adj4" fmla="val 83063"/>
            </a:avLst>
          </a:prstGeom>
          <a:solidFill>
            <a:srgbClr val="EDD4E2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DE349952-0B0E-840A-3BE8-E0D3EEE920B6}"/>
              </a:ext>
            </a:extLst>
          </p:cNvPr>
          <p:cNvSpPr txBox="1"/>
          <p:nvPr/>
        </p:nvSpPr>
        <p:spPr>
          <a:xfrm>
            <a:off x="450771" y="5692169"/>
            <a:ext cx="7848446" cy="1077218"/>
          </a:xfrm>
          <a:prstGeom prst="rect">
            <a:avLst/>
          </a:prstGeom>
          <a:solidFill>
            <a:schemeClr val="bg1"/>
          </a:solidFill>
          <a:ln>
            <a:solidFill>
              <a:srgbClr val="8ED7E9"/>
            </a:solidFill>
          </a:ln>
        </p:spPr>
        <p:txBody>
          <a:bodyPr wrap="square" rtlCol="0">
            <a:spAutoFit/>
          </a:bodyPr>
          <a:lstStyle/>
          <a:p>
            <a:r>
              <a:rPr lang="it-IT" sz="1600">
                <a:latin typeface="Palatino Linotype" panose="02040502050505030304" pitchFamily="18" charset="0"/>
              </a:rPr>
              <a:t>A livello pratico, abbiamo deciso che per le richieste del cliente e le strutture già disponibili sia meglio non implementare nessuna applicazione a livello IoT. L’applicazione sarà comunque </a:t>
            </a:r>
            <a:r>
              <a:rPr lang="it-IT" sz="1600" err="1">
                <a:latin typeface="Palatino Linotype" panose="02040502050505030304" pitchFamily="18" charset="0"/>
              </a:rPr>
              <a:t>edge</a:t>
            </a:r>
            <a:r>
              <a:rPr lang="it-IT" sz="1600">
                <a:latin typeface="Palatino Linotype" panose="02040502050505030304" pitchFamily="18" charset="0"/>
              </a:rPr>
              <a:t> perché verrà utilizzato un server e un’architettura di rete già presente in loco.</a:t>
            </a:r>
          </a:p>
        </p:txBody>
      </p:sp>
    </p:spTree>
    <p:extLst>
      <p:ext uri="{BB962C8B-B14F-4D97-AF65-F5344CB8AC3E}">
        <p14:creationId xmlns:p14="http://schemas.microsoft.com/office/powerpoint/2010/main" val="1844432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 rot="-10800000">
            <a:off x="4025891" y="3371686"/>
            <a:ext cx="4140218" cy="308090"/>
          </a:xfrm>
          <a:custGeom>
            <a:avLst/>
            <a:gdLst/>
            <a:ahLst/>
            <a:cxnLst/>
            <a:rect l="l" t="t" r="r" b="b"/>
            <a:pathLst>
              <a:path w="6210327" h="462135">
                <a:moveTo>
                  <a:pt x="0" y="0"/>
                </a:moveTo>
                <a:lnTo>
                  <a:pt x="6210328" y="0"/>
                </a:lnTo>
                <a:lnTo>
                  <a:pt x="6210328" y="462134"/>
                </a:lnTo>
                <a:lnTo>
                  <a:pt x="0" y="4621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b="-286352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8" name="Group 8"/>
          <p:cNvGrpSpPr/>
          <p:nvPr/>
        </p:nvGrpSpPr>
        <p:grpSpPr>
          <a:xfrm>
            <a:off x="3748802" y="1425152"/>
            <a:ext cx="4693952" cy="2098398"/>
            <a:chOff x="0" y="0"/>
            <a:chExt cx="5426266" cy="16081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426266" cy="1608111"/>
            </a:xfrm>
            <a:custGeom>
              <a:avLst/>
              <a:gdLst/>
              <a:ahLst/>
              <a:cxnLst/>
              <a:rect l="l" t="t" r="r" b="b"/>
              <a:pathLst>
                <a:path w="5426266" h="1608111">
                  <a:moveTo>
                    <a:pt x="18699" y="0"/>
                  </a:moveTo>
                  <a:lnTo>
                    <a:pt x="5407567" y="0"/>
                  </a:lnTo>
                  <a:cubicBezTo>
                    <a:pt x="5412526" y="0"/>
                    <a:pt x="5417283" y="1970"/>
                    <a:pt x="5420789" y="5477"/>
                  </a:cubicBezTo>
                  <a:cubicBezTo>
                    <a:pt x="5424296" y="8984"/>
                    <a:pt x="5426266" y="13740"/>
                    <a:pt x="5426266" y="18699"/>
                  </a:cubicBezTo>
                  <a:lnTo>
                    <a:pt x="5426266" y="1589412"/>
                  </a:lnTo>
                  <a:cubicBezTo>
                    <a:pt x="5426266" y="1599739"/>
                    <a:pt x="5417894" y="1608111"/>
                    <a:pt x="5407567" y="1608111"/>
                  </a:cubicBezTo>
                  <a:lnTo>
                    <a:pt x="18699" y="1608111"/>
                  </a:lnTo>
                  <a:cubicBezTo>
                    <a:pt x="8372" y="1608111"/>
                    <a:pt x="0" y="1599739"/>
                    <a:pt x="0" y="1589412"/>
                  </a:cubicBezTo>
                  <a:lnTo>
                    <a:pt x="0" y="18699"/>
                  </a:lnTo>
                  <a:cubicBezTo>
                    <a:pt x="0" y="8372"/>
                    <a:pt x="8372" y="0"/>
                    <a:pt x="18699" y="0"/>
                  </a:cubicBezTo>
                  <a:close/>
                </a:path>
              </a:pathLst>
            </a:custGeom>
            <a:solidFill>
              <a:srgbClr val="F8D389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426266" cy="164621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37"/>
                </a:lnSpc>
              </a:pPr>
              <a:endParaRPr sz="1200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210712" y="0"/>
            <a:ext cx="7529958" cy="566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6"/>
              </a:lnSpc>
              <a:spcBef>
                <a:spcPct val="0"/>
              </a:spcBef>
            </a:pPr>
            <a:r>
              <a:rPr lang="en-US" sz="3368" b="1" spc="205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YOLOv11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564334" y="591938"/>
            <a:ext cx="7038773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it-IT" sz="160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YOLOv11 si distingue per la sua maggiore adattabilità, supportando una gamma più ampia di compiti CV oltre al tradizionale rilevamento degli oggetti. </a:t>
            </a:r>
            <a:endParaRPr lang="en-US" sz="1600">
              <a:solidFill>
                <a:srgbClr val="3434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3859741" y="1851965"/>
            <a:ext cx="4489386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it-IT" sz="120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L’architettura YOLO è costituita da tre componenti fondamentali:</a:t>
            </a:r>
            <a:endParaRPr lang="it-IT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it-IT" sz="1200" err="1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Backbone</a:t>
            </a:r>
            <a:r>
              <a:rPr lang="it-IT" sz="120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: utilizza reti neurali </a:t>
            </a:r>
            <a:r>
              <a:rPr lang="it-IT" sz="1200" err="1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convoluzionali</a:t>
            </a:r>
            <a:r>
              <a:rPr lang="it-IT" sz="120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 per trasformare i dati grezzi dell’immagine in mappe di caratteristiche </a:t>
            </a:r>
            <a:r>
              <a:rPr lang="it-IT" sz="1200" err="1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multiscala</a:t>
            </a:r>
            <a:r>
              <a:rPr lang="it-IT" sz="120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. </a:t>
            </a:r>
            <a:endParaRPr lang="it-IT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it-IT" sz="1200">
                <a:solidFill>
                  <a:srgbClr val="000000"/>
                </a:solidFill>
                <a:latin typeface="Palatino Linotype" panose="02040502050505030304" pitchFamily="18" charset="0"/>
                <a:ea typeface="Times New Roman" panose="02020603050405020304" pitchFamily="18" charset="0"/>
              </a:rPr>
              <a:t>Neck</a:t>
            </a:r>
            <a:r>
              <a:rPr lang="it-IT" sz="120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: impiega strati specializzati per aggregare e migliorare le rappresentazioni delle caratteristiche su diverse scale. </a:t>
            </a:r>
            <a:endParaRPr lang="it-IT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it-IT" sz="1200">
                <a:solidFill>
                  <a:srgbClr val="000000"/>
                </a:solidFill>
                <a:latin typeface="Palatino Linotype" panose="02040502050505030304" pitchFamily="18" charset="0"/>
                <a:ea typeface="Times New Roman" panose="02020603050405020304" pitchFamily="18" charset="0"/>
              </a:rPr>
              <a:t>head</a:t>
            </a:r>
            <a:r>
              <a:rPr lang="it-IT" sz="1200">
                <a:solidFill>
                  <a:srgbClr val="000000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: genera gli output finali per la localizzazione e la classificazione degli oggetti sulla base delle mappe di caratteristiche raffinate.</a:t>
            </a:r>
            <a:endParaRPr lang="it-IT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4499857" y="1474868"/>
            <a:ext cx="2946297" cy="277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27"/>
              </a:lnSpc>
              <a:spcBef>
                <a:spcPct val="0"/>
              </a:spcBef>
            </a:pPr>
            <a:r>
              <a:rPr lang="en-US" sz="1662" b="1" spc="16" err="1">
                <a:solidFill>
                  <a:srgbClr val="343432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Architettura</a:t>
            </a:r>
            <a:r>
              <a:rPr lang="en-US" sz="1662" b="1" spc="16">
                <a:solidFill>
                  <a:srgbClr val="343432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e </a:t>
            </a:r>
            <a:r>
              <a:rPr lang="en-US" sz="1662" b="1" spc="16" err="1">
                <a:solidFill>
                  <a:srgbClr val="343432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ottimizzazioni</a:t>
            </a:r>
            <a:endParaRPr lang="en-US" sz="1662" b="1" spc="16">
              <a:solidFill>
                <a:srgbClr val="343432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grpSp>
        <p:nvGrpSpPr>
          <p:cNvPr id="55" name="Gruppo 54">
            <a:extLst>
              <a:ext uri="{FF2B5EF4-FFF2-40B4-BE49-F238E27FC236}">
                <a16:creationId xmlns:a16="http://schemas.microsoft.com/office/drawing/2014/main" id="{259A9DFC-1E9C-6404-86DD-201A2A627F76}"/>
              </a:ext>
            </a:extLst>
          </p:cNvPr>
          <p:cNvGrpSpPr>
            <a:grpSpLocks noChangeAspect="1"/>
          </p:cNvGrpSpPr>
          <p:nvPr/>
        </p:nvGrpSpPr>
        <p:grpSpPr>
          <a:xfrm>
            <a:off x="230359" y="2117647"/>
            <a:ext cx="3683616" cy="4489467"/>
            <a:chOff x="2734900" y="4093688"/>
            <a:chExt cx="2311550" cy="2817239"/>
          </a:xfrm>
        </p:grpSpPr>
        <p:sp>
          <p:nvSpPr>
            <p:cNvPr id="19" name="Freeform 19"/>
            <p:cNvSpPr/>
            <p:nvPr/>
          </p:nvSpPr>
          <p:spPr>
            <a:xfrm rot="10800000">
              <a:off x="2734901" y="5268208"/>
              <a:ext cx="2033171" cy="233846"/>
            </a:xfrm>
            <a:custGeom>
              <a:avLst/>
              <a:gdLst/>
              <a:ahLst/>
              <a:cxnLst/>
              <a:rect l="l" t="t" r="r" b="b"/>
              <a:pathLst>
                <a:path w="3049757" h="350769">
                  <a:moveTo>
                    <a:pt x="0" y="0"/>
                  </a:moveTo>
                  <a:lnTo>
                    <a:pt x="3049757" y="0"/>
                  </a:lnTo>
                  <a:lnTo>
                    <a:pt x="3049757" y="350770"/>
                  </a:lnTo>
                  <a:lnTo>
                    <a:pt x="0" y="350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2000"/>
              </a:blip>
              <a:stretch>
                <a:fillRect b="-149966"/>
              </a:stretch>
            </a:blipFill>
          </p:spPr>
          <p:txBody>
            <a:bodyPr/>
            <a:lstStyle/>
            <a:p>
              <a:endParaRPr lang="it-IT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2734901" y="4451962"/>
              <a:ext cx="2033171" cy="1731044"/>
              <a:chOff x="0" y="-38100"/>
              <a:chExt cx="3003701" cy="255735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3003701" cy="1261802"/>
              </a:xfrm>
              <a:custGeom>
                <a:avLst/>
                <a:gdLst/>
                <a:ahLst/>
                <a:cxnLst/>
                <a:rect l="l" t="t" r="r" b="b"/>
                <a:pathLst>
                  <a:path w="3003701" h="2519255">
                    <a:moveTo>
                      <a:pt x="81233" y="0"/>
                    </a:moveTo>
                    <a:lnTo>
                      <a:pt x="2922468" y="0"/>
                    </a:lnTo>
                    <a:cubicBezTo>
                      <a:pt x="2944012" y="0"/>
                      <a:pt x="2964674" y="8558"/>
                      <a:pt x="2979908" y="23793"/>
                    </a:cubicBezTo>
                    <a:cubicBezTo>
                      <a:pt x="2995142" y="39027"/>
                      <a:pt x="3003701" y="59689"/>
                      <a:pt x="3003701" y="81233"/>
                    </a:cubicBezTo>
                    <a:lnTo>
                      <a:pt x="3003701" y="2438022"/>
                    </a:lnTo>
                    <a:cubicBezTo>
                      <a:pt x="3003701" y="2482886"/>
                      <a:pt x="2967331" y="2519255"/>
                      <a:pt x="2922468" y="2519255"/>
                    </a:cubicBezTo>
                    <a:lnTo>
                      <a:pt x="81233" y="2519255"/>
                    </a:lnTo>
                    <a:cubicBezTo>
                      <a:pt x="59689" y="2519255"/>
                      <a:pt x="39027" y="2510697"/>
                      <a:pt x="23793" y="2495462"/>
                    </a:cubicBezTo>
                    <a:cubicBezTo>
                      <a:pt x="8558" y="2480228"/>
                      <a:pt x="0" y="2459566"/>
                      <a:pt x="0" y="2438022"/>
                    </a:cubicBezTo>
                    <a:lnTo>
                      <a:pt x="0" y="81233"/>
                    </a:lnTo>
                    <a:cubicBezTo>
                      <a:pt x="0" y="59689"/>
                      <a:pt x="8558" y="39027"/>
                      <a:pt x="23793" y="23793"/>
                    </a:cubicBezTo>
                    <a:cubicBezTo>
                      <a:pt x="39027" y="8558"/>
                      <a:pt x="59689" y="0"/>
                      <a:pt x="8123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4775" cap="rnd">
                <a:solidFill>
                  <a:srgbClr val="91DFB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3003701" cy="255735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837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3304121" y="4093688"/>
              <a:ext cx="835251" cy="966623"/>
            </a:xfrm>
            <a:custGeom>
              <a:avLst/>
              <a:gdLst/>
              <a:ahLst/>
              <a:cxnLst/>
              <a:rect l="l" t="t" r="r" b="b"/>
              <a:pathLst>
                <a:path w="1252876" h="1449935">
                  <a:moveTo>
                    <a:pt x="0" y="0"/>
                  </a:moveTo>
                  <a:lnTo>
                    <a:pt x="1252876" y="0"/>
                  </a:lnTo>
                  <a:lnTo>
                    <a:pt x="1252876" y="1449934"/>
                  </a:lnTo>
                  <a:lnTo>
                    <a:pt x="0" y="1449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734900" y="5694167"/>
              <a:ext cx="2311550" cy="1216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E5EA95"/>
              </a:solidFill>
            </a:ln>
          </p:spPr>
          <p:txBody>
            <a:bodyPr wrap="square" lIns="0" tIns="0" rIns="0" bIns="0" rtlCol="0" anchor="t">
              <a:spAutoFit/>
            </a:bodyPr>
            <a:lstStyle/>
            <a:p>
              <a:pPr marL="285750" indent="-285750"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L’introduzione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del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blocco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C3k2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invece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del C2f,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è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più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efficiente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: 2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convoluzioni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più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piccole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invece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che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una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più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grande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;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inoltre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viene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usato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un kernel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più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piccolo (k2)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che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velocizza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l’elaborazione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.</a:t>
              </a:r>
            </a:p>
            <a:p>
              <a:pPr marL="285750" indent="-285750"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Dopo il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blocco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SPPF introduce un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blocco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C2PSA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che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permette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al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modello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di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concentrarsi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sulle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parti important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delle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immagini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,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aumentando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 </a:t>
              </a:r>
              <a:r>
                <a:rPr lang="en-US" sz="1400" err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l’accuratezza</a:t>
              </a:r>
              <a:r>
                <a:rPr lang="en-US" sz="1400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"/>
                  <a:cs typeface="Montserrat Classic"/>
                  <a:sym typeface="Montserrat Classic"/>
                </a:rPr>
                <a:t>. 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028544" y="5151601"/>
              <a:ext cx="1387429" cy="1110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49"/>
                </a:lnSpc>
              </a:pPr>
              <a:r>
                <a:rPr lang="en-US" b="1">
                  <a:solidFill>
                    <a:srgbClr val="343432"/>
                  </a:solidFill>
                  <a:latin typeface="Palatino Linotype" panose="02040502050505030304" pitchFamily="18" charset="0"/>
                  <a:ea typeface="Montserrat Classic Bold"/>
                  <a:cs typeface="Montserrat Classic Bold"/>
                  <a:sym typeface="Montserrat Classic Bold"/>
                </a:rPr>
                <a:t>Backbone</a:t>
              </a:r>
            </a:p>
          </p:txBody>
        </p:sp>
      </p:grpSp>
      <p:grpSp>
        <p:nvGrpSpPr>
          <p:cNvPr id="56" name="Gruppo 55">
            <a:extLst>
              <a:ext uri="{FF2B5EF4-FFF2-40B4-BE49-F238E27FC236}">
                <a16:creationId xmlns:a16="http://schemas.microsoft.com/office/drawing/2014/main" id="{3251D1EE-CF88-F57D-6165-065D15F1B5EC}"/>
              </a:ext>
            </a:extLst>
          </p:cNvPr>
          <p:cNvGrpSpPr>
            <a:grpSpLocks noChangeAspect="1"/>
          </p:cNvGrpSpPr>
          <p:nvPr/>
        </p:nvGrpSpPr>
        <p:grpSpPr>
          <a:xfrm>
            <a:off x="4500019" y="4078280"/>
            <a:ext cx="3240000" cy="3329474"/>
            <a:chOff x="5104623" y="4093688"/>
            <a:chExt cx="2033171" cy="2089318"/>
          </a:xfrm>
        </p:grpSpPr>
        <p:sp>
          <p:nvSpPr>
            <p:cNvPr id="24" name="Freeform 24"/>
            <p:cNvSpPr/>
            <p:nvPr/>
          </p:nvSpPr>
          <p:spPr>
            <a:xfrm rot="10800000">
              <a:off x="5104623" y="5274824"/>
              <a:ext cx="2033171" cy="233846"/>
            </a:xfrm>
            <a:custGeom>
              <a:avLst/>
              <a:gdLst/>
              <a:ahLst/>
              <a:cxnLst/>
              <a:rect l="l" t="t" r="r" b="b"/>
              <a:pathLst>
                <a:path w="3049757" h="350769">
                  <a:moveTo>
                    <a:pt x="0" y="0"/>
                  </a:moveTo>
                  <a:lnTo>
                    <a:pt x="3049757" y="0"/>
                  </a:lnTo>
                  <a:lnTo>
                    <a:pt x="3049757" y="350770"/>
                  </a:lnTo>
                  <a:lnTo>
                    <a:pt x="0" y="350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2000"/>
              </a:blip>
              <a:stretch>
                <a:fillRect b="-149966"/>
              </a:stretch>
            </a:blipFill>
          </p:spPr>
          <p:txBody>
            <a:bodyPr/>
            <a:lstStyle/>
            <a:p>
              <a:endParaRPr lang="it-IT"/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5104623" y="4451962"/>
              <a:ext cx="2033171" cy="1731044"/>
              <a:chOff x="0" y="-38100"/>
              <a:chExt cx="3003701" cy="255735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1"/>
                <a:ext cx="3003701" cy="1257451"/>
              </a:xfrm>
              <a:custGeom>
                <a:avLst/>
                <a:gdLst/>
                <a:ahLst/>
                <a:cxnLst/>
                <a:rect l="l" t="t" r="r" b="b"/>
                <a:pathLst>
                  <a:path w="3003701" h="2519255">
                    <a:moveTo>
                      <a:pt x="81233" y="0"/>
                    </a:moveTo>
                    <a:lnTo>
                      <a:pt x="2922468" y="0"/>
                    </a:lnTo>
                    <a:cubicBezTo>
                      <a:pt x="2944012" y="0"/>
                      <a:pt x="2964674" y="8558"/>
                      <a:pt x="2979908" y="23793"/>
                    </a:cubicBezTo>
                    <a:cubicBezTo>
                      <a:pt x="2995142" y="39027"/>
                      <a:pt x="3003701" y="59689"/>
                      <a:pt x="3003701" y="81233"/>
                    </a:cubicBezTo>
                    <a:lnTo>
                      <a:pt x="3003701" y="2438022"/>
                    </a:lnTo>
                    <a:cubicBezTo>
                      <a:pt x="3003701" y="2482886"/>
                      <a:pt x="2967331" y="2519255"/>
                      <a:pt x="2922468" y="2519255"/>
                    </a:cubicBezTo>
                    <a:lnTo>
                      <a:pt x="81233" y="2519255"/>
                    </a:lnTo>
                    <a:cubicBezTo>
                      <a:pt x="59689" y="2519255"/>
                      <a:pt x="39027" y="2510697"/>
                      <a:pt x="23793" y="2495462"/>
                    </a:cubicBezTo>
                    <a:cubicBezTo>
                      <a:pt x="8558" y="2480228"/>
                      <a:pt x="0" y="2459566"/>
                      <a:pt x="0" y="2438022"/>
                    </a:cubicBezTo>
                    <a:lnTo>
                      <a:pt x="0" y="81233"/>
                    </a:lnTo>
                    <a:cubicBezTo>
                      <a:pt x="0" y="59689"/>
                      <a:pt x="8558" y="39027"/>
                      <a:pt x="23793" y="23793"/>
                    </a:cubicBezTo>
                    <a:cubicBezTo>
                      <a:pt x="39027" y="8558"/>
                      <a:pt x="59689" y="0"/>
                      <a:pt x="8123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4775" cap="rnd">
                <a:solidFill>
                  <a:srgbClr val="F8B27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3003701" cy="255735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837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5698228" y="4093688"/>
              <a:ext cx="835251" cy="966623"/>
            </a:xfrm>
            <a:custGeom>
              <a:avLst/>
              <a:gdLst/>
              <a:ahLst/>
              <a:cxnLst/>
              <a:rect l="l" t="t" r="r" b="b"/>
              <a:pathLst>
                <a:path w="1252876" h="1449935">
                  <a:moveTo>
                    <a:pt x="0" y="0"/>
                  </a:moveTo>
                  <a:lnTo>
                    <a:pt x="1252876" y="0"/>
                  </a:lnTo>
                  <a:lnTo>
                    <a:pt x="1252876" y="1449934"/>
                  </a:lnTo>
                  <a:lnTo>
                    <a:pt x="0" y="1449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C8D0ACB7-C028-B6A6-044B-09B1EDC29559}"/>
              </a:ext>
            </a:extLst>
          </p:cNvPr>
          <p:cNvGrpSpPr>
            <a:grpSpLocks noChangeAspect="1"/>
          </p:cNvGrpSpPr>
          <p:nvPr/>
        </p:nvGrpSpPr>
        <p:grpSpPr>
          <a:xfrm>
            <a:off x="8721639" y="863589"/>
            <a:ext cx="3240000" cy="5807119"/>
            <a:chOff x="7474344" y="4093688"/>
            <a:chExt cx="2033171" cy="3644094"/>
          </a:xfrm>
        </p:grpSpPr>
        <p:sp>
          <p:nvSpPr>
            <p:cNvPr id="29" name="Freeform 29"/>
            <p:cNvSpPr/>
            <p:nvPr/>
          </p:nvSpPr>
          <p:spPr>
            <a:xfrm rot="10800000">
              <a:off x="7474344" y="6107522"/>
              <a:ext cx="2033171" cy="233846"/>
            </a:xfrm>
            <a:custGeom>
              <a:avLst/>
              <a:gdLst/>
              <a:ahLst/>
              <a:cxnLst/>
              <a:rect l="l" t="t" r="r" b="b"/>
              <a:pathLst>
                <a:path w="3049757" h="350769">
                  <a:moveTo>
                    <a:pt x="0" y="0"/>
                  </a:moveTo>
                  <a:lnTo>
                    <a:pt x="3049758" y="0"/>
                  </a:lnTo>
                  <a:lnTo>
                    <a:pt x="3049758" y="350770"/>
                  </a:lnTo>
                  <a:lnTo>
                    <a:pt x="0" y="350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2000"/>
              </a:blip>
              <a:stretch>
                <a:fillRect b="-149966"/>
              </a:stretch>
            </a:blipFill>
          </p:spPr>
          <p:txBody>
            <a:bodyPr/>
            <a:lstStyle/>
            <a:p>
              <a:endParaRPr lang="it-IT"/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7474344" y="4451962"/>
              <a:ext cx="2033171" cy="3285820"/>
              <a:chOff x="0" y="-38100"/>
              <a:chExt cx="3003701" cy="48543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3003701" cy="4816200"/>
              </a:xfrm>
              <a:custGeom>
                <a:avLst/>
                <a:gdLst/>
                <a:ahLst/>
                <a:cxnLst/>
                <a:rect l="l" t="t" r="r" b="b"/>
                <a:pathLst>
                  <a:path w="3003701" h="2519255">
                    <a:moveTo>
                      <a:pt x="81233" y="0"/>
                    </a:moveTo>
                    <a:lnTo>
                      <a:pt x="2922468" y="0"/>
                    </a:lnTo>
                    <a:cubicBezTo>
                      <a:pt x="2944012" y="0"/>
                      <a:pt x="2964674" y="8558"/>
                      <a:pt x="2979908" y="23793"/>
                    </a:cubicBezTo>
                    <a:cubicBezTo>
                      <a:pt x="2995142" y="39027"/>
                      <a:pt x="3003701" y="59689"/>
                      <a:pt x="3003701" y="81233"/>
                    </a:cubicBezTo>
                    <a:lnTo>
                      <a:pt x="3003701" y="2438022"/>
                    </a:lnTo>
                    <a:cubicBezTo>
                      <a:pt x="3003701" y="2482886"/>
                      <a:pt x="2967331" y="2519255"/>
                      <a:pt x="2922468" y="2519255"/>
                    </a:cubicBezTo>
                    <a:lnTo>
                      <a:pt x="81233" y="2519255"/>
                    </a:lnTo>
                    <a:cubicBezTo>
                      <a:pt x="59689" y="2519255"/>
                      <a:pt x="39027" y="2510697"/>
                      <a:pt x="23793" y="2495462"/>
                    </a:cubicBezTo>
                    <a:cubicBezTo>
                      <a:pt x="8558" y="2480228"/>
                      <a:pt x="0" y="2459566"/>
                      <a:pt x="0" y="2438022"/>
                    </a:cubicBezTo>
                    <a:lnTo>
                      <a:pt x="0" y="81233"/>
                    </a:lnTo>
                    <a:cubicBezTo>
                      <a:pt x="0" y="59689"/>
                      <a:pt x="8558" y="39027"/>
                      <a:pt x="23793" y="23793"/>
                    </a:cubicBezTo>
                    <a:cubicBezTo>
                      <a:pt x="39027" y="8558"/>
                      <a:pt x="59689" y="0"/>
                      <a:pt x="8123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4775" cap="rnd">
                <a:solidFill>
                  <a:srgbClr val="FF8379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3003701" cy="255735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837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8067949" y="4093688"/>
              <a:ext cx="835251" cy="966623"/>
            </a:xfrm>
            <a:custGeom>
              <a:avLst/>
              <a:gdLst/>
              <a:ahLst/>
              <a:cxnLst/>
              <a:rect l="l" t="t" r="r" b="b"/>
              <a:pathLst>
                <a:path w="1252876" h="1449935">
                  <a:moveTo>
                    <a:pt x="0" y="0"/>
                  </a:moveTo>
                  <a:lnTo>
                    <a:pt x="1252877" y="0"/>
                  </a:lnTo>
                  <a:lnTo>
                    <a:pt x="1252877" y="1449934"/>
                  </a:lnTo>
                  <a:lnTo>
                    <a:pt x="0" y="1449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5" name="AutoShape 35"/>
          <p:cNvSpPr/>
          <p:nvPr/>
        </p:nvSpPr>
        <p:spPr>
          <a:xfrm flipH="1" flipV="1">
            <a:off x="1792249" y="2117647"/>
            <a:ext cx="1948288" cy="259744"/>
          </a:xfrm>
          <a:prstGeom prst="line">
            <a:avLst/>
          </a:prstGeom>
          <a:ln w="38100" cap="rnd">
            <a:solidFill>
              <a:srgbClr val="333231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34" name="AutoShape 34"/>
          <p:cNvSpPr/>
          <p:nvPr/>
        </p:nvSpPr>
        <p:spPr>
          <a:xfrm>
            <a:off x="6096000" y="3513958"/>
            <a:ext cx="0" cy="611061"/>
          </a:xfrm>
          <a:prstGeom prst="line">
            <a:avLst/>
          </a:prstGeom>
          <a:ln w="38100" cap="rnd">
            <a:solidFill>
              <a:srgbClr val="333231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36" name="AutoShape 36"/>
          <p:cNvSpPr/>
          <p:nvPr/>
        </p:nvSpPr>
        <p:spPr>
          <a:xfrm flipV="1">
            <a:off x="8440513" y="863589"/>
            <a:ext cx="1853252" cy="1568633"/>
          </a:xfrm>
          <a:prstGeom prst="line">
            <a:avLst/>
          </a:prstGeom>
          <a:ln w="38100" cap="rnd">
            <a:solidFill>
              <a:srgbClr val="333231"/>
            </a:solidFill>
            <a:prstDash val="sysDot"/>
            <a:headEnd type="none" w="sm" len="sm"/>
            <a:tailEnd type="oval" w="lg" len="lg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Box 50">
            <a:extLst>
              <a:ext uri="{FF2B5EF4-FFF2-40B4-BE49-F238E27FC236}">
                <a16:creationId xmlns:a16="http://schemas.microsoft.com/office/drawing/2014/main" id="{CA7B6760-27DA-E868-CE19-3D85694B7879}"/>
              </a:ext>
            </a:extLst>
          </p:cNvPr>
          <p:cNvSpPr txBox="1"/>
          <p:nvPr/>
        </p:nvSpPr>
        <p:spPr>
          <a:xfrm>
            <a:off x="5014535" y="5743869"/>
            <a:ext cx="2210965" cy="176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9"/>
              </a:lnSpc>
            </a:pPr>
            <a:r>
              <a:rPr lang="en-US" b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Neck</a:t>
            </a:r>
          </a:p>
        </p:txBody>
      </p:sp>
      <p:sp>
        <p:nvSpPr>
          <p:cNvPr id="59" name="Mostrina 58">
            <a:extLst>
              <a:ext uri="{FF2B5EF4-FFF2-40B4-BE49-F238E27FC236}">
                <a16:creationId xmlns:a16="http://schemas.microsoft.com/office/drawing/2014/main" id="{94162EE6-8FA3-E89A-015C-BA76B7D9E6CF}"/>
              </a:ext>
            </a:extLst>
          </p:cNvPr>
          <p:cNvSpPr/>
          <p:nvPr/>
        </p:nvSpPr>
        <p:spPr>
          <a:xfrm rot="5400000">
            <a:off x="1551494" y="4159203"/>
            <a:ext cx="481508" cy="413141"/>
          </a:xfrm>
          <a:prstGeom prst="chevron">
            <a:avLst/>
          </a:prstGeom>
          <a:solidFill>
            <a:srgbClr val="90DFB1"/>
          </a:solidFill>
          <a:ln>
            <a:solidFill>
              <a:srgbClr val="90DF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60" name="Mostrina 59">
            <a:extLst>
              <a:ext uri="{FF2B5EF4-FFF2-40B4-BE49-F238E27FC236}">
                <a16:creationId xmlns:a16="http://schemas.microsoft.com/office/drawing/2014/main" id="{94B31671-1A70-AFB3-FE41-2A38DB501CB7}"/>
              </a:ext>
            </a:extLst>
          </p:cNvPr>
          <p:cNvSpPr/>
          <p:nvPr/>
        </p:nvSpPr>
        <p:spPr>
          <a:xfrm rot="10800000">
            <a:off x="3934804" y="5240549"/>
            <a:ext cx="481508" cy="413141"/>
          </a:xfrm>
          <a:prstGeom prst="chevron">
            <a:avLst/>
          </a:prstGeom>
          <a:solidFill>
            <a:srgbClr val="F9B27C"/>
          </a:solidFill>
          <a:ln>
            <a:solidFill>
              <a:srgbClr val="90DF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61" name="TextBox 50">
            <a:extLst>
              <a:ext uri="{FF2B5EF4-FFF2-40B4-BE49-F238E27FC236}">
                <a16:creationId xmlns:a16="http://schemas.microsoft.com/office/drawing/2014/main" id="{D5A93E53-AF3C-98B4-B9DE-E6238E7BAD14}"/>
              </a:ext>
            </a:extLst>
          </p:cNvPr>
          <p:cNvSpPr txBox="1"/>
          <p:nvPr/>
        </p:nvSpPr>
        <p:spPr>
          <a:xfrm>
            <a:off x="9236156" y="2515122"/>
            <a:ext cx="2210965" cy="176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9"/>
              </a:lnSpc>
            </a:pPr>
            <a:r>
              <a:rPr lang="en-US" b="1">
                <a:solidFill>
                  <a:srgbClr val="343432"/>
                </a:solidFill>
                <a:latin typeface="Palatino Linotype" panose="02040502050505030304" pitchFamily="18" charset="0"/>
                <a:ea typeface="Montserrat Classic Bold"/>
                <a:cs typeface="Montserrat Classic Bold"/>
                <a:sym typeface="Montserrat Classic Bold"/>
              </a:rPr>
              <a:t>Head</a:t>
            </a: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54F6FB9B-2DB4-5ACE-4B63-82299C9663DF}"/>
              </a:ext>
            </a:extLst>
          </p:cNvPr>
          <p:cNvSpPr txBox="1"/>
          <p:nvPr/>
        </p:nvSpPr>
        <p:spPr>
          <a:xfrm>
            <a:off x="8920556" y="2682962"/>
            <a:ext cx="281373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L’introduzione</a:t>
            </a:r>
            <a:r>
              <a:rPr lang="en-US" sz="14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del </a:t>
            </a:r>
            <a:r>
              <a:rPr lang="en-US" sz="14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blocco</a:t>
            </a:r>
            <a:r>
              <a:rPr lang="en-US" sz="14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C3k2.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Dopo I </a:t>
            </a:r>
            <a:r>
              <a:rPr lang="en-US" sz="14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blocchi</a:t>
            </a:r>
            <a:r>
              <a:rPr lang="en-US" sz="14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C3k2 introduce </a:t>
            </a:r>
            <a:r>
              <a:rPr lang="en-US" sz="14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diversi</a:t>
            </a:r>
            <a:r>
              <a:rPr lang="en-US" sz="14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strati CBS, </a:t>
            </a:r>
            <a:r>
              <a:rPr lang="en-US" sz="14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che</a:t>
            </a:r>
            <a:r>
              <a:rPr lang="en-US" sz="14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4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assicurano</a:t>
            </a:r>
            <a:r>
              <a:rPr lang="en-US" sz="14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en-US" sz="1400" err="1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che</a:t>
            </a:r>
            <a:r>
              <a:rPr lang="en-US" sz="1400">
                <a:solidFill>
                  <a:srgbClr val="343432"/>
                </a:solidFill>
                <a:latin typeface="Palatino Linotype" panose="02040502050505030304" pitchFamily="18" charset="0"/>
                <a:sym typeface="Montserrat Classic"/>
              </a:rPr>
              <a:t> </a:t>
            </a:r>
            <a:r>
              <a:rPr lang="it-IT" sz="1400">
                <a:solidFill>
                  <a:srgbClr val="343432"/>
                </a:solidFill>
                <a:latin typeface="Palatino Linotype" panose="02040502050505030304" pitchFamily="18" charset="0"/>
              </a:rPr>
              <a:t>le mappe di caratteristiche raffinate vengano passate ai livelli successivi per le previsioni di </a:t>
            </a:r>
            <a:r>
              <a:rPr lang="it-IT" sz="1400" err="1">
                <a:solidFill>
                  <a:srgbClr val="343432"/>
                </a:solidFill>
                <a:latin typeface="Palatino Linotype" panose="02040502050505030304" pitchFamily="18" charset="0"/>
              </a:rPr>
              <a:t>bounding</a:t>
            </a:r>
            <a:r>
              <a:rPr lang="it-IT" sz="1400">
                <a:solidFill>
                  <a:srgbClr val="343432"/>
                </a:solidFill>
                <a:latin typeface="Palatino Linotype" panose="02040502050505030304" pitchFamily="18" charset="0"/>
              </a:rPr>
              <a:t> box e classificazione.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>
                <a:solidFill>
                  <a:srgbClr val="343432"/>
                </a:solidFill>
                <a:latin typeface="Palatino Linotype" panose="02040502050505030304" pitchFamily="18" charset="0"/>
              </a:rPr>
              <a:t>Ogni ramo di rilevamento termina con una serie di livelli Conv2D, che riducono le caratteristiche al numero necessario di output per le coordinate del rettangolo di selezione e le previsioni della classe.</a:t>
            </a:r>
          </a:p>
        </p:txBody>
      </p:sp>
      <p:pic>
        <p:nvPicPr>
          <p:cNvPr id="65" name="Immagine 64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ED89823E-5553-31E4-08E1-EF0DA264C5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7421" y="1114868"/>
            <a:ext cx="720000" cy="720000"/>
          </a:xfrm>
          <a:prstGeom prst="rect">
            <a:avLst/>
          </a:prstGeom>
        </p:spPr>
      </p:pic>
      <p:pic>
        <p:nvPicPr>
          <p:cNvPr id="67" name="Immagine 66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7FDDF364-0689-E561-3D4D-E7DCAC1514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5778" y="4368225"/>
            <a:ext cx="720000" cy="720000"/>
          </a:xfrm>
          <a:prstGeom prst="rect">
            <a:avLst/>
          </a:prstGeom>
        </p:spPr>
      </p:pic>
      <p:pic>
        <p:nvPicPr>
          <p:cNvPr id="69" name="Immagine 68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DB9DC78A-1A86-C5CF-07EC-E7FCB298CD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2248" y="2474351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81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696810">
            <a:off x="3005930" y="1590728"/>
            <a:ext cx="6203901" cy="3311332"/>
          </a:xfrm>
          <a:custGeom>
            <a:avLst/>
            <a:gdLst/>
            <a:ahLst/>
            <a:cxnLst/>
            <a:rect l="l" t="t" r="r" b="b"/>
            <a:pathLst>
              <a:path w="9305851" h="4966998">
                <a:moveTo>
                  <a:pt x="0" y="0"/>
                </a:moveTo>
                <a:lnTo>
                  <a:pt x="9305851" y="0"/>
                </a:lnTo>
                <a:lnTo>
                  <a:pt x="9305851" y="4966998"/>
                </a:lnTo>
                <a:lnTo>
                  <a:pt x="0" y="4966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-1731009">
            <a:off x="3683927" y="1120755"/>
            <a:ext cx="4824147" cy="4251279"/>
          </a:xfrm>
          <a:custGeom>
            <a:avLst/>
            <a:gdLst/>
            <a:ahLst/>
            <a:cxnLst/>
            <a:rect l="l" t="t" r="r" b="b"/>
            <a:pathLst>
              <a:path w="7236220" h="6376919">
                <a:moveTo>
                  <a:pt x="0" y="0"/>
                </a:moveTo>
                <a:lnTo>
                  <a:pt x="7236220" y="0"/>
                </a:lnTo>
                <a:lnTo>
                  <a:pt x="7236220" y="6376919"/>
                </a:lnTo>
                <a:lnTo>
                  <a:pt x="0" y="6376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 rot="5255613">
            <a:off x="346569" y="5231756"/>
            <a:ext cx="1117634" cy="1339213"/>
          </a:xfrm>
          <a:custGeom>
            <a:avLst/>
            <a:gdLst/>
            <a:ahLst/>
            <a:cxnLst/>
            <a:rect l="l" t="t" r="r" b="b"/>
            <a:pathLst>
              <a:path w="1676451" h="2008819">
                <a:moveTo>
                  <a:pt x="0" y="0"/>
                </a:moveTo>
                <a:lnTo>
                  <a:pt x="1676451" y="0"/>
                </a:lnTo>
                <a:lnTo>
                  <a:pt x="1676451" y="2008819"/>
                </a:lnTo>
                <a:lnTo>
                  <a:pt x="0" y="2008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 rot="-6302151">
            <a:off x="10841532" y="264494"/>
            <a:ext cx="1117634" cy="1339213"/>
          </a:xfrm>
          <a:custGeom>
            <a:avLst/>
            <a:gdLst/>
            <a:ahLst/>
            <a:cxnLst/>
            <a:rect l="l" t="t" r="r" b="b"/>
            <a:pathLst>
              <a:path w="1676451" h="2008819">
                <a:moveTo>
                  <a:pt x="0" y="0"/>
                </a:moveTo>
                <a:lnTo>
                  <a:pt x="1676451" y="0"/>
                </a:lnTo>
                <a:lnTo>
                  <a:pt x="1676451" y="2008819"/>
                </a:lnTo>
                <a:lnTo>
                  <a:pt x="0" y="2008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7649900" y="4216284"/>
            <a:ext cx="746209" cy="620287"/>
          </a:xfrm>
          <a:custGeom>
            <a:avLst/>
            <a:gdLst/>
            <a:ahLst/>
            <a:cxnLst/>
            <a:rect l="l" t="t" r="r" b="b"/>
            <a:pathLst>
              <a:path w="1119314" h="930430">
                <a:moveTo>
                  <a:pt x="0" y="0"/>
                </a:moveTo>
                <a:lnTo>
                  <a:pt x="1119314" y="0"/>
                </a:lnTo>
                <a:lnTo>
                  <a:pt x="1119314" y="930430"/>
                </a:lnTo>
                <a:lnTo>
                  <a:pt x="0" y="9304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2427159" y="3180605"/>
            <a:ext cx="7361443" cy="69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8"/>
              </a:lnSpc>
            </a:pPr>
            <a:r>
              <a:rPr lang="en-US" sz="5866" err="1">
                <a:solidFill>
                  <a:srgbClr val="22423D"/>
                </a:solidFill>
                <a:latin typeface="Apple Chancery" panose="03020702040506060504" pitchFamily="66" charset="-79"/>
                <a:ea typeface="Malibu"/>
                <a:cs typeface="Apple Chancery" panose="03020702040506060504" pitchFamily="66" charset="-79"/>
                <a:sym typeface="Malibu"/>
              </a:rPr>
              <a:t>Grazie</a:t>
            </a:r>
            <a:r>
              <a:rPr lang="en-US" sz="5866">
                <a:solidFill>
                  <a:srgbClr val="22423D"/>
                </a:solidFill>
                <a:latin typeface="Apple Chancery" panose="03020702040506060504" pitchFamily="66" charset="-79"/>
                <a:ea typeface="Malibu"/>
                <a:cs typeface="Apple Chancery" panose="03020702040506060504" pitchFamily="66" charset="-79"/>
                <a:sym typeface="Malibu"/>
              </a:rPr>
              <a:t> per </a:t>
            </a:r>
            <a:r>
              <a:rPr lang="en-US" sz="5866" err="1">
                <a:solidFill>
                  <a:srgbClr val="22423D"/>
                </a:solidFill>
                <a:latin typeface="Apple Chancery" panose="03020702040506060504" pitchFamily="66" charset="-79"/>
                <a:ea typeface="Malibu"/>
                <a:cs typeface="Apple Chancery" panose="03020702040506060504" pitchFamily="66" charset="-79"/>
                <a:sym typeface="Malibu"/>
              </a:rPr>
              <a:t>l’attenzione</a:t>
            </a:r>
            <a:r>
              <a:rPr lang="en-US" sz="5866">
                <a:solidFill>
                  <a:srgbClr val="22423D"/>
                </a:solidFill>
                <a:latin typeface="Apple Chancery" panose="03020702040506060504" pitchFamily="66" charset="-79"/>
                <a:ea typeface="Malibu"/>
                <a:cs typeface="Apple Chancery" panose="03020702040506060504" pitchFamily="66" charset="-79"/>
                <a:sym typeface="Malibu"/>
              </a:rPr>
              <a:t>!</a:t>
            </a:r>
          </a:p>
        </p:txBody>
      </p:sp>
      <p:sp>
        <p:nvSpPr>
          <p:cNvPr id="8" name="Freeform 8"/>
          <p:cNvSpPr/>
          <p:nvPr/>
        </p:nvSpPr>
        <p:spPr>
          <a:xfrm>
            <a:off x="4507465" y="1543078"/>
            <a:ext cx="498721" cy="414562"/>
          </a:xfrm>
          <a:custGeom>
            <a:avLst/>
            <a:gdLst/>
            <a:ahLst/>
            <a:cxnLst/>
            <a:rect l="l" t="t" r="r" b="b"/>
            <a:pathLst>
              <a:path w="748082" h="621843">
                <a:moveTo>
                  <a:pt x="0" y="0"/>
                </a:moveTo>
                <a:lnTo>
                  <a:pt x="748082" y="0"/>
                </a:lnTo>
                <a:lnTo>
                  <a:pt x="748082" y="621843"/>
                </a:lnTo>
                <a:lnTo>
                  <a:pt x="0" y="6218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 rot="-3849135">
            <a:off x="5038025" y="1824930"/>
            <a:ext cx="345939" cy="287562"/>
          </a:xfrm>
          <a:custGeom>
            <a:avLst/>
            <a:gdLst/>
            <a:ahLst/>
            <a:cxnLst/>
            <a:rect l="l" t="t" r="r" b="b"/>
            <a:pathLst>
              <a:path w="518909" h="431343">
                <a:moveTo>
                  <a:pt x="0" y="0"/>
                </a:moveTo>
                <a:lnTo>
                  <a:pt x="518910" y="0"/>
                </a:lnTo>
                <a:lnTo>
                  <a:pt x="518910" y="431343"/>
                </a:lnTo>
                <a:lnTo>
                  <a:pt x="0" y="431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 rot="-7701299">
            <a:off x="4549698" y="2255116"/>
            <a:ext cx="315717" cy="262440"/>
          </a:xfrm>
          <a:custGeom>
            <a:avLst/>
            <a:gdLst/>
            <a:ahLst/>
            <a:cxnLst/>
            <a:rect l="l" t="t" r="r" b="b"/>
            <a:pathLst>
              <a:path w="473576" h="393660">
                <a:moveTo>
                  <a:pt x="0" y="0"/>
                </a:moveTo>
                <a:lnTo>
                  <a:pt x="473576" y="0"/>
                </a:lnTo>
                <a:lnTo>
                  <a:pt x="473576" y="393660"/>
                </a:lnTo>
                <a:lnTo>
                  <a:pt x="0" y="3936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caVTI">
  <a:themeElements>
    <a:clrScheme name="AnalogousFromRegularSeedRightStep">
      <a:dk1>
        <a:srgbClr val="000000"/>
      </a:dk1>
      <a:lt1>
        <a:srgbClr val="FFFFFF"/>
      </a:lt1>
      <a:dk2>
        <a:srgbClr val="251A2F"/>
      </a:dk2>
      <a:lt2>
        <a:srgbClr val="F3F2F0"/>
      </a:lt2>
      <a:accent1>
        <a:srgbClr val="4D70C3"/>
      </a:accent1>
      <a:accent2>
        <a:srgbClr val="4C3EB3"/>
      </a:accent2>
      <a:accent3>
        <a:srgbClr val="8C4DC3"/>
      </a:accent3>
      <a:accent4>
        <a:srgbClr val="AC3BB1"/>
      </a:accent4>
      <a:accent5>
        <a:srgbClr val="C34D97"/>
      </a:accent5>
      <a:accent6>
        <a:srgbClr val="B13B54"/>
      </a:accent6>
      <a:hlink>
        <a:srgbClr val="A68537"/>
      </a:hlink>
      <a:folHlink>
        <a:srgbClr val="7F7F7F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48150f8-85e9-4aeb-ae75-a80aa57084e0" xsi:nil="true"/>
    <lcf76f155ced4ddcb4097134ff3c332f xmlns="5735192e-ec71-40a1-825c-8971dcddf27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A57CFF5DE98A40ACFEE50952031BB2" ma:contentTypeVersion="13" ma:contentTypeDescription="Create a new document." ma:contentTypeScope="" ma:versionID="1b290a6e6252649908d92c5976d5d7e2">
  <xsd:schema xmlns:xsd="http://www.w3.org/2001/XMLSchema" xmlns:xs="http://www.w3.org/2001/XMLSchema" xmlns:p="http://schemas.microsoft.com/office/2006/metadata/properties" xmlns:ns2="5735192e-ec71-40a1-825c-8971dcddf271" xmlns:ns3="848150f8-85e9-4aeb-ae75-a80aa57084e0" targetNamespace="http://schemas.microsoft.com/office/2006/metadata/properties" ma:root="true" ma:fieldsID="58a6a892a146a2221de2f89f384aacde" ns2:_="" ns3:_="">
    <xsd:import namespace="5735192e-ec71-40a1-825c-8971dcddf271"/>
    <xsd:import namespace="848150f8-85e9-4aeb-ae75-a80aa57084e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35192e-ec71-40a1-825c-8971dcddf2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1236525-b976-4609-a1d2-2c06a491e0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8150f8-85e9-4aeb-ae75-a80aa57084e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5362636-606f-46bc-9d50-61b4a37de972}" ma:internalName="TaxCatchAll" ma:showField="CatchAllData" ma:web="848150f8-85e9-4aeb-ae75-a80aa57084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CEA19C8-F4DF-4BB5-A022-1F3418FBD7B9}">
  <ds:schemaRefs>
    <ds:schemaRef ds:uri="42067bfa-91da-4259-bf33-b8f66a9169e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8033589-913B-460A-9E82-DD6030320231}"/>
</file>

<file path=customXml/itemProps3.xml><?xml version="1.0" encoding="utf-8"?>
<ds:datastoreItem xmlns:ds="http://schemas.openxmlformats.org/officeDocument/2006/customXml" ds:itemID="{B4954A7C-AAD7-464B-AB55-F6CBC9790A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1409</Words>
  <Application>Microsoft Office PowerPoint</Application>
  <PresentationFormat>Widescreen</PresentationFormat>
  <Paragraphs>102</Paragraphs>
  <Slides>11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6" baseType="lpstr">
      <vt:lpstr>Apple Chancery</vt:lpstr>
      <vt:lpstr>Arial</vt:lpstr>
      <vt:lpstr>Avenir Next LT Pro</vt:lpstr>
      <vt:lpstr>Avenir Next LT Pro Light</vt:lpstr>
      <vt:lpstr>Courier New</vt:lpstr>
      <vt:lpstr>Georgia Pro Semibold</vt:lpstr>
      <vt:lpstr>Montserrat</vt:lpstr>
      <vt:lpstr>Montserrat Bold</vt:lpstr>
      <vt:lpstr>Montserrat Classic</vt:lpstr>
      <vt:lpstr>Montserrat Classic Bold</vt:lpstr>
      <vt:lpstr>Palatino Linotype</vt:lpstr>
      <vt:lpstr>Symbol</vt:lpstr>
      <vt:lpstr>Times New Roman</vt:lpstr>
      <vt:lpstr>WarnockPro</vt:lpstr>
      <vt:lpstr>RocaVTI</vt:lpstr>
      <vt:lpstr>PowerPoint Presentation</vt:lpstr>
      <vt:lpstr>PowerPoint Presentation</vt:lpstr>
      <vt:lpstr>PowerPoint Presentation</vt:lpstr>
      <vt:lpstr>YOLO vs altri algoritmi</vt:lpstr>
      <vt:lpstr>PowerPoint Presentation</vt:lpstr>
      <vt:lpstr>PowerPoint Presentation</vt:lpstr>
      <vt:lpstr>Analisi versioni YOLO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sara flamini</dc:creator>
  <cp:lastModifiedBy>Marco Chessari</cp:lastModifiedBy>
  <cp:revision>1</cp:revision>
  <dcterms:created xsi:type="dcterms:W3CDTF">2025-01-11T22:15:15Z</dcterms:created>
  <dcterms:modified xsi:type="dcterms:W3CDTF">2025-02-17T17:40:36Z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0x0101000FA57CFF5DE98A40ACFEE50952031BB2</vt:lpwstr>
  </property>
  <property fmtid="{D5CDD505-2E9C-101B-9397-08002B2CF9AE}" pid="3" name="MediaServiceImageTags">
    <vt:lpwstr/>
  </property>
  <property fmtid="{D5CDD505-2E9C-101B-9397-08002B2CF9AE}" pid="4" name="Order">
    <vt:lpwstr>1700.00000000000</vt:lpwstr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xd_Signature">
    <vt:lpwstr/>
  </property>
</Properties>
</file>